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30"/>
    <p:sldId id="275" r:id="rId27"/>
    <p:sldId id="288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&amp; narrative" id="{AAB17009-52C5-4E37-978F-80997DFE107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ntent &amp; figures" id="{8C5BFAC1-65B7-4BE4-80DA-EA053B37B180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ocesses &amp; architecture" id="{245ECFAE-8D81-4D3B-9024-77A055E60BE8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Results &amp; closing" id="{8CE93A61-643E-42A3-82CC-B2DD609D8EE7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Empty compositions" id="{D5C4F8FB-6E8E-4AE3-A902-1A6618D87E15}">
          <p14:sldIdLst>
            <p14:sldId id="294"/>
            <p14:sldId id="295"/>
            <p14:sldId id="296"/>
            <p14:sldId id="297"/>
          </p14:sldIdLst>
        </p14:section>
        <p14:section name="Style &amp; reusable elements" id="{712C9ADA-4E89-47F6-905E-06077D7D5852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Five-stage process</a:t>
            </a:r>
          </a:p>
          <a:p/>
          <a:p>
            <a:r>
              <a:t>Replace the sample content with your project information. Diagram roles and measurements on style pages are template conventions, not research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block diagram</a:t>
            </a:r>
          </a:p>
          <a:p/>
          <a:p>
            <a:r>
              <a:t>Replace the sample content with your project information. Diagram roles and measurements on style pages are template conventions, not research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table</a:t>
            </a:r>
          </a:p>
          <a:p/>
          <a:p>
            <a:r>
              <a:t>Replace the sample content with your project information. Diagram roles and measurements on style pages are template conventions, not research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01 — Project cover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University mark" descr="berkeley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457200"/>
            <a:ext cx="914400" cy="914400"/>
          </a:xfrm>
          <a:prstGeom prst="rect">
            <a:avLst/>
          </a:prstGeom>
          <a:effectLst/>
        </p:spPr>
      </p:pic>
      <p:sp>
        <p:nvSpPr>
          <p:cNvPr id="3" name="Lab name"/>
          <p:cNvSpPr txBox="1"/>
          <p:nvPr/>
        </p:nvSpPr>
        <p:spPr>
          <a:xfrm>
            <a:off x="5660136" y="571500"/>
            <a:ext cx="1623060" cy="4000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759"/>
                </a:solidFill>
                <a:latin typeface="Inter"/>
              </a:rPr>
              <a:t>LAB NAME</a:t>
            </a:r>
          </a:p>
        </p:txBody>
      </p:sp>
      <p:sp>
        <p:nvSpPr>
          <p:cNvPr id="4" name="Affiliation"/>
          <p:cNvSpPr txBox="1"/>
          <p:nvPr/>
        </p:nvSpPr>
        <p:spPr>
          <a:xfrm>
            <a:off x="5660136" y="994409"/>
            <a:ext cx="16230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E2D2C"/>
                </a:solidFill>
                <a:latin typeface="Inter"/>
              </a:rPr>
              <a:t>UC BERKELEY</a:t>
            </a:r>
          </a:p>
        </p:txBody>
      </p:sp>
      <p:cxnSp>
        <p:nvCxnSpPr>
          <p:cNvPr id="5" name="Circuit decoration"/>
          <p:cNvCxnSpPr/>
          <p:nvPr/>
        </p:nvCxnSpPr>
        <p:spPr>
          <a:xfrm>
            <a:off x="537210" y="1645920"/>
            <a:ext cx="0" cy="100949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ircuit decoration"/>
          <p:cNvCxnSpPr/>
          <p:nvPr/>
        </p:nvCxnSpPr>
        <p:spPr>
          <a:xfrm flipH="1">
            <a:off x="413766" y="2655417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ircuit decoration"/>
          <p:cNvCxnSpPr/>
          <p:nvPr/>
        </p:nvCxnSpPr>
        <p:spPr>
          <a:xfrm>
            <a:off x="413766" y="2778861"/>
            <a:ext cx="0" cy="14581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rcuit decoration"/>
          <p:cNvSpPr/>
          <p:nvPr/>
        </p:nvSpPr>
        <p:spPr>
          <a:xfrm>
            <a:off x="391820" y="4215018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ircuit decoration"/>
          <p:cNvSpPr/>
          <p:nvPr/>
        </p:nvSpPr>
        <p:spPr>
          <a:xfrm>
            <a:off x="520750" y="1629460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ircuit decoration"/>
          <p:cNvCxnSpPr/>
          <p:nvPr/>
        </p:nvCxnSpPr>
        <p:spPr>
          <a:xfrm>
            <a:off x="660654" y="1797344"/>
            <a:ext cx="0" cy="112727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ircuit decoration"/>
          <p:cNvCxnSpPr/>
          <p:nvPr/>
        </p:nvCxnSpPr>
        <p:spPr>
          <a:xfrm>
            <a:off x="660654" y="2924616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ircuit decoration"/>
          <p:cNvCxnSpPr/>
          <p:nvPr/>
        </p:nvCxnSpPr>
        <p:spPr>
          <a:xfrm>
            <a:off x="784098" y="3048060"/>
            <a:ext cx="0" cy="149175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ircuit decoration"/>
          <p:cNvSpPr/>
          <p:nvPr/>
        </p:nvSpPr>
        <p:spPr>
          <a:xfrm>
            <a:off x="762152" y="4517867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ircuit decoration"/>
          <p:cNvCxnSpPr/>
          <p:nvPr/>
        </p:nvCxnSpPr>
        <p:spPr>
          <a:xfrm>
            <a:off x="784098" y="1948769"/>
            <a:ext cx="0" cy="124504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ircuit decoration"/>
          <p:cNvCxnSpPr/>
          <p:nvPr/>
        </p:nvCxnSpPr>
        <p:spPr>
          <a:xfrm flipH="1">
            <a:off x="660654" y="3193816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ircuit decoration"/>
          <p:cNvCxnSpPr/>
          <p:nvPr/>
        </p:nvCxnSpPr>
        <p:spPr>
          <a:xfrm>
            <a:off x="660654" y="3317260"/>
            <a:ext cx="0" cy="15254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ircuit decoration"/>
          <p:cNvSpPr/>
          <p:nvPr/>
        </p:nvSpPr>
        <p:spPr>
          <a:xfrm>
            <a:off x="638708" y="4820716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ircuit decoration"/>
          <p:cNvSpPr/>
          <p:nvPr/>
        </p:nvSpPr>
        <p:spPr>
          <a:xfrm>
            <a:off x="767638" y="1932310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ircuit decoration"/>
          <p:cNvCxnSpPr/>
          <p:nvPr/>
        </p:nvCxnSpPr>
        <p:spPr>
          <a:xfrm>
            <a:off x="907542" y="1645920"/>
            <a:ext cx="0" cy="1817095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ircuit decoration"/>
          <p:cNvCxnSpPr/>
          <p:nvPr/>
        </p:nvCxnSpPr>
        <p:spPr>
          <a:xfrm>
            <a:off x="907542" y="3463015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ircuit decoration"/>
          <p:cNvCxnSpPr/>
          <p:nvPr/>
        </p:nvCxnSpPr>
        <p:spPr>
          <a:xfrm>
            <a:off x="1030986" y="3586459"/>
            <a:ext cx="0" cy="65050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ircuit decoration"/>
          <p:cNvSpPr/>
          <p:nvPr/>
        </p:nvSpPr>
        <p:spPr>
          <a:xfrm>
            <a:off x="1009040" y="4215018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ircuit decoration"/>
          <p:cNvCxnSpPr/>
          <p:nvPr/>
        </p:nvCxnSpPr>
        <p:spPr>
          <a:xfrm>
            <a:off x="1030986" y="1797344"/>
            <a:ext cx="0" cy="85807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ircuit decoration"/>
          <p:cNvCxnSpPr/>
          <p:nvPr/>
        </p:nvCxnSpPr>
        <p:spPr>
          <a:xfrm flipH="1">
            <a:off x="907542" y="2655417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ircuit decoration"/>
          <p:cNvCxnSpPr/>
          <p:nvPr/>
        </p:nvCxnSpPr>
        <p:spPr>
          <a:xfrm>
            <a:off x="907542" y="2778861"/>
            <a:ext cx="0" cy="176095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ircuit decoration"/>
          <p:cNvSpPr/>
          <p:nvPr/>
        </p:nvSpPr>
        <p:spPr>
          <a:xfrm>
            <a:off x="885596" y="4517867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ircuit decoration"/>
          <p:cNvSpPr/>
          <p:nvPr/>
        </p:nvSpPr>
        <p:spPr>
          <a:xfrm>
            <a:off x="1014526" y="1780885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ircuit decoration"/>
          <p:cNvCxnSpPr/>
          <p:nvPr/>
        </p:nvCxnSpPr>
        <p:spPr>
          <a:xfrm>
            <a:off x="1154430" y="1948769"/>
            <a:ext cx="0" cy="97584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ircuit decoration"/>
          <p:cNvCxnSpPr/>
          <p:nvPr/>
        </p:nvCxnSpPr>
        <p:spPr>
          <a:xfrm>
            <a:off x="1154430" y="2924616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ircuit decoration"/>
          <p:cNvCxnSpPr/>
          <p:nvPr/>
        </p:nvCxnSpPr>
        <p:spPr>
          <a:xfrm>
            <a:off x="1277874" y="3048060"/>
            <a:ext cx="0" cy="17946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it decoration"/>
          <p:cNvSpPr/>
          <p:nvPr/>
        </p:nvSpPr>
        <p:spPr>
          <a:xfrm>
            <a:off x="1255928" y="4820716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ircuit decoration"/>
          <p:cNvCxnSpPr/>
          <p:nvPr/>
        </p:nvCxnSpPr>
        <p:spPr>
          <a:xfrm>
            <a:off x="1277874" y="1645920"/>
            <a:ext cx="0" cy="1547896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ircuit decoration"/>
          <p:cNvCxnSpPr/>
          <p:nvPr/>
        </p:nvCxnSpPr>
        <p:spPr>
          <a:xfrm flipH="1">
            <a:off x="1154430" y="3193816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ircuit decoration"/>
          <p:cNvCxnSpPr/>
          <p:nvPr/>
        </p:nvCxnSpPr>
        <p:spPr>
          <a:xfrm>
            <a:off x="1154430" y="3317260"/>
            <a:ext cx="0" cy="91970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ircuit decoration"/>
          <p:cNvSpPr/>
          <p:nvPr/>
        </p:nvSpPr>
        <p:spPr>
          <a:xfrm>
            <a:off x="1132484" y="4215018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ircuit decoration"/>
          <p:cNvSpPr/>
          <p:nvPr/>
        </p:nvSpPr>
        <p:spPr>
          <a:xfrm>
            <a:off x="1261414" y="1629460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ircuit decoration"/>
          <p:cNvCxnSpPr/>
          <p:nvPr/>
        </p:nvCxnSpPr>
        <p:spPr>
          <a:xfrm>
            <a:off x="1401318" y="1797344"/>
            <a:ext cx="0" cy="1665671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ircuit decoration"/>
          <p:cNvCxnSpPr/>
          <p:nvPr/>
        </p:nvCxnSpPr>
        <p:spPr>
          <a:xfrm>
            <a:off x="1401318" y="3463015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ircuit decoration"/>
          <p:cNvCxnSpPr/>
          <p:nvPr/>
        </p:nvCxnSpPr>
        <p:spPr>
          <a:xfrm>
            <a:off x="1524762" y="3586459"/>
            <a:ext cx="0" cy="95335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ircuit decoration"/>
          <p:cNvSpPr/>
          <p:nvPr/>
        </p:nvSpPr>
        <p:spPr>
          <a:xfrm>
            <a:off x="1502816" y="4517867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ircuit decoration"/>
          <p:cNvCxnSpPr/>
          <p:nvPr/>
        </p:nvCxnSpPr>
        <p:spPr>
          <a:xfrm>
            <a:off x="1524762" y="1948769"/>
            <a:ext cx="0" cy="706648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ircuit decoration"/>
          <p:cNvCxnSpPr/>
          <p:nvPr/>
        </p:nvCxnSpPr>
        <p:spPr>
          <a:xfrm flipH="1">
            <a:off x="1401318" y="2655417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ircuit decoration"/>
          <p:cNvCxnSpPr/>
          <p:nvPr/>
        </p:nvCxnSpPr>
        <p:spPr>
          <a:xfrm>
            <a:off x="1401318" y="2778861"/>
            <a:ext cx="0" cy="2063801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ircuit decoration"/>
          <p:cNvSpPr/>
          <p:nvPr/>
        </p:nvSpPr>
        <p:spPr>
          <a:xfrm>
            <a:off x="1379372" y="4820716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ircuit decoration"/>
          <p:cNvSpPr/>
          <p:nvPr/>
        </p:nvSpPr>
        <p:spPr>
          <a:xfrm>
            <a:off x="1508302" y="1932310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ircuit decoration"/>
          <p:cNvCxnSpPr/>
          <p:nvPr/>
        </p:nvCxnSpPr>
        <p:spPr>
          <a:xfrm flipV="1">
            <a:off x="11670030" y="4001414"/>
            <a:ext cx="0" cy="1009498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ircuit decoration"/>
          <p:cNvCxnSpPr/>
          <p:nvPr/>
        </p:nvCxnSpPr>
        <p:spPr>
          <a:xfrm flipV="1">
            <a:off x="11670030" y="3877970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ircuit decoration"/>
          <p:cNvCxnSpPr/>
          <p:nvPr/>
        </p:nvCxnSpPr>
        <p:spPr>
          <a:xfrm flipV="1">
            <a:off x="11793474" y="2419868"/>
            <a:ext cx="0" cy="14581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ircuit decoration"/>
          <p:cNvSpPr/>
          <p:nvPr/>
        </p:nvSpPr>
        <p:spPr>
          <a:xfrm>
            <a:off x="11771528" y="2397922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ircuit decoration"/>
          <p:cNvSpPr/>
          <p:nvPr/>
        </p:nvSpPr>
        <p:spPr>
          <a:xfrm>
            <a:off x="11653570" y="4994452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ircuit decoration"/>
          <p:cNvCxnSpPr/>
          <p:nvPr/>
        </p:nvCxnSpPr>
        <p:spPr>
          <a:xfrm flipV="1">
            <a:off x="11546586" y="3732215"/>
            <a:ext cx="0" cy="112727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ircuit decoration"/>
          <p:cNvCxnSpPr/>
          <p:nvPr/>
        </p:nvCxnSpPr>
        <p:spPr>
          <a:xfrm flipH="1" flipV="1">
            <a:off x="11423142" y="3608771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ircuit decoration"/>
          <p:cNvCxnSpPr/>
          <p:nvPr/>
        </p:nvCxnSpPr>
        <p:spPr>
          <a:xfrm flipV="1">
            <a:off x="11423142" y="2117018"/>
            <a:ext cx="0" cy="149175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ircuit decoration"/>
          <p:cNvSpPr/>
          <p:nvPr/>
        </p:nvSpPr>
        <p:spPr>
          <a:xfrm>
            <a:off x="11401196" y="2095073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ircuit decoration"/>
          <p:cNvCxnSpPr/>
          <p:nvPr/>
        </p:nvCxnSpPr>
        <p:spPr>
          <a:xfrm flipV="1">
            <a:off x="11423142" y="3463015"/>
            <a:ext cx="0" cy="124504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ircuit decoration"/>
          <p:cNvCxnSpPr/>
          <p:nvPr/>
        </p:nvCxnSpPr>
        <p:spPr>
          <a:xfrm flipV="1">
            <a:off x="11423142" y="3339571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ircuit decoration"/>
          <p:cNvCxnSpPr/>
          <p:nvPr/>
        </p:nvCxnSpPr>
        <p:spPr>
          <a:xfrm flipV="1">
            <a:off x="11546586" y="1814169"/>
            <a:ext cx="0" cy="15254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ircuit decoration"/>
          <p:cNvSpPr/>
          <p:nvPr/>
        </p:nvSpPr>
        <p:spPr>
          <a:xfrm>
            <a:off x="11524640" y="1792224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ircuit decoration"/>
          <p:cNvSpPr/>
          <p:nvPr/>
        </p:nvSpPr>
        <p:spPr>
          <a:xfrm>
            <a:off x="11406682" y="4691603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ircuit decoration"/>
          <p:cNvCxnSpPr/>
          <p:nvPr/>
        </p:nvCxnSpPr>
        <p:spPr>
          <a:xfrm flipV="1">
            <a:off x="11299698" y="3193816"/>
            <a:ext cx="0" cy="1817096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ircuit decoration"/>
          <p:cNvCxnSpPr/>
          <p:nvPr/>
        </p:nvCxnSpPr>
        <p:spPr>
          <a:xfrm flipH="1" flipV="1">
            <a:off x="11176254" y="3070372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ircuit decoration"/>
          <p:cNvCxnSpPr/>
          <p:nvPr/>
        </p:nvCxnSpPr>
        <p:spPr>
          <a:xfrm flipV="1">
            <a:off x="11176254" y="2419868"/>
            <a:ext cx="0" cy="65050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ircuit decoration"/>
          <p:cNvSpPr/>
          <p:nvPr/>
        </p:nvSpPr>
        <p:spPr>
          <a:xfrm>
            <a:off x="11154308" y="2397922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ircuit decoration"/>
          <p:cNvCxnSpPr/>
          <p:nvPr/>
        </p:nvCxnSpPr>
        <p:spPr>
          <a:xfrm flipV="1">
            <a:off x="11176254" y="4001414"/>
            <a:ext cx="0" cy="85807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ircuit decoration"/>
          <p:cNvCxnSpPr/>
          <p:nvPr/>
        </p:nvCxnSpPr>
        <p:spPr>
          <a:xfrm flipV="1">
            <a:off x="11176254" y="3877970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ircuit decoration"/>
          <p:cNvCxnSpPr/>
          <p:nvPr/>
        </p:nvCxnSpPr>
        <p:spPr>
          <a:xfrm flipV="1">
            <a:off x="11299698" y="2117018"/>
            <a:ext cx="0" cy="176095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ircuit decoration"/>
          <p:cNvSpPr/>
          <p:nvPr/>
        </p:nvSpPr>
        <p:spPr>
          <a:xfrm>
            <a:off x="11277752" y="2095073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ircuit decoration"/>
          <p:cNvSpPr/>
          <p:nvPr/>
        </p:nvSpPr>
        <p:spPr>
          <a:xfrm>
            <a:off x="11159794" y="4843028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ircuit decoration"/>
          <p:cNvCxnSpPr/>
          <p:nvPr/>
        </p:nvCxnSpPr>
        <p:spPr>
          <a:xfrm flipV="1">
            <a:off x="11052810" y="3732215"/>
            <a:ext cx="0" cy="97584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ircuit decoration"/>
          <p:cNvCxnSpPr/>
          <p:nvPr/>
        </p:nvCxnSpPr>
        <p:spPr>
          <a:xfrm flipH="1" flipV="1">
            <a:off x="10929366" y="3608771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ircuit decoration"/>
          <p:cNvCxnSpPr/>
          <p:nvPr/>
        </p:nvCxnSpPr>
        <p:spPr>
          <a:xfrm flipV="1">
            <a:off x="10929366" y="1814169"/>
            <a:ext cx="0" cy="1794602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ircuit decoration"/>
          <p:cNvSpPr/>
          <p:nvPr/>
        </p:nvSpPr>
        <p:spPr>
          <a:xfrm>
            <a:off x="10907420" y="1792224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ircuit decoration"/>
          <p:cNvCxnSpPr/>
          <p:nvPr/>
        </p:nvCxnSpPr>
        <p:spPr>
          <a:xfrm flipV="1">
            <a:off x="10929366" y="3463015"/>
            <a:ext cx="0" cy="1547897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ircuit decoration"/>
          <p:cNvCxnSpPr/>
          <p:nvPr/>
        </p:nvCxnSpPr>
        <p:spPr>
          <a:xfrm flipV="1">
            <a:off x="10929366" y="3339571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ircuit decoration"/>
          <p:cNvCxnSpPr/>
          <p:nvPr/>
        </p:nvCxnSpPr>
        <p:spPr>
          <a:xfrm flipV="1">
            <a:off x="11052810" y="2419868"/>
            <a:ext cx="0" cy="919703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ircuit decoration"/>
          <p:cNvSpPr/>
          <p:nvPr/>
        </p:nvSpPr>
        <p:spPr>
          <a:xfrm>
            <a:off x="11030864" y="2397922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ircuit decoration"/>
          <p:cNvSpPr/>
          <p:nvPr/>
        </p:nvSpPr>
        <p:spPr>
          <a:xfrm>
            <a:off x="10912906" y="4994452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ircuit decoration"/>
          <p:cNvCxnSpPr/>
          <p:nvPr/>
        </p:nvCxnSpPr>
        <p:spPr>
          <a:xfrm flipV="1">
            <a:off x="10805922" y="3193816"/>
            <a:ext cx="0" cy="1665671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ircuit decoration"/>
          <p:cNvCxnSpPr/>
          <p:nvPr/>
        </p:nvCxnSpPr>
        <p:spPr>
          <a:xfrm flipH="1" flipV="1">
            <a:off x="10682478" y="3070372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ircuit decoration"/>
          <p:cNvCxnSpPr/>
          <p:nvPr/>
        </p:nvCxnSpPr>
        <p:spPr>
          <a:xfrm flipV="1">
            <a:off x="10682478" y="2117018"/>
            <a:ext cx="0" cy="95335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ircuit decoration"/>
          <p:cNvSpPr/>
          <p:nvPr/>
        </p:nvSpPr>
        <p:spPr>
          <a:xfrm>
            <a:off x="10660532" y="2095073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ircuit decoration"/>
          <p:cNvCxnSpPr/>
          <p:nvPr/>
        </p:nvCxnSpPr>
        <p:spPr>
          <a:xfrm flipV="1">
            <a:off x="10682478" y="4001414"/>
            <a:ext cx="0" cy="706648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ircuit decoration"/>
          <p:cNvCxnSpPr/>
          <p:nvPr/>
        </p:nvCxnSpPr>
        <p:spPr>
          <a:xfrm flipV="1">
            <a:off x="10682478" y="3877970"/>
            <a:ext cx="123444" cy="123444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ircuit decoration"/>
          <p:cNvCxnSpPr/>
          <p:nvPr/>
        </p:nvCxnSpPr>
        <p:spPr>
          <a:xfrm flipV="1">
            <a:off x="10805922" y="1814169"/>
            <a:ext cx="0" cy="2063801"/>
          </a:xfrm>
          <a:prstGeom prst="line">
            <a:avLst/>
          </a:prstGeom>
          <a:ln w="8255">
            <a:solidFill>
              <a:srgbClr val="D4C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ircuit decoration"/>
          <p:cNvSpPr/>
          <p:nvPr/>
        </p:nvSpPr>
        <p:spPr>
          <a:xfrm>
            <a:off x="10783976" y="1792224"/>
            <a:ext cx="43891" cy="43891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ircuit decoration"/>
          <p:cNvSpPr/>
          <p:nvPr/>
        </p:nvSpPr>
        <p:spPr>
          <a:xfrm>
            <a:off x="10666018" y="4691603"/>
            <a:ext cx="32918" cy="32918"/>
          </a:xfrm>
          <a:prstGeom prst="ellipse">
            <a:avLst/>
          </a:prstGeom>
          <a:solidFill>
            <a:srgbClr val="D4C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 | PURPOSE"/>
          <p:cNvSpPr txBox="1"/>
          <p:nvPr/>
        </p:nvSpPr>
        <p:spPr>
          <a:xfrm>
            <a:off x="685800" y="676656"/>
            <a:ext cx="21762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2D2C"/>
                </a:solidFill>
                <a:latin typeface="DM Serif Display"/>
              </a:rPr>
              <a:t>PURPOSE</a:t>
            </a:r>
          </a:p>
        </p:txBody>
      </p:sp>
      <p:sp>
        <p:nvSpPr>
          <p:cNvPr id="88" name="PH|body|Talk / meeting"/>
          <p:cNvSpPr txBox="1"/>
          <p:nvPr>
            <p:ph type="body" idx="1"/>
          </p:nvPr>
        </p:nvSpPr>
        <p:spPr>
          <a:xfrm>
            <a:off x="685800" y="1033271"/>
            <a:ext cx="2176272" cy="3017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Talk / meeting</a:t>
            </a:r>
          </a:p>
        </p:txBody>
      </p:sp>
      <p:sp>
        <p:nvSpPr>
          <p:cNvPr id="89" name="Text | DATE"/>
          <p:cNvSpPr txBox="1"/>
          <p:nvPr/>
        </p:nvSpPr>
        <p:spPr>
          <a:xfrm>
            <a:off x="9326880" y="676656"/>
            <a:ext cx="21762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2D2C"/>
                </a:solidFill>
                <a:latin typeface="DM Serif Display"/>
              </a:rPr>
              <a:t>DATE</a:t>
            </a:r>
          </a:p>
        </p:txBody>
      </p:sp>
      <p:sp>
        <p:nvSpPr>
          <p:cNvPr id="90" name="PH|body|Date"/>
          <p:cNvSpPr txBox="1"/>
          <p:nvPr>
            <p:ph type="body" idx="2"/>
          </p:nvPr>
        </p:nvSpPr>
        <p:spPr>
          <a:xfrm>
            <a:off x="9326880" y="1033271"/>
            <a:ext cx="2176272" cy="3017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Date</a:t>
            </a:r>
          </a:p>
        </p:txBody>
      </p:sp>
      <p:sp>
        <p:nvSpPr>
          <p:cNvPr id="91" name="Text | PROJECT PART OF"/>
          <p:cNvSpPr txBox="1"/>
          <p:nvPr/>
        </p:nvSpPr>
        <p:spPr>
          <a:xfrm>
            <a:off x="685800" y="5724144"/>
            <a:ext cx="301752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2D2C"/>
                </a:solidFill>
                <a:latin typeface="DM Serif Display"/>
              </a:rPr>
              <a:t>PROJECT PART OF</a:t>
            </a:r>
          </a:p>
        </p:txBody>
      </p:sp>
      <p:sp>
        <p:nvSpPr>
          <p:cNvPr id="92" name="PH|body|Lab / institution"/>
          <p:cNvSpPr txBox="1"/>
          <p:nvPr>
            <p:ph type="body" idx="3"/>
          </p:nvPr>
        </p:nvSpPr>
        <p:spPr>
          <a:xfrm>
            <a:off x="685800" y="6080759"/>
            <a:ext cx="3017520" cy="3017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Lab / institution</a:t>
            </a:r>
          </a:p>
        </p:txBody>
      </p:sp>
      <p:sp>
        <p:nvSpPr>
          <p:cNvPr id="93" name="Text | PRESENTED BY"/>
          <p:cNvSpPr txBox="1"/>
          <p:nvPr/>
        </p:nvSpPr>
        <p:spPr>
          <a:xfrm>
            <a:off x="8412480" y="5724144"/>
            <a:ext cx="301752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E2D2C"/>
                </a:solidFill>
                <a:latin typeface="DM Serif Display"/>
              </a:rPr>
              <a:t>PRESENTED BY</a:t>
            </a:r>
          </a:p>
        </p:txBody>
      </p:sp>
      <p:sp>
        <p:nvSpPr>
          <p:cNvPr id="94" name="PH|body|Presenter"/>
          <p:cNvSpPr txBox="1"/>
          <p:nvPr>
            <p:ph type="body" idx="4"/>
          </p:nvPr>
        </p:nvSpPr>
        <p:spPr>
          <a:xfrm>
            <a:off x="8412480" y="6080759"/>
            <a:ext cx="3017520" cy="3017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Presenter</a:t>
            </a:r>
          </a:p>
        </p:txBody>
      </p:sp>
      <p:sp>
        <p:nvSpPr>
          <p:cNvPr id="95" name="PH|title|Project name"/>
          <p:cNvSpPr txBox="1"/>
          <p:nvPr>
            <p:ph type="title" idx="0"/>
          </p:nvPr>
        </p:nvSpPr>
        <p:spPr>
          <a:xfrm>
            <a:off x="2194560" y="1920240"/>
            <a:ext cx="7799831" cy="11338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1pPr>
            <a:lvl2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2pPr>
            <a:lvl3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3pPr>
            <a:lvl4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4pPr>
            <a:lvl5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5pPr>
            <a:lvl6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6pPr>
            <a:lvl7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7pPr>
            <a:lvl8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8pPr>
            <a:lvl9pPr marL="0" indent="0" algn="ctr">
              <a:buNone/>
              <a:defRPr sz="5000" b="1">
                <a:solidFill>
                  <a:srgbClr val="333351"/>
                </a:solidFill>
                <a:latin typeface="DM Serif Display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5000" b="1">
                <a:solidFill>
                  <a:srgbClr val="333351"/>
                </a:solidFill>
                <a:latin typeface="DM Serif Display"/>
              </a:defRPr>
            </a:pPr>
            <a:r>
              <a:rPr sz="5000" b="1">
                <a:solidFill>
                  <a:srgbClr val="333351"/>
                </a:solidFill>
                <a:latin typeface="DM Serif Display"/>
              </a:rPr>
              <a:t>Project name</a:t>
            </a:r>
          </a:p>
        </p:txBody>
      </p:sp>
      <p:sp>
        <p:nvSpPr>
          <p:cNvPr id="96" name="PH|body|Presentation title / subtitle"/>
          <p:cNvSpPr txBox="1"/>
          <p:nvPr>
            <p:ph type="body" idx="5"/>
          </p:nvPr>
        </p:nvSpPr>
        <p:spPr>
          <a:xfrm>
            <a:off x="2286000" y="3264408"/>
            <a:ext cx="7616952" cy="9418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1pPr>
            <a:lvl2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2pPr>
            <a:lvl3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3pPr>
            <a:lvl4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4pPr>
            <a:lvl5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5pPr>
            <a:lvl6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6pPr>
            <a:lvl7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7pPr>
            <a:lvl8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8pPr>
            <a:lvl9pPr marL="0" indent="0" algn="ctr">
              <a:buNone/>
              <a:defRPr sz="2400" b="0">
                <a:solidFill>
                  <a:srgbClr val="2E2D2C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>Presentation title / subtitle</a:t>
            </a:r>
          </a:p>
        </p:txBody>
      </p:sp>
      <p:sp>
        <p:nvSpPr>
          <p:cNvPr id="97" name="PH|body|Authors / collaborators"/>
          <p:cNvSpPr txBox="1"/>
          <p:nvPr>
            <p:ph type="body" idx="6"/>
          </p:nvPr>
        </p:nvSpPr>
        <p:spPr>
          <a:xfrm>
            <a:off x="2743200" y="4553712"/>
            <a:ext cx="6702552" cy="9509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ctr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Authors / collaborators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2 — Project information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Project image"/>
          <p:cNvSpPr txBox="1"/>
          <p:nvPr>
            <p:ph type="pic" idx="1"/>
          </p:nvPr>
        </p:nvSpPr>
        <p:spPr>
          <a:xfrm>
            <a:off x="868680" y="1536192"/>
            <a:ext cx="3337560" cy="3355848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Project image</a:t>
            </a:r>
          </a:p>
        </p:txBody>
      </p:sp>
      <p:sp>
        <p:nvSpPr>
          <p:cNvPr id="4" name="PH|body|Project name&#10;&#10;Description&#10;&#10;Leads / affiliation / resources"/>
          <p:cNvSpPr txBox="1"/>
          <p:nvPr>
            <p:ph type="body" idx="2"/>
          </p:nvPr>
        </p:nvSpPr>
        <p:spPr>
          <a:xfrm>
            <a:off x="4700016" y="1645920"/>
            <a:ext cx="6583680" cy="4023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4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>Project 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>Description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E2D2C"/>
                </a:solidFill>
                <a:latin typeface="Inter"/>
              </a:defRPr>
            </a:pPr>
            <a:r>
              <a:rPr sz="2400" b="0">
                <a:solidFill>
                  <a:srgbClr val="2E2D2C"/>
                </a:solidFill>
                <a:latin typeface="Inter"/>
              </a:rPr>
              <a:t>Leads / affiliation / resources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03 — Section divider">
    <p:bg>
      <p:bgPr>
        <a:solidFill>
          <a:srgbClr val="2531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ection title"/>
          <p:cNvSpPr txBox="1"/>
          <p:nvPr>
            <p:ph type="title" idx="0"/>
          </p:nvPr>
        </p:nvSpPr>
        <p:spPr>
          <a:xfrm>
            <a:off x="768096" y="2011680"/>
            <a:ext cx="10058400" cy="2423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1pPr>
            <a:lvl2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2pPr>
            <a:lvl3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3pPr>
            <a:lvl4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4pPr>
            <a:lvl5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5pPr>
            <a:lvl6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6pPr>
            <a:lvl7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7pPr>
            <a:lvl8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8pPr>
            <a:lvl9pPr marL="0" indent="0" algn="ctr">
              <a:buNone/>
              <a:defRPr sz="6400" b="1">
                <a:solidFill>
                  <a:srgbClr val="FDF7EF"/>
                </a:solidFill>
                <a:latin typeface="DM Serif Display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6400" b="1">
                <a:solidFill>
                  <a:srgbClr val="FDF7EF"/>
                </a:solidFill>
                <a:latin typeface="DM Serif Display"/>
              </a:defRPr>
            </a:pPr>
            <a:r>
              <a:rPr sz="6400" b="1">
                <a:solidFill>
                  <a:srgbClr val="FDF7EF"/>
                </a:solidFill>
                <a:latin typeface="DM Serif Display"/>
              </a:rPr>
              <a:t>Section title</a:t>
            </a:r>
          </a:p>
        </p:txBody>
      </p:sp>
      <p:sp>
        <p:nvSpPr>
          <p:cNvPr id="3" name="PH|body|Section subtitle"/>
          <p:cNvSpPr txBox="1"/>
          <p:nvPr>
            <p:ph type="body" idx="1"/>
          </p:nvPr>
        </p:nvSpPr>
        <p:spPr>
          <a:xfrm>
            <a:off x="804672" y="4983480"/>
            <a:ext cx="9921240" cy="7680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1pPr>
            <a:lvl2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2pPr>
            <a:lvl3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3pPr>
            <a:lvl4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4pPr>
            <a:lvl5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5pPr>
            <a:lvl6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6pPr>
            <a:lvl7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7pPr>
            <a:lvl8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8pPr>
            <a:lvl9pPr marL="0" indent="0" algn="l">
              <a:buNone/>
              <a:defRPr sz="2300" b="0">
                <a:solidFill>
                  <a:srgbClr val="FDF7EF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FDF7EF"/>
                </a:solidFill>
                <a:latin typeface="Inter"/>
              </a:defRPr>
            </a:pPr>
            <a:r>
              <a:rPr sz="2300" b="0">
                <a:solidFill>
                  <a:srgbClr val="FDF7EF"/>
                </a:solidFill>
                <a:latin typeface="Inter"/>
              </a:rPr>
              <a:t>Section subtitle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4 — Title and text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Add your text"/>
          <p:cNvSpPr txBox="1"/>
          <p:nvPr>
            <p:ph type="body" idx="1"/>
          </p:nvPr>
        </p:nvSpPr>
        <p:spPr>
          <a:xfrm>
            <a:off x="1051560" y="1682496"/>
            <a:ext cx="10012680" cy="42885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3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2E2D2C"/>
                </a:solidFill>
                <a:latin typeface="Inter"/>
              </a:defRPr>
            </a:pPr>
            <a:r>
              <a:rPr sz="2300" b="0">
                <a:solidFill>
                  <a:srgbClr val="2E2D2C"/>
                </a:solidFill>
                <a:latin typeface="Inter"/>
              </a:rPr>
              <a:t>Add your text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5 — Text and figure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Add text"/>
          <p:cNvSpPr txBox="1"/>
          <p:nvPr>
            <p:ph type="body" idx="1"/>
          </p:nvPr>
        </p:nvSpPr>
        <p:spPr>
          <a:xfrm>
            <a:off x="868680" y="1664208"/>
            <a:ext cx="3867912" cy="39776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4" name="PH|pic|Add figure"/>
          <p:cNvSpPr txBox="1"/>
          <p:nvPr>
            <p:ph type="pic" idx="2"/>
          </p:nvPr>
        </p:nvSpPr>
        <p:spPr>
          <a:xfrm>
            <a:off x="5065776" y="1554480"/>
            <a:ext cx="6254496" cy="4069080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Add figure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6 — Figure and text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Add figure"/>
          <p:cNvSpPr txBox="1"/>
          <p:nvPr>
            <p:ph type="pic" idx="1"/>
          </p:nvPr>
        </p:nvSpPr>
        <p:spPr>
          <a:xfrm>
            <a:off x="850392" y="1554480"/>
            <a:ext cx="6254496" cy="4069080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Add figure</a:t>
            </a:r>
          </a:p>
        </p:txBody>
      </p:sp>
      <p:sp>
        <p:nvSpPr>
          <p:cNvPr id="4" name="PH|body|Add text"/>
          <p:cNvSpPr txBox="1"/>
          <p:nvPr>
            <p:ph type="body" idx="2"/>
          </p:nvPr>
        </p:nvSpPr>
        <p:spPr>
          <a:xfrm>
            <a:off x="7644383" y="1664208"/>
            <a:ext cx="3675887" cy="39776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7 — Two figure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Figure A"/>
          <p:cNvSpPr txBox="1"/>
          <p:nvPr>
            <p:ph type="pic" idx="1"/>
          </p:nvPr>
        </p:nvSpPr>
        <p:spPr>
          <a:xfrm>
            <a:off x="850392" y="2084831"/>
            <a:ext cx="5093208" cy="3136392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Figure A</a:t>
            </a:r>
          </a:p>
        </p:txBody>
      </p:sp>
      <p:sp>
        <p:nvSpPr>
          <p:cNvPr id="4" name="PH|pic|Figure B"/>
          <p:cNvSpPr txBox="1"/>
          <p:nvPr>
            <p:ph type="pic" idx="2"/>
          </p:nvPr>
        </p:nvSpPr>
        <p:spPr>
          <a:xfrm>
            <a:off x="6245352" y="2084831"/>
            <a:ext cx="5093208" cy="3136392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Figure B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8 — Full-width figure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Add figure"/>
          <p:cNvSpPr txBox="1"/>
          <p:nvPr>
            <p:ph type="pic" idx="1"/>
          </p:nvPr>
        </p:nvSpPr>
        <p:spPr>
          <a:xfrm>
            <a:off x="850392" y="1554480"/>
            <a:ext cx="10488168" cy="4041648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Add figure</a:t>
            </a:r>
          </a:p>
        </p:txBody>
      </p:sp>
      <p:sp>
        <p:nvSpPr>
          <p:cNvPr id="4" name="PH|body|Caption / source"/>
          <p:cNvSpPr txBox="1"/>
          <p:nvPr>
            <p:ph type="body" idx="2"/>
          </p:nvPr>
        </p:nvSpPr>
        <p:spPr>
          <a:xfrm>
            <a:off x="868680" y="5788152"/>
            <a:ext cx="10451592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Caption / source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09 — Two column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Heading&#10;&#10;Add text"/>
          <p:cNvSpPr txBox="1"/>
          <p:nvPr>
            <p:ph type="body" idx="1"/>
          </p:nvPr>
        </p:nvSpPr>
        <p:spPr>
          <a:xfrm>
            <a:off x="886968" y="1691640"/>
            <a:ext cx="5010912" cy="4023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4" name="PH|body|Heading&#10;&#10;Add text"/>
          <p:cNvSpPr txBox="1"/>
          <p:nvPr>
            <p:ph type="body" idx="2"/>
          </p:nvPr>
        </p:nvSpPr>
        <p:spPr>
          <a:xfrm>
            <a:off x="6300216" y="1691640"/>
            <a:ext cx="5010912" cy="4023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0 — Three column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Heading&#10;&#10;Add text"/>
          <p:cNvSpPr txBox="1"/>
          <p:nvPr>
            <p:ph type="body" idx="1"/>
          </p:nvPr>
        </p:nvSpPr>
        <p:spPr>
          <a:xfrm>
            <a:off x="877824" y="1691640"/>
            <a:ext cx="3218688" cy="40050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4" name="PH|body|Heading&#10;&#10;Add text"/>
          <p:cNvSpPr txBox="1"/>
          <p:nvPr>
            <p:ph type="body" idx="2"/>
          </p:nvPr>
        </p:nvSpPr>
        <p:spPr>
          <a:xfrm>
            <a:off x="4489704" y="1691640"/>
            <a:ext cx="3218688" cy="40050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5" name="PH|body|Heading&#10;&#10;Add text"/>
          <p:cNvSpPr txBox="1"/>
          <p:nvPr>
            <p:ph type="body" idx="3"/>
          </p:nvPr>
        </p:nvSpPr>
        <p:spPr>
          <a:xfrm>
            <a:off x="8101583" y="1691640"/>
            <a:ext cx="3218688" cy="40050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1 — Four panel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Heading&#10;&#10;Add text"/>
          <p:cNvSpPr txBox="1"/>
          <p:nvPr>
            <p:ph type="body" idx="1"/>
          </p:nvPr>
        </p:nvSpPr>
        <p:spPr>
          <a:xfrm>
            <a:off x="886968" y="1719072"/>
            <a:ext cx="5010912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4" name="PH|body|Heading&#10;&#10;Add text"/>
          <p:cNvSpPr txBox="1"/>
          <p:nvPr>
            <p:ph type="body" idx="2"/>
          </p:nvPr>
        </p:nvSpPr>
        <p:spPr>
          <a:xfrm>
            <a:off x="6263640" y="1719072"/>
            <a:ext cx="5010912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5" name="PH|body|Heading&#10;&#10;Add text"/>
          <p:cNvSpPr txBox="1"/>
          <p:nvPr>
            <p:ph type="body" idx="3"/>
          </p:nvPr>
        </p:nvSpPr>
        <p:spPr>
          <a:xfrm>
            <a:off x="886968" y="3867912"/>
            <a:ext cx="5010912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6" name="PH|body|Heading&#10;&#10;Add text"/>
          <p:cNvSpPr txBox="1"/>
          <p:nvPr>
            <p:ph type="body" idx="4"/>
          </p:nvPr>
        </p:nvSpPr>
        <p:spPr>
          <a:xfrm>
            <a:off x="6263640" y="3867912"/>
            <a:ext cx="5010912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2 — Six panel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Heading&#10;&#10;Add text"/>
          <p:cNvSpPr txBox="1"/>
          <p:nvPr>
            <p:ph type="body" idx="1"/>
          </p:nvPr>
        </p:nvSpPr>
        <p:spPr>
          <a:xfrm>
            <a:off x="886968" y="171907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4" name="PH|body|Heading&#10;&#10;Add text"/>
          <p:cNvSpPr txBox="1"/>
          <p:nvPr>
            <p:ph type="body" idx="2"/>
          </p:nvPr>
        </p:nvSpPr>
        <p:spPr>
          <a:xfrm>
            <a:off x="4489704" y="171907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5" name="PH|body|Heading&#10;&#10;Add text"/>
          <p:cNvSpPr txBox="1"/>
          <p:nvPr>
            <p:ph type="body" idx="3"/>
          </p:nvPr>
        </p:nvSpPr>
        <p:spPr>
          <a:xfrm>
            <a:off x="8092440" y="171907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6" name="PH|body|Heading&#10;&#10;Add text"/>
          <p:cNvSpPr txBox="1"/>
          <p:nvPr>
            <p:ph type="body" idx="4"/>
          </p:nvPr>
        </p:nvSpPr>
        <p:spPr>
          <a:xfrm>
            <a:off x="886968" y="386791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7" name="PH|body|Heading&#10;&#10;Add text"/>
          <p:cNvSpPr txBox="1"/>
          <p:nvPr>
            <p:ph type="body" idx="5"/>
          </p:nvPr>
        </p:nvSpPr>
        <p:spPr>
          <a:xfrm>
            <a:off x="4489704" y="386791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  <p:sp>
        <p:nvSpPr>
          <p:cNvPr id="8" name="PH|body|Heading&#10;&#10;Add text"/>
          <p:cNvSpPr txBox="1"/>
          <p:nvPr>
            <p:ph type="body" idx="6"/>
          </p:nvPr>
        </p:nvSpPr>
        <p:spPr>
          <a:xfrm>
            <a:off x="8092440" y="3867912"/>
            <a:ext cx="3218688" cy="185623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3 — Chart and note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chart|Insert chart"/>
          <p:cNvSpPr txBox="1"/>
          <p:nvPr>
            <p:ph type="chart" idx="1"/>
          </p:nvPr>
        </p:nvSpPr>
        <p:spPr>
          <a:xfrm>
            <a:off x="877824" y="1801368"/>
            <a:ext cx="7242048" cy="38587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Insert chart</a:t>
            </a:r>
          </a:p>
        </p:txBody>
      </p:sp>
      <p:sp>
        <p:nvSpPr>
          <p:cNvPr id="4" name="PH|body|Observation&#10;&#10;Context / conditions"/>
          <p:cNvSpPr txBox="1"/>
          <p:nvPr>
            <p:ph type="body" idx="2"/>
          </p:nvPr>
        </p:nvSpPr>
        <p:spPr>
          <a:xfrm>
            <a:off x="8540496" y="1975104"/>
            <a:ext cx="2779776" cy="3611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Observation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Context / conditions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4 — Full table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tbl|Insert table"/>
          <p:cNvSpPr txBox="1"/>
          <p:nvPr>
            <p:ph type="tbl" idx="1"/>
          </p:nvPr>
        </p:nvSpPr>
        <p:spPr>
          <a:xfrm>
            <a:off x="877824" y="1728216"/>
            <a:ext cx="10442448" cy="382219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Insert table</a:t>
            </a:r>
          </a:p>
        </p:txBody>
      </p:sp>
      <p:sp>
        <p:nvSpPr>
          <p:cNvPr id="4" name="PH|body|Units / conditions / source"/>
          <p:cNvSpPr txBox="1"/>
          <p:nvPr>
            <p:ph type="body" idx="2"/>
          </p:nvPr>
        </p:nvSpPr>
        <p:spPr>
          <a:xfrm>
            <a:off x="877824" y="5751576"/>
            <a:ext cx="10442448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E2D2C"/>
                </a:solidFill>
                <a:latin typeface="Inter"/>
              </a:defRPr>
            </a:pPr>
            <a:r>
              <a:rPr sz="1200" b="0">
                <a:solidFill>
                  <a:srgbClr val="2E2D2C"/>
                </a:solidFill>
                <a:latin typeface="Inter"/>
              </a:rPr>
              <a:t>Units / conditions / source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5 — Code and note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body|Code / pseudocode"/>
          <p:cNvSpPr txBox="1"/>
          <p:nvPr>
            <p:ph type="body" idx="1"/>
          </p:nvPr>
        </p:nvSpPr>
        <p:spPr>
          <a:xfrm>
            <a:off x="1115568" y="2011680"/>
            <a:ext cx="5897880" cy="33649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9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2E2D2C"/>
                </a:solidFill>
                <a:latin typeface="Inter"/>
              </a:defRPr>
            </a:pPr>
            <a:r>
              <a:rPr sz="1900" b="0">
                <a:solidFill>
                  <a:srgbClr val="2E2D2C"/>
                </a:solidFill>
                <a:latin typeface="Inter"/>
              </a:rPr>
              <a:t>Code / pseudocode</a:t>
            </a:r>
          </a:p>
        </p:txBody>
      </p:sp>
      <p:sp>
        <p:nvSpPr>
          <p:cNvPr id="4" name="PH|body|Explanation"/>
          <p:cNvSpPr txBox="1"/>
          <p:nvPr>
            <p:ph type="body" idx="2"/>
          </p:nvPr>
        </p:nvSpPr>
        <p:spPr>
          <a:xfrm>
            <a:off x="7927848" y="2011680"/>
            <a:ext cx="3374136" cy="35753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1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E2D2C"/>
                </a:solidFill>
                <a:latin typeface="Inter"/>
              </a:defRPr>
            </a:pPr>
            <a:r>
              <a:rPr sz="2100" b="0">
                <a:solidFill>
                  <a:srgbClr val="2E2D2C"/>
                </a:solidFill>
                <a:latin typeface="Inter"/>
              </a:rPr>
              <a:t>Explanation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6 — Team profile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Photo"/>
          <p:cNvSpPr txBox="1"/>
          <p:nvPr>
            <p:ph type="pic" idx="1"/>
          </p:nvPr>
        </p:nvSpPr>
        <p:spPr>
          <a:xfrm>
            <a:off x="932688" y="1572768"/>
            <a:ext cx="3172968" cy="2606040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Photo</a:t>
            </a:r>
          </a:p>
        </p:txBody>
      </p:sp>
      <p:sp>
        <p:nvSpPr>
          <p:cNvPr id="4" name="PH|pic|Photo"/>
          <p:cNvSpPr txBox="1"/>
          <p:nvPr>
            <p:ph type="pic" idx="2"/>
          </p:nvPr>
        </p:nvSpPr>
        <p:spPr>
          <a:xfrm>
            <a:off x="4517136" y="1572768"/>
            <a:ext cx="3172968" cy="2606040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Photo</a:t>
            </a:r>
          </a:p>
        </p:txBody>
      </p:sp>
      <p:sp>
        <p:nvSpPr>
          <p:cNvPr id="5" name="PH|pic|Photo"/>
          <p:cNvSpPr txBox="1"/>
          <p:nvPr>
            <p:ph type="pic" idx="3"/>
          </p:nvPr>
        </p:nvSpPr>
        <p:spPr>
          <a:xfrm>
            <a:off x="8101583" y="1572768"/>
            <a:ext cx="3172968" cy="2606040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Photo</a:t>
            </a:r>
          </a:p>
        </p:txBody>
      </p:sp>
      <p:sp>
        <p:nvSpPr>
          <p:cNvPr id="6" name="PH|body|Name&#10;Role / affiliation"/>
          <p:cNvSpPr txBox="1"/>
          <p:nvPr>
            <p:ph type="body" idx="4"/>
          </p:nvPr>
        </p:nvSpPr>
        <p:spPr>
          <a:xfrm>
            <a:off x="932688" y="4535424"/>
            <a:ext cx="3154680" cy="10881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Role / affiliation</a:t>
            </a:r>
          </a:p>
        </p:txBody>
      </p:sp>
      <p:sp>
        <p:nvSpPr>
          <p:cNvPr id="7" name="PH|body|Name&#10;Role / affiliation"/>
          <p:cNvSpPr txBox="1"/>
          <p:nvPr>
            <p:ph type="body" idx="5"/>
          </p:nvPr>
        </p:nvSpPr>
        <p:spPr>
          <a:xfrm>
            <a:off x="4517136" y="4535424"/>
            <a:ext cx="3154680" cy="10881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Role / affiliation</a:t>
            </a:r>
          </a:p>
        </p:txBody>
      </p:sp>
      <p:sp>
        <p:nvSpPr>
          <p:cNvPr id="8" name="PH|body|Name&#10;Role / affiliation"/>
          <p:cNvSpPr txBox="1"/>
          <p:nvPr>
            <p:ph type="body" idx="6"/>
          </p:nvPr>
        </p:nvSpPr>
        <p:spPr>
          <a:xfrm>
            <a:off x="8101583" y="4535424"/>
            <a:ext cx="3154680" cy="10881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0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2E2D2C"/>
                </a:solidFill>
                <a:latin typeface="Inter"/>
              </a:defRPr>
            </a:pPr>
            <a:r>
              <a:rPr sz="2000" b="0">
                <a:solidFill>
                  <a:srgbClr val="2E2D2C"/>
                </a:solidFill>
                <a:latin typeface="Inter"/>
              </a:rPr>
              <a:t>Role / affiliation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7 — Title canva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8 — Empty canvas with frame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9 — Image collage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Image A"/>
          <p:cNvSpPr txBox="1"/>
          <p:nvPr>
            <p:ph type="pic" idx="1"/>
          </p:nvPr>
        </p:nvSpPr>
        <p:spPr>
          <a:xfrm>
            <a:off x="859536" y="1572768"/>
            <a:ext cx="3035808" cy="1984248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Image A</a:t>
            </a:r>
          </a:p>
        </p:txBody>
      </p:sp>
      <p:sp>
        <p:nvSpPr>
          <p:cNvPr id="4" name="PH|pic|Image B"/>
          <p:cNvSpPr txBox="1"/>
          <p:nvPr>
            <p:ph type="pic" idx="2"/>
          </p:nvPr>
        </p:nvSpPr>
        <p:spPr>
          <a:xfrm>
            <a:off x="4096512" y="1572768"/>
            <a:ext cx="3035808" cy="1984248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Image B</a:t>
            </a:r>
          </a:p>
        </p:txBody>
      </p:sp>
      <p:sp>
        <p:nvSpPr>
          <p:cNvPr id="5" name="PH|pic|Image C"/>
          <p:cNvSpPr txBox="1"/>
          <p:nvPr>
            <p:ph type="pic" idx="3"/>
          </p:nvPr>
        </p:nvSpPr>
        <p:spPr>
          <a:xfrm>
            <a:off x="859536" y="3749039"/>
            <a:ext cx="6272784" cy="1911095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Image C</a:t>
            </a:r>
          </a:p>
        </p:txBody>
      </p:sp>
      <p:sp>
        <p:nvSpPr>
          <p:cNvPr id="6" name="PH|body|Heading&#10;&#10;Add text"/>
          <p:cNvSpPr txBox="1"/>
          <p:nvPr>
            <p:ph type="body" idx="4"/>
          </p:nvPr>
        </p:nvSpPr>
        <p:spPr>
          <a:xfrm>
            <a:off x="7635240" y="1700784"/>
            <a:ext cx="3657600" cy="39867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20 — Two image crops"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|title|Slide title"/>
          <p:cNvSpPr txBox="1"/>
          <p:nvPr>
            <p:ph type="title" idx="0"/>
          </p:nvPr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1pPr>
            <a:lvl2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2pPr>
            <a:lvl3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3pPr>
            <a:lvl4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4pPr>
            <a:lvl5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5pPr>
            <a:lvl6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6pPr>
            <a:lvl7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7pPr>
            <a:lvl8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8pPr>
            <a:lvl9pPr marL="0" indent="0" algn="ctr">
              <a:buNone/>
              <a:defRPr sz="2800" b="1">
                <a:solidFill>
                  <a:srgbClr val="333351"/>
                </a:solidFill>
                <a:latin typeface="Inter"/>
              </a:defRPr>
            </a:lvl9pPr>
          </a:lstStyle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333351"/>
                </a:solidFill>
                <a:latin typeface="Inter"/>
              </a:defRPr>
            </a:pPr>
            <a:r>
              <a:rPr sz="2800" b="1">
                <a:solidFill>
                  <a:srgbClr val="333351"/>
                </a:solidFill>
                <a:latin typeface="Inter"/>
              </a:rPr>
              <a:t>Slide title</a:t>
            </a:r>
          </a:p>
        </p:txBody>
      </p:sp>
      <p:sp>
        <p:nvSpPr>
          <p:cNvPr id="3" name="PH|pic|Wide crop"/>
          <p:cNvSpPr txBox="1"/>
          <p:nvPr>
            <p:ph type="pic" idx="1"/>
          </p:nvPr>
        </p:nvSpPr>
        <p:spPr>
          <a:xfrm>
            <a:off x="896112" y="1600200"/>
            <a:ext cx="3685032" cy="3182112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Wide crop</a:t>
            </a:r>
          </a:p>
        </p:txBody>
      </p:sp>
      <p:sp>
        <p:nvSpPr>
          <p:cNvPr id="4" name="PH|pic|Portrait crop"/>
          <p:cNvSpPr txBox="1"/>
          <p:nvPr>
            <p:ph type="pic" idx="2"/>
          </p:nvPr>
        </p:nvSpPr>
        <p:spPr>
          <a:xfrm>
            <a:off x="4864608" y="1600200"/>
            <a:ext cx="2743200" cy="3182112"/>
          </a:xfrm>
          <a:prstGeom prst="rect">
            <a:avLst/>
          </a:prstGeom>
          <a:solidFill>
            <a:srgbClr val="CBCFD0"/>
          </a:solidFill>
          <a:ln>
            <a:solidFill>
              <a:srgbClr val="C0B1A2"/>
            </a:solidFill>
          </a:ln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18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E2D2C"/>
                </a:solidFill>
                <a:latin typeface="Inter"/>
              </a:defRPr>
            </a:pPr>
            <a:r>
              <a:rPr sz="1800" b="0">
                <a:solidFill>
                  <a:srgbClr val="2E2D2C"/>
                </a:solidFill>
                <a:latin typeface="Inter"/>
              </a:rPr>
              <a:t>Portrait crop</a:t>
            </a:r>
          </a:p>
        </p:txBody>
      </p:sp>
      <p:sp>
        <p:nvSpPr>
          <p:cNvPr id="5" name="PH|body|Heading&#10;&#10;Add text"/>
          <p:cNvSpPr txBox="1"/>
          <p:nvPr>
            <p:ph type="body" idx="3"/>
          </p:nvPr>
        </p:nvSpPr>
        <p:spPr>
          <a:xfrm>
            <a:off x="8138160" y="1783080"/>
            <a:ext cx="3145536" cy="35112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>
            <a:lvl1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1pPr>
            <a:lvl2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2pPr>
            <a:lvl3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3pPr>
            <a:lvl4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4pPr>
            <a:lvl5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5pPr>
            <a:lvl6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6pPr>
            <a:lvl7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7pPr>
            <a:lvl8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8pPr>
            <a:lvl9pPr marL="0" indent="0" algn="l">
              <a:buNone/>
              <a:defRPr sz="2200" b="0">
                <a:solidFill>
                  <a:srgbClr val="2E2D2C"/>
                </a:solidFill>
                <a:latin typeface="Inter"/>
              </a:defRPr>
            </a:lvl9pPr>
          </a:lstStyle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Heading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2E2D2C"/>
                </a:solidFill>
                <a:latin typeface="Inter"/>
              </a:defRPr>
            </a:pPr>
            <a:r>
              <a:rPr sz="2200" b="0">
                <a:solidFill>
                  <a:srgbClr val="2E2D2C"/>
                </a:solidFill>
                <a:latin typeface="Inter"/>
              </a:rPr>
              <a:t>Add text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Frame12" Type="http://schemas.openxmlformats.org/officeDocument/2006/relationships/image" Target="../media/image1.png"/><Relationship Id="rIdLayout1" Type="http://schemas.openxmlformats.org/officeDocument/2006/relationships/slideLayout" Target="../slideLayouts/slideLayout1.xml"/><Relationship Id="rIdLayout10" Type="http://schemas.openxmlformats.org/officeDocument/2006/relationships/slideLayout" Target="../slideLayouts/slideLayout1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Layout13" Type="http://schemas.openxmlformats.org/officeDocument/2006/relationships/slideLayout" Target="../slideLayouts/slideLayout13.xml"/><Relationship Id="rIdLayout14" Type="http://schemas.openxmlformats.org/officeDocument/2006/relationships/slideLayout" Target="../slideLayouts/slideLayout14.xml"/><Relationship Id="rIdLayout15" Type="http://schemas.openxmlformats.org/officeDocument/2006/relationships/slideLayout" Target="../slideLayouts/slideLayout15.xml"/><Relationship Id="rIdLayout16" Type="http://schemas.openxmlformats.org/officeDocument/2006/relationships/slideLayout" Target="../slideLayouts/slideLayout16.xml"/><Relationship Id="rIdLayout17" Type="http://schemas.openxmlformats.org/officeDocument/2006/relationships/slideLayout" Target="../slideLayouts/slideLayout17.xml"/><Relationship Id="rIdLayout18" Type="http://schemas.openxmlformats.org/officeDocument/2006/relationships/slideLayout" Target="../slideLayouts/slideLayout18.xml"/><Relationship Id="rIdLayout19" Type="http://schemas.openxmlformats.org/officeDocument/2006/relationships/slideLayout" Target="../slideLayouts/slideLayout19.xml"/><Relationship Id="rIdLayout2" Type="http://schemas.openxmlformats.org/officeDocument/2006/relationships/slideLayout" Target="../slideLayouts/slideLayout2.xml"/><Relationship Id="rIdLayout20" Type="http://schemas.openxmlformats.org/officeDocument/2006/relationships/slideLayout" Target="../slideLayouts/slideLayout20.xml"/><Relationship Id="rIdLayout3" Type="http://schemas.openxmlformats.org/officeDocument/2006/relationships/slideLayout" Target="../slideLayouts/slideLayout3.xml"/><Relationship Id="rIdLayout4" Type="http://schemas.openxmlformats.org/officeDocument/2006/relationships/slideLayout" Target="../slideLayouts/slideLayout4.xml"/><Relationship Id="rIdLayout5" Type="http://schemas.openxmlformats.org/officeDocument/2006/relationships/slideLayout" Target="../slideLayouts/slideLayout5.xml"/><Relationship Id="rIdLayout6" Type="http://schemas.openxmlformats.org/officeDocument/2006/relationships/slideLayout" Target="../slideLayouts/slideLayout6.xml"/><Relationship Id="rIdLayout7" Type="http://schemas.openxmlformats.org/officeDocument/2006/relationships/slideLayout" Target="../slideLayouts/slideLayout7.xml"/><Relationship Id="rIdLayout8" Type="http://schemas.openxmlformats.org/officeDocument/2006/relationships/slideLayout" Target="../slideLayouts/slideLayout8.xml"/><Relationship Id="rIdLayout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 | University mark" descr="berkeley_seal.png"/>
          <p:cNvPicPr>
            <a:picLocks noChangeAspect="1"/>
          </p:cNvPicPr>
          <p:nvPr/>
        </p:nvPicPr>
        <p:blipFill>
          <a:blip r:embed="rIdFrame12"/>
          <a:stretch>
            <a:fillRect/>
          </a:stretch>
        </p:blipFill>
        <p:spPr>
          <a:xfrm>
            <a:off x="457200" y="274320"/>
            <a:ext cx="731520" cy="731520"/>
          </a:xfrm>
          <a:prstGeom prst="rect">
            <a:avLst/>
          </a:prstGeom>
          <a:effectLst/>
        </p:spPr>
      </p:pic>
      <p:sp>
        <p:nvSpPr>
          <p:cNvPr id="3" name="FRAME | Lab name"/>
          <p:cNvSpPr txBox="1"/>
          <p:nvPr/>
        </p:nvSpPr>
        <p:spPr>
          <a:xfrm>
            <a:off x="1298448" y="365760"/>
            <a:ext cx="1298448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3552"/>
                </a:solidFill>
                <a:latin typeface="Inter"/>
              </a:rPr>
              <a:t>BAR LAB</a:t>
            </a:r>
          </a:p>
        </p:txBody>
      </p:sp>
      <p:sp>
        <p:nvSpPr>
          <p:cNvPr id="4" name="FRAME | Affiliation"/>
          <p:cNvSpPr txBox="1"/>
          <p:nvPr/>
        </p:nvSpPr>
        <p:spPr>
          <a:xfrm>
            <a:off x="1298448" y="704088"/>
            <a:ext cx="1298448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E2D2C"/>
                </a:solidFill>
                <a:latin typeface="Inter"/>
              </a:rPr>
              <a:t>UC BERKELEY</a:t>
            </a:r>
          </a:p>
        </p:txBody>
      </p:sp>
      <p:cxnSp>
        <p:nvCxnSpPr>
          <p:cNvPr id="5" name="FRAME | Title rule"/>
          <p:cNvCxnSpPr/>
          <p:nvPr/>
        </p:nvCxnSpPr>
        <p:spPr>
          <a:xfrm>
            <a:off x="4928616" y="978408"/>
            <a:ext cx="2331720" cy="0"/>
          </a:xfrm>
          <a:prstGeom prst="line">
            <a:avLst/>
          </a:prstGeom>
          <a:ln w="26670">
            <a:solidFill>
              <a:srgbClr val="AB9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AME | Purpose label"/>
          <p:cNvSpPr txBox="1"/>
          <p:nvPr/>
        </p:nvSpPr>
        <p:spPr>
          <a:xfrm>
            <a:off x="9966960" y="438912"/>
            <a:ext cx="17373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13455"/>
                </a:solidFill>
                <a:latin typeface="Inter"/>
              </a:rPr>
              <a:t>PROGRAM</a:t>
            </a:r>
          </a:p>
        </p:txBody>
      </p:sp>
      <p:sp>
        <p:nvSpPr>
          <p:cNvPr id="7" name="FRAME | Purpose value"/>
          <p:cNvSpPr txBox="1"/>
          <p:nvPr/>
        </p:nvSpPr>
        <p:spPr>
          <a:xfrm>
            <a:off x="9509760" y="694944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13455"/>
                </a:solidFill>
                <a:latin typeface="Inter"/>
              </a:rPr>
              <a:t>MX GEMMINI + VPU</a:t>
            </a:r>
          </a:p>
        </p:txBody>
      </p:sp>
      <p:sp>
        <p:nvSpPr>
          <p:cNvPr id="8" name="FRAME | Arrow pill"/>
          <p:cNvSpPr/>
          <p:nvPr/>
        </p:nvSpPr>
        <p:spPr>
          <a:xfrm>
            <a:off x="438912" y="6300216"/>
            <a:ext cx="950976" cy="283464"/>
          </a:xfrm>
          <a:prstGeom prst="roundRect">
            <a:avLst>
              <a:gd name="adj" fmla="val 50000"/>
            </a:avLst>
          </a:prstGeom>
          <a:noFill/>
          <a:ln w="8255">
            <a:solidFill>
              <a:srgbClr val="2E2D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FRAME | Arrow"/>
          <p:cNvCxnSpPr/>
          <p:nvPr/>
        </p:nvCxnSpPr>
        <p:spPr>
          <a:xfrm>
            <a:off x="694944" y="6441948"/>
            <a:ext cx="438912" cy="0"/>
          </a:xfrm>
          <a:prstGeom prst="line">
            <a:avLst/>
          </a:prstGeom>
          <a:ln w="11430">
            <a:solidFill>
              <a:srgbClr val="2E2D2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AGE"/>
          <p:cNvSpPr txBox="1"/>
          <p:nvPr/>
        </p:nvSpPr>
        <p:spPr>
          <a:xfrm>
            <a:off x="10387584" y="6318504"/>
            <a:ext cx="13258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  <p:sldLayoutId id="2147483651" r:id="rIdLayout2"/>
    <p:sldLayoutId id="2147483652" r:id="rIdLayout3"/>
    <p:sldLayoutId id="2147483653" r:id="rIdLayout4"/>
    <p:sldLayoutId id="2147483654" r:id="rIdLayout5"/>
    <p:sldLayoutId id="2147483655" r:id="rIdLayout6"/>
    <p:sldLayoutId id="2147483656" r:id="rIdLayout7"/>
    <p:sldLayoutId id="2147483657" r:id="rIdLayout8"/>
    <p:sldLayoutId id="2147483658" r:id="rIdLayout9"/>
    <p:sldLayoutId id="2147483659" r:id="rIdLayout10"/>
    <p:sldLayoutId id="2147483660" r:id="rIdLayout11"/>
    <p:sldLayoutId id="2147483661" r:id="rIdLayout12"/>
    <p:sldLayoutId id="2147483662" r:id="rIdLayout13"/>
    <p:sldLayoutId id="2147483663" r:id="rIdLayout14"/>
    <p:sldLayoutId id="2147483664" r:id="rIdLayout15"/>
    <p:sldLayoutId id="2147483665" r:id="rIdLayout16"/>
    <p:sldLayoutId id="2147483666" r:id="rIdLayout17"/>
    <p:sldLayoutId id="2147483667" r:id="rIdLayout18"/>
    <p:sldLayoutId id="2147483668" r:id="rIdLayout19"/>
    <p:sldLayoutId id="2147483669" r:id="rIdLayout20"/>
  </p:sldLayoutIdLst>
  <p:txStyles>
    <p:titleStyle>
      <a:lvl1pPr algn="ctr" defTabSz="457200" rtl="0" eaLnBrk="1" latinLnBrk="0" hangingPunct="1" marL="0" indent="0">
        <a:buNone/>
        <a:spcBef>
          <a:spcPct val="0"/>
        </a:spcBef>
        <a:defRPr sz="2800" kern="1200">
          <a:solidFill>
            <a:schemeClr val="tx1"/>
          </a:solidFill>
          <a:latin typeface="Inter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1pPr>
      <a:lvl2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2pPr>
      <a:lvl3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3pPr>
      <a:lvl4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4pPr>
      <a:lvl5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5pPr>
      <a:lvl6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6pPr>
      <a:lvl7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7pPr>
      <a:lvl8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8pPr>
      <a:lvl9pPr marL="0" indent="0" algn="l" defTabSz="457200" rtl="0" eaLnBrk="1" latinLnBrk="0" hangingPunct="1">
        <a:buNone/>
        <a:spcBef>
          <a:spcPct val="20000"/>
        </a:spcBef>
        <a:defRPr sz="2200" kern="1200">
          <a:solidFill>
            <a:schemeClr val="tx1"/>
          </a:solidFill>
          <a:latin typeface="Inter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1pPr>
      <a:lvl2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2pPr>
      <a:lvl3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3pPr>
      <a:lvl4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4pPr>
      <a:lvl5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5pPr>
      <a:lvl6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6pPr>
      <a:lvl7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7pPr>
      <a:lvl8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8pPr>
      <a:lvl9pPr marL="0" algn="l" defTabSz="457200" rtl="0" eaLnBrk="1" latinLnBrk="0" hangingPunct="1" indent="0">
        <a:buNone/>
        <a:defRPr sz="2200" kern="1200">
          <a:solidFill>
            <a:schemeClr val="tx1"/>
          </a:solidFill>
          <a:latin typeface="Inter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ITLE"/>
          <p:cNvSpPr txBox="1"/>
          <p:nvPr/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13455"/>
                </a:solidFill>
                <a:latin typeface="Inter"/>
              </a:rPr>
              <a:t>One JSON profile changes legal MLIR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481328"/>
            <a:ext cx="5522976" cy="4407408"/>
          </a:xfrm>
          <a:prstGeom prst="roundRect">
            <a:avLst/>
          </a:prstGeom>
          <a:solidFill>
            <a:srgbClr val="EDE5DC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47104" y="1481328"/>
            <a:ext cx="4800600" cy="4407408"/>
          </a:xfrm>
          <a:prstGeom prst="roundRect">
            <a:avLst/>
          </a:prstGeom>
          <a:solidFill>
            <a:srgbClr val="E1E8EC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36776"/>
            <a:ext cx="51023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103552"/>
                </a:solidFill>
                <a:latin typeface="Inter"/>
              </a:rPr>
              <a:t>Selected RTL profile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029968"/>
            <a:ext cx="5093208" cy="2569464"/>
          </a:xfrm>
          <a:prstGeom prst="roundRect">
            <a:avLst/>
          </a:prstGeom>
          <a:solidFill>
            <a:srgbClr val="FDF8F1"/>
          </a:solidFill>
          <a:ln>
            <a:solidFill>
              <a:srgbClr val="D3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91440" rIns="73152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</a:t>
            </a:r>
            <a:r>
              <a:rPr sz="1045">
                <a:solidFill>
                  <a:srgbClr val="6C3D80"/>
                </a:solidFill>
                <a:latin typeface="Liberation Mono"/>
              </a:rPr>
              <a:t>"geometry"</a:t>
            </a:r>
            <a:r>
              <a:rPr sz="1045">
                <a:solidFill>
                  <a:srgbClr val="103552"/>
                </a:solidFill>
                <a:latin typeface="Liberation Mono"/>
              </a:rPr>
              <a:t>: {</a:t>
            </a:r>
            <a:r>
              <a:rPr sz="1045">
                <a:solidFill>
                  <a:srgbClr val="6C3D80"/>
                </a:solidFill>
                <a:latin typeface="Liberation Mono"/>
              </a:rPr>
              <a:t>"mesh_rows"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A44F25"/>
                </a:solidFill>
                <a:latin typeface="Liberation Mono"/>
              </a:rPr>
              <a:t>16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  <a:r>
              <a:rPr sz="1045">
                <a:solidFill>
                  <a:srgbClr val="6C3D80"/>
                </a:solidFill>
                <a:latin typeface="Liberation Mono"/>
              </a:rPr>
              <a:t>"mesh_columns"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A44F25"/>
                </a:solidFill>
                <a:latin typeface="Liberation Mono"/>
              </a:rPr>
              <a:t>16</a:t>
            </a:r>
            <a:r>
              <a:rPr sz="1045">
                <a:solidFill>
                  <a:srgbClr val="103552"/>
                </a:solidFill>
                <a:latin typeface="Liberation Mono"/>
              </a:rPr>
              <a:t>},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</a:t>
            </a:r>
            <a:r>
              <a:rPr sz="1045">
                <a:solidFill>
                  <a:srgbClr val="6C3D80"/>
                </a:solidFill>
                <a:latin typeface="Liberation Mono"/>
              </a:rPr>
              <a:t>"legal_compute"</a:t>
            </a:r>
            <a:r>
              <a:rPr sz="1045">
                <a:solidFill>
                  <a:srgbClr val="103552"/>
                </a:solidFill>
                <a:latin typeface="Liberation Mono"/>
              </a:rPr>
              <a:t>: 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 {</a:t>
            </a:r>
            <a:r>
              <a:rPr sz="1045">
                <a:solidFill>
                  <a:srgbClr val="6C3D80"/>
                </a:solidFill>
                <a:latin typeface="Liberation Mono"/>
              </a:rPr>
              <a:t>"activation_format"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  </a:t>
            </a:r>
            <a:r>
              <a:rPr sz="1045">
                <a:solidFill>
                  <a:srgbClr val="6C3D80"/>
                </a:solidFill>
                <a:latin typeface="Liberation Mono"/>
              </a:rPr>
              <a:t>"weight_format"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  <a:r>
              <a:rPr sz="1045">
                <a:solidFill>
                  <a:srgbClr val="6C3D80"/>
                </a:solidFill>
                <a:latin typeface="Liberation Mono"/>
              </a:rPr>
              <a:t>"pe_mode"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A44F25"/>
                </a:solidFill>
                <a:latin typeface="Liberation Mono"/>
              </a:rPr>
              <a:t>0</a:t>
            </a:r>
            <a:r>
              <a:rPr sz="1045">
                <a:solidFill>
                  <a:srgbClr val="103552"/>
                </a:solidFill>
                <a:latin typeface="Liberation Mono"/>
              </a:rPr>
              <a:t>},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 {</a:t>
            </a:r>
            <a:r>
              <a:rPr sz="1045">
                <a:solidFill>
                  <a:srgbClr val="6C3D80"/>
                </a:solidFill>
                <a:latin typeface="Liberation Mono"/>
              </a:rPr>
              <a:t>"activation_format"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28704F"/>
                </a:solidFill>
                <a:latin typeface="Liberation Mono"/>
              </a:rPr>
              <a:t>"fp8_e4m3"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  </a:t>
            </a:r>
            <a:r>
              <a:rPr sz="1045">
                <a:solidFill>
                  <a:srgbClr val="6C3D80"/>
                </a:solidFill>
                <a:latin typeface="Liberation Mono"/>
              </a:rPr>
              <a:t>"weight_format"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28704F"/>
                </a:solidFill>
                <a:latin typeface="Liberation Mono"/>
              </a:rPr>
              <a:t>"fp8_e4m3"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  <a:r>
              <a:rPr sz="1045">
                <a:solidFill>
                  <a:srgbClr val="6C3D80"/>
                </a:solidFill>
                <a:latin typeface="Liberation Mono"/>
              </a:rPr>
              <a:t>"pe_mode"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A44F25"/>
                </a:solidFill>
                <a:latin typeface="Liberation Mono"/>
              </a:rPr>
              <a:t>8</a:t>
            </a:r>
            <a:r>
              <a:rPr sz="1045">
                <a:solidFill>
                  <a:srgbClr val="103552"/>
                </a:solidFill>
                <a:latin typeface="Liberation Mono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</a:t>
            </a:r>
            <a:r>
              <a:rPr sz="1045">
                <a:solidFill>
                  <a:srgbClr val="6C3D80"/>
                </a:solidFill>
                <a:latin typeface="Liberation Mono"/>
              </a:rPr>
              <a:t>"resources"</a:t>
            </a:r>
            <a:r>
              <a:rPr sz="1045">
                <a:solidFill>
                  <a:srgbClr val="103552"/>
                </a:solidFill>
                <a:latin typeface="Liberation Mono"/>
              </a:rPr>
              <a:t>: {</a:t>
            </a:r>
            <a:r>
              <a:rPr sz="1045">
                <a:solidFill>
                  <a:srgbClr val="6C3D80"/>
                </a:solidFill>
                <a:latin typeface="Liberation Mono"/>
              </a:rPr>
              <a:t>"scratchpad_bytes"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A44F25"/>
                </a:solidFill>
                <a:latin typeface="Liberation Mono"/>
              </a:rPr>
              <a:t>262144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               </a:t>
            </a:r>
            <a:r>
              <a:rPr sz="1045">
                <a:solidFill>
                  <a:srgbClr val="6C3D80"/>
                </a:solidFill>
                <a:latin typeface="Liberation Mono"/>
              </a:rPr>
              <a:t>"vpu"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6C3D80"/>
                </a:solidFill>
                <a:latin typeface="Liberation Mono"/>
              </a:rPr>
              <a:t>true</a:t>
            </a:r>
            <a:r>
              <a:rPr sz="1045">
                <a:solidFill>
                  <a:srgbClr val="103552"/>
                </a:solidFill>
                <a:latin typeface="Liberation Mono"/>
              </a:rPr>
              <a:t>,</a:t>
            </a:r>
            <a:r>
              <a:rPr sz="1045">
                <a:solidFill>
                  <a:srgbClr val="6C3D80"/>
                </a:solidFill>
                <a:latin typeface="Liberation Mono"/>
              </a:rPr>
              <a:t>"spad_requant"</a:t>
            </a:r>
            <a:r>
              <a:rPr sz="1045">
                <a:solidFill>
                  <a:srgbClr val="103552"/>
                </a:solidFill>
                <a:latin typeface="Liberation Mono"/>
              </a:rPr>
              <a:t>:</a:t>
            </a:r>
            <a:r>
              <a:rPr sz="1045">
                <a:solidFill>
                  <a:srgbClr val="6C3D80"/>
                </a:solidFill>
                <a:latin typeface="Liberation Mono"/>
              </a:rPr>
              <a:t>true</a:t>
            </a:r>
            <a:r>
              <a:rPr sz="1045">
                <a:solidFill>
                  <a:srgbClr val="103552"/>
                </a:solidFill>
                <a:latin typeface="Liberation Mono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5">
                <a:solidFill>
                  <a:srgbClr val="103552"/>
                </a:solidFill>
                <a:latin typeface="Liberation Mon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36592"/>
            <a:ext cx="5093208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313455"/>
                </a:solidFill>
                <a:latin typeface="Inter"/>
              </a:rPr>
              <a:t>MxE4M3Fp4VpuGemminiRocketConfig · direct projections in both legal rows · two 8-lane BF16 VPUs.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12664"/>
            <a:ext cx="5093208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B5957"/>
                </a:solidFill>
                <a:latin typeface="Inter"/>
              </a:rPr>
              <a:t>RTL 266c593 + MxGen dba3e7 → 41 fragments / 40 SoC wrappers; each JSON stores source hashes.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636776"/>
            <a:ext cx="437083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103552"/>
                </a:solidFill>
                <a:latin typeface="Inter"/>
              </a:rPr>
              <a:t>Before → after bind_profile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2029968"/>
            <a:ext cx="4379976" cy="1499616"/>
          </a:xfrm>
          <a:prstGeom prst="roundRect">
            <a:avLst/>
          </a:prstGeom>
          <a:solidFill>
            <a:srgbClr val="FDF8F1"/>
          </a:solidFill>
          <a:ln>
            <a:solidFill>
              <a:srgbClr val="D3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91440" rIns="73152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6C3D80"/>
                </a:solidFill>
                <a:latin typeface="Liberation Mono"/>
              </a:rPr>
              <a:t>before</a:t>
            </a:r>
            <a:r>
              <a:rPr sz="1085">
                <a:solidFill>
                  <a:srgbClr val="103552"/>
                </a:solidFill>
                <a:latin typeface="Liberation Mono"/>
              </a:rPr>
              <a:t>: </a:t>
            </a:r>
            <a:r>
              <a:rPr sz="1085">
                <a:solidFill>
                  <a:srgbClr val="6C3D80"/>
                </a:solidFill>
                <a:latin typeface="Liberation Mono"/>
              </a:rPr>
              <a:t>contract</a:t>
            </a:r>
            <a:r>
              <a:rPr sz="1085">
                <a:solidFill>
                  <a:srgbClr val="103552"/>
                </a:solidFill>
                <a:latin typeface="Liberation Mono"/>
              </a:rPr>
              <a:t> {format = </a:t>
            </a:r>
            <a:r>
              <a:rPr sz="1085">
                <a:solidFill>
                  <a:srgbClr val="28704F"/>
                </a:solidFill>
                <a:latin typeface="Liberation Mono"/>
              </a:rPr>
              <a:t>"mxfp4"</a:t>
            </a:r>
            <a:r>
              <a:rPr sz="1085">
                <a:solidFill>
                  <a:srgbClr val="103552"/>
                </a:solidFill>
                <a:latin typeface="Liberation Mono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6C3D80"/>
                </a:solidFill>
                <a:latin typeface="Liberation Mono"/>
              </a:rPr>
              <a:t>after</a:t>
            </a:r>
            <a:r>
              <a:rPr sz="1085">
                <a:solidFill>
                  <a:srgbClr val="103552"/>
                </a:solidFill>
                <a:latin typeface="Liberation Mono"/>
              </a:rPr>
              <a:t>:  </a:t>
            </a:r>
            <a:r>
              <a:rPr sz="1085">
                <a:solidFill>
                  <a:srgbClr val="6C3D80"/>
                </a:solidFill>
                <a:latin typeface="Liberation Mono"/>
              </a:rPr>
              <a:t>contract</a:t>
            </a:r>
            <a:r>
              <a:rPr sz="1085">
                <a:solidFill>
                  <a:srgbClr val="103552"/>
                </a:solidFill>
                <a:latin typeface="Liberation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103552"/>
                </a:solidFill>
                <a:latin typeface="Liberation Mono"/>
              </a:rPr>
              <a:t>  </a:t>
            </a:r>
            <a:r>
              <a:rPr sz="1085">
                <a:solidFill>
                  <a:srgbClr val="6C3D80"/>
                </a:solidFill>
                <a:latin typeface="Liberation Mono"/>
              </a:rPr>
              <a:t>activation_format</a:t>
            </a:r>
            <a:r>
              <a:rPr sz="1085">
                <a:solidFill>
                  <a:srgbClr val="103552"/>
                </a:solidFill>
                <a:latin typeface="Liberation Mono"/>
              </a:rPr>
              <a:t> = </a:t>
            </a:r>
            <a:r>
              <a:rPr sz="1085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085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103552"/>
                </a:solidFill>
                <a:latin typeface="Liberation Mono"/>
              </a:rPr>
              <a:t>  </a:t>
            </a:r>
            <a:r>
              <a:rPr sz="1085">
                <a:solidFill>
                  <a:srgbClr val="6C3D80"/>
                </a:solidFill>
                <a:latin typeface="Liberation Mono"/>
              </a:rPr>
              <a:t>weight_format</a:t>
            </a:r>
            <a:r>
              <a:rPr sz="1085">
                <a:solidFill>
                  <a:srgbClr val="103552"/>
                </a:solidFill>
                <a:latin typeface="Liberation Mono"/>
              </a:rPr>
              <a:t> = </a:t>
            </a:r>
            <a:r>
              <a:rPr sz="1085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085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103552"/>
                </a:solidFill>
                <a:latin typeface="Liberation Mono"/>
              </a:rPr>
              <a:t>  </a:t>
            </a:r>
            <a:r>
              <a:rPr sz="1085">
                <a:solidFill>
                  <a:srgbClr val="6C3D80"/>
                </a:solidFill>
                <a:latin typeface="Liberation Mono"/>
              </a:rPr>
              <a:t>pe_mode</a:t>
            </a:r>
            <a:r>
              <a:rPr sz="1085">
                <a:solidFill>
                  <a:srgbClr val="103552"/>
                </a:solidFill>
                <a:latin typeface="Liberation Mono"/>
              </a:rPr>
              <a:t> = </a:t>
            </a:r>
            <a:r>
              <a:rPr sz="1085">
                <a:solidFill>
                  <a:srgbClr val="A44F25"/>
                </a:solidFill>
                <a:latin typeface="Liberation Mono"/>
              </a:rPr>
              <a:t>0</a:t>
            </a:r>
            <a:r>
              <a:rPr sz="1085">
                <a:solidFill>
                  <a:srgbClr val="103552"/>
                </a:solidFill>
                <a:latin typeface="Liberation Mono"/>
              </a:rPr>
              <a:t> : i32,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5">
                <a:solidFill>
                  <a:srgbClr val="103552"/>
                </a:solidFill>
                <a:latin typeface="Liberation Mono"/>
              </a:rPr>
              <a:t>  </a:t>
            </a:r>
            <a:r>
              <a:rPr sz="1085">
                <a:solidFill>
                  <a:srgbClr val="6C3D80"/>
                </a:solidFill>
                <a:latin typeface="Liberation Mono"/>
              </a:rPr>
              <a:t>profile_sha256</a:t>
            </a:r>
            <a:r>
              <a:rPr sz="1085">
                <a:solidFill>
                  <a:srgbClr val="103552"/>
                </a:solidFill>
                <a:latin typeface="Liberation Mono"/>
              </a:rPr>
              <a:t> = </a:t>
            </a:r>
            <a:r>
              <a:rPr sz="1085">
                <a:solidFill>
                  <a:srgbClr val="28704F"/>
                </a:solidFill>
                <a:latin typeface="Liberation Mono"/>
              </a:rPr>
              <a:t>"e9e33f..."</a:t>
            </a:r>
            <a:r>
              <a:rPr sz="1085">
                <a:solidFill>
                  <a:srgbClr val="103552"/>
                </a:solidFill>
                <a:latin typeface="Liberation Mono"/>
              </a:rPr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712463"/>
            <a:ext cx="4370832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103552"/>
                </a:solidFill>
                <a:latin typeface="Inter"/>
              </a:rPr>
              <a:t>Compiler consequences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4041648"/>
            <a:ext cx="4370832" cy="1481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313455"/>
                </a:solidFill>
                <a:latin typeface="Inter"/>
              </a:rPr>
              <a:t>• TinyLlama: 155 FP4 / 45 FP8 MX sites per stage.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313455"/>
                </a:solidFill>
                <a:latin typeface="Inter"/>
              </a:rPr>
              <a:t>• FP4 binds PE 0; 256 KiB SPAD caps tiles.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313455"/>
                </a:solidFill>
                <a:latin typeface="Inter"/>
              </a:rPr>
              <a:t>• VPU/requant legal; FP6 rejects in this profile.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313455"/>
                </a:solidFill>
                <a:latin typeface="Inter"/>
              </a:rPr>
              <a:t>• load_profile(profile, rtl_root=rtl) rejects drift.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943600"/>
            <a:ext cx="1046988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B5957"/>
                </a:solidFill>
                <a:latin typeface="Inter"/>
              </a:rPr>
              <a:t>npu-exploration supplies source kernels for per-mode Spike checks; the RTL profile alone is structural, not a performance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291072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5957"/>
                </a:solidFill>
                <a:latin typeface="Inter"/>
              </a:rPr>
              <a:t>02 / 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ITLE"/>
          <p:cNvSpPr txBox="1"/>
          <p:nvPr/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13455"/>
                </a:solidFill>
                <a:latin typeface="Inter"/>
              </a:rPr>
              <a:t>MX dialect: typed IR to RV64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499616"/>
            <a:ext cx="5166360" cy="2724912"/>
          </a:xfrm>
          <a:prstGeom prst="roundRect">
            <a:avLst/>
          </a:prstGeom>
          <a:solidFill>
            <a:srgbClr val="EDE5DC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1344" y="1499616"/>
            <a:ext cx="5166360" cy="2724912"/>
          </a:xfrm>
          <a:prstGeom prst="roundRect">
            <a:avLst/>
          </a:prstGeom>
          <a:solidFill>
            <a:srgbClr val="E1E8EC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03552"/>
                </a:solidFill>
                <a:latin typeface="Inter"/>
              </a:rPr>
              <a:t>FP4 GEMM → typed MX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048256"/>
            <a:ext cx="4754880" cy="1298448"/>
          </a:xfrm>
          <a:prstGeom prst="roundRect">
            <a:avLst/>
          </a:prstGeom>
          <a:solidFill>
            <a:srgbClr val="FDF8F1"/>
          </a:solidFill>
          <a:ln>
            <a:solidFill>
              <a:srgbClr val="D3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91440" rIns="73152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>
                <a:solidFill>
                  <a:srgbClr val="006874"/>
                </a:solidFill>
                <a:latin typeface="Liberation Mono"/>
              </a:rPr>
              <a:t>%acc</a:t>
            </a:r>
            <a:r>
              <a:rPr sz="1110">
                <a:solidFill>
                  <a:srgbClr val="103552"/>
                </a:solidFill>
                <a:latin typeface="Liberation Mono"/>
              </a:rPr>
              <a:t> = </a:t>
            </a:r>
            <a:r>
              <a:rPr sz="1110">
                <a:solidFill>
                  <a:srgbClr val="6C3D80"/>
                </a:solidFill>
                <a:latin typeface="Liberation Mono"/>
              </a:rPr>
              <a:t>"mx_gemmini.contract"</a:t>
            </a:r>
            <a:r>
              <a:rPr sz="1110">
                <a:solidFill>
                  <a:srgbClr val="103552"/>
                </a:solidFill>
                <a:latin typeface="Liberation Mono"/>
              </a:rPr>
              <a:t>(</a:t>
            </a:r>
            <a:r>
              <a:rPr sz="1110">
                <a:solidFill>
                  <a:srgbClr val="006874"/>
                </a:solidFill>
                <a:latin typeface="Liberation Mono"/>
              </a:rPr>
              <a:t>%A</a:t>
            </a:r>
            <a:r>
              <a:rPr sz="1110">
                <a:solidFill>
                  <a:srgbClr val="103552"/>
                </a:solidFill>
                <a:latin typeface="Liberation Mono"/>
              </a:rPr>
              <a:t>,</a:t>
            </a:r>
            <a:r>
              <a:rPr sz="1110">
                <a:solidFill>
                  <a:srgbClr val="006874"/>
                </a:solidFill>
                <a:latin typeface="Liberation Mono"/>
              </a:rPr>
              <a:t>%As</a:t>
            </a:r>
            <a:r>
              <a:rPr sz="1110">
                <a:solidFill>
                  <a:srgbClr val="103552"/>
                </a:solidFill>
                <a:latin typeface="Liberation Mono"/>
              </a:rPr>
              <a:t>,</a:t>
            </a:r>
            <a:r>
              <a:rPr sz="1110">
                <a:solidFill>
                  <a:srgbClr val="006874"/>
                </a:solidFill>
                <a:latin typeface="Liberation Mono"/>
              </a:rPr>
              <a:t>%B</a:t>
            </a:r>
            <a:r>
              <a:rPr sz="1110">
                <a:solidFill>
                  <a:srgbClr val="103552"/>
                </a:solidFill>
                <a:latin typeface="Liberation Mono"/>
              </a:rPr>
              <a:t>,</a:t>
            </a:r>
            <a:r>
              <a:rPr sz="1110">
                <a:solidFill>
                  <a:srgbClr val="006874"/>
                </a:solidFill>
                <a:latin typeface="Liberation Mono"/>
              </a:rPr>
              <a:t>%Bs</a:t>
            </a:r>
            <a:r>
              <a:rPr sz="1110">
                <a:solidFill>
                  <a:srgbClr val="103552"/>
                </a:solidFill>
                <a:latin typeface="Liberation Mono"/>
              </a:rPr>
              <a:t>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>
                <a:solidFill>
                  <a:srgbClr val="103552"/>
                </a:solidFill>
                <a:latin typeface="Liberation Mono"/>
              </a:rPr>
              <a:t>  </a:t>
            </a:r>
            <a:r>
              <a:rPr sz="1110">
                <a:solidFill>
                  <a:srgbClr val="6C3D80"/>
                </a:solidFill>
                <a:latin typeface="Liberation Mono"/>
              </a:rPr>
              <a:t>activation_format</a:t>
            </a:r>
            <a:r>
              <a:rPr sz="1110">
                <a:solidFill>
                  <a:srgbClr val="103552"/>
                </a:solidFill>
                <a:latin typeface="Liberation Mono"/>
              </a:rPr>
              <a:t> = </a:t>
            </a:r>
            <a:r>
              <a:rPr sz="1110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110">
                <a:solidFill>
                  <a:srgbClr val="103552"/>
                </a:solidFill>
                <a:latin typeface="Liberation Mono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>
                <a:solidFill>
                  <a:srgbClr val="103552"/>
                </a:solidFill>
                <a:latin typeface="Liberation Mono"/>
              </a:rPr>
              <a:t>  </a:t>
            </a:r>
            <a:r>
              <a:rPr sz="1110">
                <a:solidFill>
                  <a:srgbClr val="6C3D80"/>
                </a:solidFill>
                <a:latin typeface="Liberation Mono"/>
              </a:rPr>
              <a:t>weight_format</a:t>
            </a:r>
            <a:r>
              <a:rPr sz="1110">
                <a:solidFill>
                  <a:srgbClr val="103552"/>
                </a:solidFill>
                <a:latin typeface="Liberation Mono"/>
              </a:rPr>
              <a:t> = </a:t>
            </a:r>
            <a:r>
              <a:rPr sz="1110">
                <a:solidFill>
                  <a:srgbClr val="28704F"/>
                </a:solidFill>
                <a:latin typeface="Liberation Mono"/>
              </a:rPr>
              <a:t>"fp4_e2m1"</a:t>
            </a:r>
            <a:r>
              <a:rPr sz="1110">
                <a:solidFill>
                  <a:srgbClr val="103552"/>
                </a:solidFill>
                <a:latin typeface="Liberation Mono"/>
              </a:rPr>
              <a:t>, </a:t>
            </a:r>
            <a:r>
              <a:rPr sz="1110">
                <a:solidFill>
                  <a:srgbClr val="6C3D80"/>
                </a:solidFill>
                <a:latin typeface="Liberation Mono"/>
              </a:rPr>
              <a:t>pe_mode</a:t>
            </a:r>
            <a:r>
              <a:rPr sz="1110">
                <a:solidFill>
                  <a:srgbClr val="103552"/>
                </a:solidFill>
                <a:latin typeface="Liberation Mono"/>
              </a:rPr>
              <a:t> = </a:t>
            </a:r>
            <a:r>
              <a:rPr sz="1110">
                <a:solidFill>
                  <a:srgbClr val="A44F25"/>
                </a:solidFill>
                <a:latin typeface="Liberation Mono"/>
              </a:rPr>
              <a:t>0</a:t>
            </a:r>
            <a:r>
              <a:rPr sz="1110">
                <a:solidFill>
                  <a:srgbClr val="103552"/>
                </a:solidFill>
                <a:latin typeface="Liberation Mono"/>
              </a:rPr>
              <a:t> : i32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>
                <a:solidFill>
                  <a:srgbClr val="006874"/>
                </a:solidFill>
                <a:latin typeface="Liberation Mono"/>
              </a:rPr>
              <a:t>%out</a:t>
            </a:r>
            <a:r>
              <a:rPr sz="1110">
                <a:solidFill>
                  <a:srgbClr val="103552"/>
                </a:solidFill>
                <a:latin typeface="Liberation Mono"/>
              </a:rPr>
              <a:t> = </a:t>
            </a:r>
            <a:r>
              <a:rPr sz="1110">
                <a:solidFill>
                  <a:srgbClr val="6C3D80"/>
                </a:solidFill>
                <a:latin typeface="Liberation Mono"/>
              </a:rPr>
              <a:t>"mx_gemmini.readout_bf16"</a:t>
            </a:r>
            <a:r>
              <a:rPr sz="1110">
                <a:solidFill>
                  <a:srgbClr val="103552"/>
                </a:solidFill>
                <a:latin typeface="Liberation Mono"/>
              </a:rPr>
              <a:t>(</a:t>
            </a:r>
            <a:r>
              <a:rPr sz="1110">
                <a:solidFill>
                  <a:srgbClr val="006874"/>
                </a:solidFill>
                <a:latin typeface="Liberation Mono"/>
              </a:rPr>
              <a:t>%acc</a:t>
            </a:r>
            <a:r>
              <a:rPr sz="1110">
                <a:solidFill>
                  <a:srgbClr val="103552"/>
                </a:solidFill>
                <a:latin typeface="Liberation Mon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38144"/>
            <a:ext cx="4727448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13455"/>
                </a:solidFill>
                <a:latin typeface="Inter"/>
              </a:rPr>
              <a:t>resource → packed codes + E8M0 scales → mvin; contract → MX compute. Radiance softmax uses vpu_execute; readout_bf16 / spad_requant / wait finish the tile.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03552"/>
                </a:solidFill>
                <a:latin typeface="Inter"/>
              </a:rPr>
              <a:t>Compiled attention object → binary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2048256"/>
            <a:ext cx="4754880" cy="1298448"/>
          </a:xfrm>
          <a:prstGeom prst="roundRect">
            <a:avLst/>
          </a:prstGeom>
          <a:solidFill>
            <a:srgbClr val="FDF8F1"/>
          </a:solidFill>
          <a:ln>
            <a:solidFill>
              <a:srgbClr val="D3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 tIns="91440" rIns="73152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6C3D80"/>
                </a:solidFill>
                <a:latin typeface="Liberation Mono"/>
              </a:rPr>
              <a:t>__asm__</a:t>
            </a:r>
            <a:r>
              <a:rPr sz="1030">
                <a:solidFill>
                  <a:srgbClr val="103552"/>
                </a:solidFill>
                <a:latin typeface="Liberation Mono"/>
              </a:rPr>
              <a:t> </a:t>
            </a:r>
            <a:r>
              <a:rPr sz="1030">
                <a:solidFill>
                  <a:srgbClr val="6C3D80"/>
                </a:solidFill>
                <a:latin typeface="Liberation Mono"/>
              </a:rPr>
              <a:t>volatile</a:t>
            </a:r>
            <a:r>
              <a:rPr sz="1030">
                <a:solidFill>
                  <a:srgbClr val="103552"/>
                </a:solidFill>
                <a:latin typeface="Liberation Mono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103552"/>
                </a:solidFill>
                <a:latin typeface="Liberation Mono"/>
              </a:rPr>
              <a:t>  </a:t>
            </a:r>
            <a:r>
              <a:rPr sz="1030">
                <a:solidFill>
                  <a:srgbClr val="28704F"/>
                </a:solidFill>
                <a:latin typeface="Liberation Mono"/>
              </a:rPr>
              <a:t>".insn r 0x7b, 3, 2, x0, %0, %1"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103552"/>
                </a:solidFill>
                <a:latin typeface="Liberation Mono"/>
              </a:rPr>
              <a:t>  : : </a:t>
            </a:r>
            <a:r>
              <a:rPr sz="1030">
                <a:solidFill>
                  <a:srgbClr val="28704F"/>
                </a:solidFill>
                <a:latin typeface="Liberation Mono"/>
              </a:rPr>
              <a:t>"r"</a:t>
            </a:r>
            <a:r>
              <a:rPr sz="1030">
                <a:solidFill>
                  <a:srgbClr val="103552"/>
                </a:solidFill>
                <a:latin typeface="Liberation Mono"/>
              </a:rPr>
              <a:t>(Q_IN),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103552"/>
                </a:solidFill>
                <a:latin typeface="Liberation Mono"/>
              </a:rPr>
              <a:t>      </a:t>
            </a:r>
            <a:r>
              <a:rPr sz="1030">
                <a:solidFill>
                  <a:srgbClr val="28704F"/>
                </a:solidFill>
                <a:latin typeface="Liberation Mono"/>
              </a:rPr>
              <a:t>"r"</a:t>
            </a:r>
            <a:r>
              <a:rPr sz="1030">
                <a:solidFill>
                  <a:srgbClr val="103552"/>
                </a:solidFill>
                <a:latin typeface="Liberation Mono"/>
              </a:rPr>
              <a:t>(</a:t>
            </a:r>
            <a:r>
              <a:rPr sz="1030">
                <a:solidFill>
                  <a:srgbClr val="A44F25"/>
                </a:solidFill>
                <a:latin typeface="Liberation Mono"/>
              </a:rPr>
              <a:t>0x0010001000000000</a:t>
            </a:r>
            <a:r>
              <a:rPr sz="1030">
                <a:solidFill>
                  <a:srgbClr val="103552"/>
                </a:solidFill>
                <a:latin typeface="Liberation Mono"/>
              </a:rPr>
              <a:t>));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6C3D80"/>
                </a:solidFill>
                <a:latin typeface="Liberation Mono"/>
              </a:rPr>
              <a:t>objdump</a:t>
            </a:r>
            <a:r>
              <a:rPr sz="1030">
                <a:solidFill>
                  <a:srgbClr val="103552"/>
                </a:solidFill>
                <a:latin typeface="Liberation Mono"/>
              </a:rPr>
              <a:t>: 4a: 04b6b07b  .insn </a:t>
            </a:r>
            <a:r>
              <a:rPr sz="1030">
                <a:solidFill>
                  <a:srgbClr val="A44F25"/>
                </a:solidFill>
                <a:latin typeface="Liberation Mono"/>
              </a:rPr>
              <a:t>4</a:t>
            </a:r>
            <a:r>
              <a:rPr sz="1030">
                <a:solidFill>
                  <a:srgbClr val="103552"/>
                </a:solidFill>
                <a:latin typeface="Liberation Mono"/>
              </a:rPr>
              <a:t>, </a:t>
            </a:r>
            <a:r>
              <a:rPr sz="1030">
                <a:solidFill>
                  <a:srgbClr val="A44F25"/>
                </a:solidFill>
                <a:latin typeface="Liberation Mono"/>
              </a:rPr>
              <a:t>0x04b6b07b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493008"/>
            <a:ext cx="4727448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13455"/>
                </a:solidFill>
                <a:latin typeface="Inter"/>
              </a:rPr>
              <a:t>physical_program orders mvin → compute → VPU → mvout. RoCC C + data asm → RV64 GCC → ELF → Nicolas Spike.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3552"/>
                </a:solidFill>
                <a:latin typeface="Inter"/>
              </a:rPr>
              <a:t>Implemented transforms and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709160"/>
            <a:ext cx="1965960" cy="987552"/>
          </a:xfrm>
          <a:prstGeom prst="roundRect">
            <a:avLst/>
          </a:prstGeom>
          <a:solidFill>
            <a:srgbClr val="FDF8F1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800600"/>
            <a:ext cx="178308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bind_profile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5230368"/>
            <a:ext cx="17830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Legal PE tuple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profile digest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4709160"/>
            <a:ext cx="1965960" cy="987552"/>
          </a:xfrm>
          <a:prstGeom prst="roundRect">
            <a:avLst/>
          </a:prstGeom>
          <a:solidFill>
            <a:srgbClr val="E1E8EC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4800600"/>
            <a:ext cx="178308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MXBF16Catalog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5230368"/>
            <a:ext cx="17830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Select BF16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MX sites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4709160"/>
            <a:ext cx="1965960" cy="987552"/>
          </a:xfrm>
          <a:prstGeom prst="roundRect">
            <a:avLst/>
          </a:prstGeom>
          <a:solidFill>
            <a:srgbClr val="FDF8F1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7" y="4800600"/>
            <a:ext cx="178308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schedule.plan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7" y="5230368"/>
            <a:ext cx="17830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Choose native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loop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623" y="4709160"/>
            <a:ext cx="1965960" cy="987552"/>
          </a:xfrm>
          <a:prstGeom prst="roundRect">
            <a:avLst/>
          </a:prstGeom>
          <a:solidFill>
            <a:srgbClr val="E5E7DA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3" y="4800600"/>
            <a:ext cx="178308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MXVPUPostOffload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3" y="5230368"/>
            <a:ext cx="17830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Map softmax, add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and reductions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19" y="4709160"/>
            <a:ext cx="1965960" cy="987552"/>
          </a:xfrm>
          <a:prstGeom prst="roundRect">
            <a:avLst/>
          </a:prstGeom>
          <a:solidFill>
            <a:srgbClr val="FDF8F1"/>
          </a:solidFill>
          <a:ln>
            <a:solidFill>
              <a:srgbClr val="B0A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9" y="4800600"/>
            <a:ext cx="178308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103552"/>
                </a:solidFill>
                <a:latin typeface="Inter"/>
              </a:rPr>
              <a:t>physical_program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5230368"/>
            <a:ext cx="17830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Order DMA, compute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13455"/>
                </a:solidFill>
                <a:latin typeface="Inter"/>
              </a:rPr>
              <a:t>and VPU commands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833872"/>
            <a:ext cx="1046988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B5957"/>
                </a:solidFill>
                <a:latin typeface="Inter"/>
              </a:rPr>
              <a:t>mx-gemmini-opt verifies typed IR. The standalone command path bypasses LLVM; the generic full-model host currently uses Merlin → LLVM → RV64.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6291072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5957"/>
                </a:solidFill>
                <a:latin typeface="Inter"/>
              </a:rPr>
              <a:t>01 / 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D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ITLE"/>
          <p:cNvSpPr txBox="1"/>
          <p:nvPr/>
        </p:nvSpPr>
        <p:spPr>
          <a:xfrm>
            <a:off x="2926080" y="329184"/>
            <a:ext cx="6345936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13455"/>
                </a:solidFill>
                <a:latin typeface="Inter"/>
              </a:rPr>
              <a:t>Spike cycles by comparison scope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9536" y="1673352"/>
          <a:ext cx="10479023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063"/>
                <a:gridCol w="2176272"/>
                <a:gridCol w="2176272"/>
                <a:gridCol w="2185416"/>
              </a:tblGrid>
              <a:tr h="5486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Inter"/>
                        </a:rPr>
                        <a:t>Workload / compared code</a:t>
                      </a:r>
                    </a:p>
                  </a:txBody>
                  <a:tcPr marL="128016" marR="91440" marT="45720" marB="27432" anchor="ctr">
                    <a:solidFill>
                      <a:srgbClr val="0F3759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Inter"/>
                        </a:rPr>
                        <a:t>Compiler cycles</a:t>
                      </a:r>
                    </a:p>
                  </a:txBody>
                  <a:tcPr marL="128016" marR="91440" marT="45720" marB="27432" anchor="ctr">
                    <a:solidFill>
                      <a:srgbClr val="0F3759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Inter"/>
                        </a:rPr>
                        <a:t>Nicolas path cycles</a:t>
                      </a:r>
                    </a:p>
                  </a:txBody>
                  <a:tcPr marL="128016" marR="91440" marT="45720" marB="27432" anchor="ctr">
                    <a:solidFill>
                      <a:srgbClr val="0F3759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Inter"/>
                        </a:rPr>
                        <a:t>Compiler Δ</a:t>
                      </a:r>
                    </a:p>
                  </a:txBody>
                  <a:tcPr marL="128016" marR="91440" marT="45720" marB="27432" anchor="ctr">
                    <a:solidFill>
                      <a:srgbClr val="0F3759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313455"/>
                          </a:solidFill>
                          <a:latin typeface="Inter"/>
                        </a:rPr>
                        <a:t>SmolVLA full 12 steps · issuer swap</a:t>
                      </a:r>
                    </a:p>
                  </a:txBody>
                  <a:tcPr marL="128016" marR="91440" marT="45720" marB="27432" anchor="ctr">
                    <a:solidFill>
                      <a:srgbClr val="F5EEE5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72,066,544,354*</a:t>
                      </a:r>
                    </a:p>
                  </a:txBody>
                  <a:tcPr marL="128016" marR="91440" marT="45720" marB="27432" anchor="ctr">
                    <a:solidFill>
                      <a:srgbClr val="F5EEE5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71,875,683,634</a:t>
                      </a:r>
                    </a:p>
                  </a:txBody>
                  <a:tcPr marL="128016" marR="91440" marT="45720" marB="27432" anchor="ctr">
                    <a:solidFill>
                      <a:srgbClr val="F5EEE5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+0.266%</a:t>
                      </a:r>
                    </a:p>
                  </a:txBody>
                  <a:tcPr marL="128016" marR="91440" marT="45720" marB="27432" anchor="ctr">
                    <a:solidFill>
                      <a:srgbClr val="F5EEE5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313455"/>
                          </a:solidFill>
                          <a:latin typeface="Inter"/>
                        </a:rPr>
                        <a:t>TinyLlama full 33 steps · issuer swap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83,547,564,353*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83,544,602,795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+0.004%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SmolVLA flow 1 step · issuer swap</a:t>
                      </a:r>
                    </a:p>
                  </a:txBody>
                  <a:tcPr marL="128016" marR="91440" marT="45720" marB="27432" anchor="ctr">
                    <a:solidFill>
                      <a:srgbClr val="CBCFD0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2,112,653,481</a:t>
                      </a:r>
                    </a:p>
                  </a:txBody>
                  <a:tcPr marL="128016" marR="91440" marT="45720" marB="27432" anchor="ctr">
                    <a:solidFill>
                      <a:srgbClr val="CBCFD0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2,112,919,925</a:t>
                      </a:r>
                    </a:p>
                  </a:txBody>
                  <a:tcPr marL="128016" marR="91440" marT="45720" marB="27432" anchor="ctr">
                    <a:solidFill>
                      <a:srgbClr val="CBCFD0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−0.0126%</a:t>
                      </a:r>
                    </a:p>
                  </a:txBody>
                  <a:tcPr marL="128016" marR="91440" marT="45720" marB="27432" anchor="ctr">
                    <a:solidFill>
                      <a:srgbClr val="CBCFD0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Dense attention 64×256×128 · fused source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43,523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43,641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313455"/>
                          </a:solidFill>
                          <a:latin typeface="Inter"/>
                        </a:rPr>
                        <a:t>−0.27%</a:t>
                      </a:r>
                    </a:p>
                  </a:txBody>
                  <a:tcPr marL="128016" marR="91440" marT="45720" marB="27432" anchor="ctr">
                    <a:solidFill>
                      <a:srgbClr val="FDF7EF"/>
                    </a:solidFill>
                    <a:lnL w="6350">
                      <a:solidFill>
                        <a:srgbClr val="E0D6CB"/>
                      </a:solidFill>
                    </a:lnL>
                    <a:lnR w="6350">
                      <a:solidFill>
                        <a:srgbClr val="E0D6CB"/>
                      </a:solidFill>
                    </a:lnR>
                    <a:lnT w="6350">
                      <a:solidFill>
                        <a:srgbClr val="E0D6CB"/>
                      </a:solidFill>
                    </a:lnT>
                    <a:lnB w="6350">
                      <a:solidFill>
                        <a:srgbClr val="E0D6C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 | [Units · Best-value convention · Uncertain"/>
          <p:cNvSpPr txBox="1"/>
          <p:nvPr/>
        </p:nvSpPr>
        <p:spPr>
          <a:xfrm>
            <a:off x="859536" y="5404104"/>
            <a:ext cx="1051560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B5957"/>
                </a:solidFill>
                <a:latin typeface="Inter"/>
              </a:rPr>
              <a:t>* Output hashes match: SmolVLA 33/33; TinyLlama 99/99. This checks the captured outputs, not model accuracy.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B5957"/>
                </a:solidFill>
                <a:latin typeface="Inter"/>
              </a:rPr>
              <a:t>Nicolas e4m3_vpu Spike, host tracking off. The dense attention row compares one fused kernel, not a whole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4663440"/>
            <a:ext cx="10479024" cy="557784"/>
          </a:xfrm>
          <a:prstGeom prst="roundRect">
            <a:avLst/>
          </a:prstGeom>
          <a:solidFill>
            <a:srgbClr val="E1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03552"/>
                </a:solidFill>
                <a:latin typeface="Inter"/>
              </a:rPr>
              <a:t>Full-model rows change only the MX matrix command code. Both runs use the same Merlin host and VPU code.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03552"/>
                </a:solidFill>
                <a:latin typeface="Inter"/>
              </a:rPr>
              <a:t>Nicolas's fused MX+VPU kernels have not yet been stitched and timed as either complete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291072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5957"/>
                </a:solidFill>
                <a:latin typeface="Inter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b Pastel">
      <a:dk1>
        <a:srgbClr val="2E2D2C"/>
      </a:dk1>
      <a:lt1>
        <a:srgbClr val="FDF7EF"/>
      </a:lt1>
      <a:dk2>
        <a:srgbClr val="333351"/>
      </a:dk2>
      <a:lt2>
        <a:srgbClr val="ECE3DA"/>
      </a:lt2>
      <a:accent1>
        <a:srgbClr val="0F3759"/>
      </a:accent1>
      <a:accent2>
        <a:srgbClr val="AB9A89"/>
      </a:accent2>
      <a:accent3>
        <a:srgbClr val="8B93A6"/>
      </a:accent3>
      <a:accent4>
        <a:srgbClr val="815E5E"/>
      </a:accent4>
      <a:accent5>
        <a:srgbClr val="7D886C"/>
      </a:accent5>
      <a:accent6>
        <a:srgbClr val="253143"/>
      </a:accent6>
      <a:hlink>
        <a:srgbClr val="0F3759"/>
      </a:hlink>
      <a:folHlink>
        <a:srgbClr val="815E5E"/>
      </a:folHlink>
    </a:clrScheme>
    <a:fontScheme name="Lab Pastel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Presentation Template — Pastel</dc:title>
  <dc:subject>Reusable project slides, compositions and visual style pages</dc:subject>
  <dc:creator/>
  <cp:keywords>template, research, lab, editable, 16:9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