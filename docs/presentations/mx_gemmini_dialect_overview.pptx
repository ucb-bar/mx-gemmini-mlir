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0.xml" ContentType="application/vnd.openxmlformats-officedocument.presentationml.slide+xml"/>
  <Override PartName="/ppt/slides/slide23.xml" ContentType="application/vnd.openxmlformats-officedocument.presentationml.slide+xml"/>
  <Override PartName="/ppt/slides/slide3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30"/>
    <p:sldId id="275" r:id="rId27"/>
    <p:sldId id="288" r:id="rId4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 &amp; narrative" id="{AAB17009-52C5-4E37-978F-80997DFE107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ontent &amp; figures" id="{8C5BFAC1-65B7-4BE4-80DA-EA053B37B180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ocesses &amp; architecture" id="{245ECFAE-8D81-4D3B-9024-77A055E60BE8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Results &amp; closing" id="{8CE93A61-643E-42A3-82CC-B2DD609D8EE7}">
          <p14:sldIdLst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Empty compositions" id="{D5C4F8FB-6E8E-4AE3-A902-1A6618D87E15}">
          <p14:sldIdLst>
            <p14:sldId id="294"/>
            <p14:sldId id="295"/>
            <p14:sldId id="296"/>
            <p14:sldId id="297"/>
          </p14:sldIdLst>
        </p14:section>
        <p14:section name="Style &amp; reusable elements" id="{712C9ADA-4E89-47F6-905E-06077D7D5852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Five-stage process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System block diagram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 table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1 — Project cover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University mark" descr="berkeley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457200"/>
            <a:ext cx="914400" cy="914400"/>
          </a:xfrm>
          <a:prstGeom prst="rect">
            <a:avLst/>
          </a:prstGeom>
          <a:effectLst/>
        </p:spPr>
      </p:pic>
      <p:sp>
        <p:nvSpPr>
          <p:cNvPr id="3" name="Lab name"/>
          <p:cNvSpPr txBox="1"/>
          <p:nvPr/>
        </p:nvSpPr>
        <p:spPr>
          <a:xfrm>
            <a:off x="5660136" y="571500"/>
            <a:ext cx="1623060" cy="4000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3759"/>
                </a:solidFill>
                <a:latin typeface="Inter"/>
              </a:rPr>
              <a:t>LAB NAME</a:t>
            </a:r>
          </a:p>
        </p:txBody>
      </p:sp>
      <p:sp>
        <p:nvSpPr>
          <p:cNvPr id="4" name="Affiliation"/>
          <p:cNvSpPr txBox="1"/>
          <p:nvPr/>
        </p:nvSpPr>
        <p:spPr>
          <a:xfrm>
            <a:off x="5660136" y="994409"/>
            <a:ext cx="16230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Circuit decoration"/>
          <p:cNvCxnSpPr/>
          <p:nvPr/>
        </p:nvCxnSpPr>
        <p:spPr>
          <a:xfrm>
            <a:off x="537210" y="1645920"/>
            <a:ext cx="0" cy="10094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ircuit decoration"/>
          <p:cNvCxnSpPr/>
          <p:nvPr/>
        </p:nvCxnSpPr>
        <p:spPr>
          <a:xfrm flipH="1">
            <a:off x="413766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ircuit decoration"/>
          <p:cNvCxnSpPr/>
          <p:nvPr/>
        </p:nvCxnSpPr>
        <p:spPr>
          <a:xfrm>
            <a:off x="413766" y="2778861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rcuit decoration"/>
          <p:cNvSpPr/>
          <p:nvPr/>
        </p:nvSpPr>
        <p:spPr>
          <a:xfrm>
            <a:off x="39182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ircuit decoration"/>
          <p:cNvSpPr/>
          <p:nvPr/>
        </p:nvSpPr>
        <p:spPr>
          <a:xfrm>
            <a:off x="520750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ircuit decoration"/>
          <p:cNvCxnSpPr/>
          <p:nvPr/>
        </p:nvCxnSpPr>
        <p:spPr>
          <a:xfrm>
            <a:off x="660654" y="1797344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ircuit decoration"/>
          <p:cNvCxnSpPr/>
          <p:nvPr/>
        </p:nvCxnSpPr>
        <p:spPr>
          <a:xfrm>
            <a:off x="660654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ircuit decoration"/>
          <p:cNvCxnSpPr/>
          <p:nvPr/>
        </p:nvCxnSpPr>
        <p:spPr>
          <a:xfrm>
            <a:off x="784098" y="3048060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ircuit decoration"/>
          <p:cNvSpPr/>
          <p:nvPr/>
        </p:nvSpPr>
        <p:spPr>
          <a:xfrm>
            <a:off x="762152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ircuit decoration"/>
          <p:cNvCxnSpPr/>
          <p:nvPr/>
        </p:nvCxnSpPr>
        <p:spPr>
          <a:xfrm>
            <a:off x="784098" y="1948769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ircuit decoration"/>
          <p:cNvCxnSpPr/>
          <p:nvPr/>
        </p:nvCxnSpPr>
        <p:spPr>
          <a:xfrm flipH="1">
            <a:off x="660654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ircuit decoration"/>
          <p:cNvCxnSpPr/>
          <p:nvPr/>
        </p:nvCxnSpPr>
        <p:spPr>
          <a:xfrm>
            <a:off x="660654" y="3317260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ircuit decoration"/>
          <p:cNvSpPr/>
          <p:nvPr/>
        </p:nvSpPr>
        <p:spPr>
          <a:xfrm>
            <a:off x="63870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ircuit decoration"/>
          <p:cNvSpPr/>
          <p:nvPr/>
        </p:nvSpPr>
        <p:spPr>
          <a:xfrm>
            <a:off x="767638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ircuit decoration"/>
          <p:cNvCxnSpPr/>
          <p:nvPr/>
        </p:nvCxnSpPr>
        <p:spPr>
          <a:xfrm>
            <a:off x="907542" y="1645920"/>
            <a:ext cx="0" cy="1817095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ircuit decoration"/>
          <p:cNvCxnSpPr/>
          <p:nvPr/>
        </p:nvCxnSpPr>
        <p:spPr>
          <a:xfrm>
            <a:off x="907542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ircuit decoration"/>
          <p:cNvCxnSpPr/>
          <p:nvPr/>
        </p:nvCxnSpPr>
        <p:spPr>
          <a:xfrm>
            <a:off x="1030986" y="3586459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ircuit decoration"/>
          <p:cNvSpPr/>
          <p:nvPr/>
        </p:nvSpPr>
        <p:spPr>
          <a:xfrm>
            <a:off x="100904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ircuit decoration"/>
          <p:cNvCxnSpPr/>
          <p:nvPr/>
        </p:nvCxnSpPr>
        <p:spPr>
          <a:xfrm>
            <a:off x="1030986" y="179734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ircuit decoration"/>
          <p:cNvCxnSpPr/>
          <p:nvPr/>
        </p:nvCxnSpPr>
        <p:spPr>
          <a:xfrm flipH="1">
            <a:off x="907542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ircuit decoration"/>
          <p:cNvCxnSpPr/>
          <p:nvPr/>
        </p:nvCxnSpPr>
        <p:spPr>
          <a:xfrm>
            <a:off x="907542" y="2778861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ircuit decoration"/>
          <p:cNvSpPr/>
          <p:nvPr/>
        </p:nvSpPr>
        <p:spPr>
          <a:xfrm>
            <a:off x="88559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ircuit decoration"/>
          <p:cNvSpPr/>
          <p:nvPr/>
        </p:nvSpPr>
        <p:spPr>
          <a:xfrm>
            <a:off x="1014526" y="1780885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ircuit decoration"/>
          <p:cNvCxnSpPr/>
          <p:nvPr/>
        </p:nvCxnSpPr>
        <p:spPr>
          <a:xfrm>
            <a:off x="1154430" y="1948769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ircuit decoration"/>
          <p:cNvCxnSpPr/>
          <p:nvPr/>
        </p:nvCxnSpPr>
        <p:spPr>
          <a:xfrm>
            <a:off x="1154430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ircuit decoration"/>
          <p:cNvCxnSpPr/>
          <p:nvPr/>
        </p:nvCxnSpPr>
        <p:spPr>
          <a:xfrm>
            <a:off x="1277874" y="3048060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ircuit decoration"/>
          <p:cNvSpPr/>
          <p:nvPr/>
        </p:nvSpPr>
        <p:spPr>
          <a:xfrm>
            <a:off x="125592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ircuit decoration"/>
          <p:cNvCxnSpPr/>
          <p:nvPr/>
        </p:nvCxnSpPr>
        <p:spPr>
          <a:xfrm>
            <a:off x="1277874" y="1645920"/>
            <a:ext cx="0" cy="15478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ircuit decoration"/>
          <p:cNvCxnSpPr/>
          <p:nvPr/>
        </p:nvCxnSpPr>
        <p:spPr>
          <a:xfrm flipH="1">
            <a:off x="1154430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ircuit decoration"/>
          <p:cNvCxnSpPr/>
          <p:nvPr/>
        </p:nvCxnSpPr>
        <p:spPr>
          <a:xfrm>
            <a:off x="1154430" y="3317260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ircuit decoration"/>
          <p:cNvSpPr/>
          <p:nvPr/>
        </p:nvSpPr>
        <p:spPr>
          <a:xfrm>
            <a:off x="1132484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ircuit decoration"/>
          <p:cNvSpPr/>
          <p:nvPr/>
        </p:nvSpPr>
        <p:spPr>
          <a:xfrm>
            <a:off x="1261414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ircuit decoration"/>
          <p:cNvCxnSpPr/>
          <p:nvPr/>
        </p:nvCxnSpPr>
        <p:spPr>
          <a:xfrm>
            <a:off x="1401318" y="1797344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ircuit decoration"/>
          <p:cNvCxnSpPr/>
          <p:nvPr/>
        </p:nvCxnSpPr>
        <p:spPr>
          <a:xfrm>
            <a:off x="1401318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ircuit decoration"/>
          <p:cNvCxnSpPr/>
          <p:nvPr/>
        </p:nvCxnSpPr>
        <p:spPr>
          <a:xfrm>
            <a:off x="1524762" y="3586459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ircuit decoration"/>
          <p:cNvSpPr/>
          <p:nvPr/>
        </p:nvSpPr>
        <p:spPr>
          <a:xfrm>
            <a:off x="150281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ircuit decoration"/>
          <p:cNvCxnSpPr/>
          <p:nvPr/>
        </p:nvCxnSpPr>
        <p:spPr>
          <a:xfrm>
            <a:off x="1524762" y="1948769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ircuit decoration"/>
          <p:cNvCxnSpPr/>
          <p:nvPr/>
        </p:nvCxnSpPr>
        <p:spPr>
          <a:xfrm flipH="1">
            <a:off x="1401318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ircuit decoration"/>
          <p:cNvCxnSpPr/>
          <p:nvPr/>
        </p:nvCxnSpPr>
        <p:spPr>
          <a:xfrm>
            <a:off x="1401318" y="2778861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ircuit decoration"/>
          <p:cNvSpPr/>
          <p:nvPr/>
        </p:nvSpPr>
        <p:spPr>
          <a:xfrm>
            <a:off x="1379372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ircuit decoration"/>
          <p:cNvSpPr/>
          <p:nvPr/>
        </p:nvSpPr>
        <p:spPr>
          <a:xfrm>
            <a:off x="1508302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ircuit decoration"/>
          <p:cNvCxnSpPr/>
          <p:nvPr/>
        </p:nvCxnSpPr>
        <p:spPr>
          <a:xfrm flipV="1">
            <a:off x="11670030" y="4001414"/>
            <a:ext cx="0" cy="100949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ircuit decoration"/>
          <p:cNvCxnSpPr/>
          <p:nvPr/>
        </p:nvCxnSpPr>
        <p:spPr>
          <a:xfrm flipV="1">
            <a:off x="11670030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ircuit decoration"/>
          <p:cNvCxnSpPr/>
          <p:nvPr/>
        </p:nvCxnSpPr>
        <p:spPr>
          <a:xfrm flipV="1">
            <a:off x="11793474" y="2419868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ircuit decoration"/>
          <p:cNvSpPr/>
          <p:nvPr/>
        </p:nvSpPr>
        <p:spPr>
          <a:xfrm>
            <a:off x="1177152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Circuit decoration"/>
          <p:cNvSpPr/>
          <p:nvPr/>
        </p:nvSpPr>
        <p:spPr>
          <a:xfrm>
            <a:off x="11653570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ircuit decoration"/>
          <p:cNvCxnSpPr/>
          <p:nvPr/>
        </p:nvCxnSpPr>
        <p:spPr>
          <a:xfrm flipV="1">
            <a:off x="11546586" y="3732215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ircuit decoration"/>
          <p:cNvCxnSpPr/>
          <p:nvPr/>
        </p:nvCxnSpPr>
        <p:spPr>
          <a:xfrm flipH="1" flipV="1">
            <a:off x="11423142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ircuit decoration"/>
          <p:cNvCxnSpPr/>
          <p:nvPr/>
        </p:nvCxnSpPr>
        <p:spPr>
          <a:xfrm flipV="1">
            <a:off x="11423142" y="2117018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ircuit decoration"/>
          <p:cNvSpPr/>
          <p:nvPr/>
        </p:nvSpPr>
        <p:spPr>
          <a:xfrm>
            <a:off x="11401196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ircuit decoration"/>
          <p:cNvCxnSpPr/>
          <p:nvPr/>
        </p:nvCxnSpPr>
        <p:spPr>
          <a:xfrm flipV="1">
            <a:off x="11423142" y="3463015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ircuit decoration"/>
          <p:cNvCxnSpPr/>
          <p:nvPr/>
        </p:nvCxnSpPr>
        <p:spPr>
          <a:xfrm flipV="1">
            <a:off x="11423142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ircuit decoration"/>
          <p:cNvCxnSpPr/>
          <p:nvPr/>
        </p:nvCxnSpPr>
        <p:spPr>
          <a:xfrm flipV="1">
            <a:off x="11546586" y="1814169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ircuit decoration"/>
          <p:cNvSpPr/>
          <p:nvPr/>
        </p:nvSpPr>
        <p:spPr>
          <a:xfrm>
            <a:off x="1152464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ircuit decoration"/>
          <p:cNvSpPr/>
          <p:nvPr/>
        </p:nvSpPr>
        <p:spPr>
          <a:xfrm>
            <a:off x="11406682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ircuit decoration"/>
          <p:cNvCxnSpPr/>
          <p:nvPr/>
        </p:nvCxnSpPr>
        <p:spPr>
          <a:xfrm flipV="1">
            <a:off x="11299698" y="3193816"/>
            <a:ext cx="0" cy="18170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ircuit decoration"/>
          <p:cNvCxnSpPr/>
          <p:nvPr/>
        </p:nvCxnSpPr>
        <p:spPr>
          <a:xfrm flipH="1" flipV="1">
            <a:off x="11176254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ircuit decoration"/>
          <p:cNvCxnSpPr/>
          <p:nvPr/>
        </p:nvCxnSpPr>
        <p:spPr>
          <a:xfrm flipV="1">
            <a:off x="11176254" y="2419868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ircuit decoration"/>
          <p:cNvSpPr/>
          <p:nvPr/>
        </p:nvSpPr>
        <p:spPr>
          <a:xfrm>
            <a:off x="1115430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ircuit decoration"/>
          <p:cNvCxnSpPr/>
          <p:nvPr/>
        </p:nvCxnSpPr>
        <p:spPr>
          <a:xfrm flipV="1">
            <a:off x="11176254" y="400141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ircuit decoration"/>
          <p:cNvCxnSpPr/>
          <p:nvPr/>
        </p:nvCxnSpPr>
        <p:spPr>
          <a:xfrm flipV="1">
            <a:off x="11176254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ircuit decoration"/>
          <p:cNvCxnSpPr/>
          <p:nvPr/>
        </p:nvCxnSpPr>
        <p:spPr>
          <a:xfrm flipV="1">
            <a:off x="11299698" y="2117018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ircuit decoration"/>
          <p:cNvSpPr/>
          <p:nvPr/>
        </p:nvSpPr>
        <p:spPr>
          <a:xfrm>
            <a:off x="1127775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ircuit decoration"/>
          <p:cNvSpPr/>
          <p:nvPr/>
        </p:nvSpPr>
        <p:spPr>
          <a:xfrm>
            <a:off x="11159794" y="4843028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ircuit decoration"/>
          <p:cNvCxnSpPr/>
          <p:nvPr/>
        </p:nvCxnSpPr>
        <p:spPr>
          <a:xfrm flipV="1">
            <a:off x="11052810" y="3732215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ircuit decoration"/>
          <p:cNvCxnSpPr/>
          <p:nvPr/>
        </p:nvCxnSpPr>
        <p:spPr>
          <a:xfrm flipH="1" flipV="1">
            <a:off x="10929366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ircuit decoration"/>
          <p:cNvCxnSpPr/>
          <p:nvPr/>
        </p:nvCxnSpPr>
        <p:spPr>
          <a:xfrm flipV="1">
            <a:off x="10929366" y="1814169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Circuit decoration"/>
          <p:cNvSpPr/>
          <p:nvPr/>
        </p:nvSpPr>
        <p:spPr>
          <a:xfrm>
            <a:off x="1090742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ircuit decoration"/>
          <p:cNvCxnSpPr/>
          <p:nvPr/>
        </p:nvCxnSpPr>
        <p:spPr>
          <a:xfrm flipV="1">
            <a:off x="10929366" y="3463015"/>
            <a:ext cx="0" cy="15478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ircuit decoration"/>
          <p:cNvCxnSpPr/>
          <p:nvPr/>
        </p:nvCxnSpPr>
        <p:spPr>
          <a:xfrm flipV="1">
            <a:off x="10929366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ircuit decoration"/>
          <p:cNvCxnSpPr/>
          <p:nvPr/>
        </p:nvCxnSpPr>
        <p:spPr>
          <a:xfrm flipV="1">
            <a:off x="11052810" y="2419868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ircuit decoration"/>
          <p:cNvSpPr/>
          <p:nvPr/>
        </p:nvSpPr>
        <p:spPr>
          <a:xfrm>
            <a:off x="11030864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ircuit decoration"/>
          <p:cNvSpPr/>
          <p:nvPr/>
        </p:nvSpPr>
        <p:spPr>
          <a:xfrm>
            <a:off x="10912906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ircuit decoration"/>
          <p:cNvCxnSpPr/>
          <p:nvPr/>
        </p:nvCxnSpPr>
        <p:spPr>
          <a:xfrm flipV="1">
            <a:off x="10805922" y="3193816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ircuit decoration"/>
          <p:cNvCxnSpPr/>
          <p:nvPr/>
        </p:nvCxnSpPr>
        <p:spPr>
          <a:xfrm flipH="1" flipV="1">
            <a:off x="10682478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ircuit decoration"/>
          <p:cNvCxnSpPr/>
          <p:nvPr/>
        </p:nvCxnSpPr>
        <p:spPr>
          <a:xfrm flipV="1">
            <a:off x="10682478" y="2117018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Circuit decoration"/>
          <p:cNvSpPr/>
          <p:nvPr/>
        </p:nvSpPr>
        <p:spPr>
          <a:xfrm>
            <a:off x="1066053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ircuit decoration"/>
          <p:cNvCxnSpPr/>
          <p:nvPr/>
        </p:nvCxnSpPr>
        <p:spPr>
          <a:xfrm flipV="1">
            <a:off x="10682478" y="4001414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ircuit decoration"/>
          <p:cNvCxnSpPr/>
          <p:nvPr/>
        </p:nvCxnSpPr>
        <p:spPr>
          <a:xfrm flipV="1">
            <a:off x="10682478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ircuit decoration"/>
          <p:cNvCxnSpPr/>
          <p:nvPr/>
        </p:nvCxnSpPr>
        <p:spPr>
          <a:xfrm flipV="1">
            <a:off x="10805922" y="1814169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ircuit decoration"/>
          <p:cNvSpPr/>
          <p:nvPr/>
        </p:nvSpPr>
        <p:spPr>
          <a:xfrm>
            <a:off x="10783976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Circuit decoration"/>
          <p:cNvSpPr/>
          <p:nvPr/>
        </p:nvSpPr>
        <p:spPr>
          <a:xfrm>
            <a:off x="10666018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 | PURPOSE"/>
          <p:cNvSpPr txBox="1"/>
          <p:nvPr/>
        </p:nvSpPr>
        <p:spPr>
          <a:xfrm>
            <a:off x="68580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PURPOSE</a:t>
            </a:r>
          </a:p>
        </p:txBody>
      </p:sp>
      <p:sp>
        <p:nvSpPr>
          <p:cNvPr id="88" name="PH|body|Talk / meeting"/>
          <p:cNvSpPr txBox="1"/>
          <p:nvPr>
            <p:ph type="body" idx="1"/>
          </p:nvPr>
        </p:nvSpPr>
        <p:spPr>
          <a:xfrm>
            <a:off x="68580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Talk / meeting</a:t>
            </a:r>
          </a:p>
        </p:txBody>
      </p:sp>
      <p:sp>
        <p:nvSpPr>
          <p:cNvPr id="89" name="Text | DATE"/>
          <p:cNvSpPr txBox="1"/>
          <p:nvPr/>
        </p:nvSpPr>
        <p:spPr>
          <a:xfrm>
            <a:off x="932688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DATE</a:t>
            </a:r>
          </a:p>
        </p:txBody>
      </p:sp>
      <p:sp>
        <p:nvSpPr>
          <p:cNvPr id="90" name="PH|body|Date"/>
          <p:cNvSpPr txBox="1"/>
          <p:nvPr>
            <p:ph type="body" idx="2"/>
          </p:nvPr>
        </p:nvSpPr>
        <p:spPr>
          <a:xfrm>
            <a:off x="932688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Date</a:t>
            </a:r>
          </a:p>
        </p:txBody>
      </p:sp>
      <p:sp>
        <p:nvSpPr>
          <p:cNvPr id="91" name="Text | PROJECT PART OF"/>
          <p:cNvSpPr txBox="1"/>
          <p:nvPr/>
        </p:nvSpPr>
        <p:spPr>
          <a:xfrm>
            <a:off x="68580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PROJECT PART OF</a:t>
            </a:r>
          </a:p>
        </p:txBody>
      </p:sp>
      <p:sp>
        <p:nvSpPr>
          <p:cNvPr id="92" name="PH|body|Lab / institution"/>
          <p:cNvSpPr txBox="1"/>
          <p:nvPr>
            <p:ph type="body" idx="3"/>
          </p:nvPr>
        </p:nvSpPr>
        <p:spPr>
          <a:xfrm>
            <a:off x="68580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Lab / institution</a:t>
            </a:r>
          </a:p>
        </p:txBody>
      </p:sp>
      <p:sp>
        <p:nvSpPr>
          <p:cNvPr id="93" name="Text | PRESENTED BY"/>
          <p:cNvSpPr txBox="1"/>
          <p:nvPr/>
        </p:nvSpPr>
        <p:spPr>
          <a:xfrm>
            <a:off x="841248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PRESENTED BY</a:t>
            </a:r>
          </a:p>
        </p:txBody>
      </p:sp>
      <p:sp>
        <p:nvSpPr>
          <p:cNvPr id="94" name="PH|body|Presenter"/>
          <p:cNvSpPr txBox="1"/>
          <p:nvPr>
            <p:ph type="body" idx="4"/>
          </p:nvPr>
        </p:nvSpPr>
        <p:spPr>
          <a:xfrm>
            <a:off x="841248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Presenter</a:t>
            </a:r>
          </a:p>
        </p:txBody>
      </p:sp>
      <p:sp>
        <p:nvSpPr>
          <p:cNvPr id="95" name="PH|title|Project name"/>
          <p:cNvSpPr txBox="1"/>
          <p:nvPr>
            <p:ph type="title" idx="0"/>
          </p:nvPr>
        </p:nvSpPr>
        <p:spPr>
          <a:xfrm>
            <a:off x="2194560" y="1920240"/>
            <a:ext cx="7799831" cy="11338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1pPr>
            <a:lvl2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2pPr>
            <a:lvl3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3pPr>
            <a:lvl4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4pPr>
            <a:lvl5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5pPr>
            <a:lvl6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6pPr>
            <a:lvl7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7pPr>
            <a:lvl8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8pPr>
            <a:lvl9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5000" b="1">
                <a:solidFill>
                  <a:srgbClr val="333351"/>
                </a:solidFill>
                <a:latin typeface="DM Serif Display"/>
              </a:defRPr>
            </a:pPr>
            <a:r>
              <a:rPr sz="5000" b="1">
                <a:solidFill>
                  <a:srgbClr val="333351"/>
                </a:solidFill>
                <a:latin typeface="DM Serif Display"/>
              </a:rPr>
              <a:t>Project name</a:t>
            </a:r>
          </a:p>
        </p:txBody>
      </p:sp>
      <p:sp>
        <p:nvSpPr>
          <p:cNvPr id="96" name="PH|body|Presentation title / subtitle"/>
          <p:cNvSpPr txBox="1"/>
          <p:nvPr>
            <p:ph type="body" idx="5"/>
          </p:nvPr>
        </p:nvSpPr>
        <p:spPr>
          <a:xfrm>
            <a:off x="2286000" y="3264408"/>
            <a:ext cx="7616952" cy="9418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Presentation title / subtitle</a:t>
            </a:r>
          </a:p>
        </p:txBody>
      </p:sp>
      <p:sp>
        <p:nvSpPr>
          <p:cNvPr id="97" name="PH|body|Authors / collaborators"/>
          <p:cNvSpPr txBox="1"/>
          <p:nvPr>
            <p:ph type="body" idx="6"/>
          </p:nvPr>
        </p:nvSpPr>
        <p:spPr>
          <a:xfrm>
            <a:off x="2743200" y="4553712"/>
            <a:ext cx="6702552" cy="9509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Authors / collaborators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2 — Project information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roject image"/>
          <p:cNvSpPr txBox="1"/>
          <p:nvPr>
            <p:ph type="pic" idx="1"/>
          </p:nvPr>
        </p:nvSpPr>
        <p:spPr>
          <a:xfrm>
            <a:off x="868680" y="1536192"/>
            <a:ext cx="3337560" cy="33558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Project image</a:t>
            </a:r>
          </a:p>
        </p:txBody>
      </p:sp>
      <p:sp>
        <p:nvSpPr>
          <p:cNvPr id="4" name="PH|body|Project name&#10;&#10;Description&#10;&#10;Leads / affiliation / resources"/>
          <p:cNvSpPr txBox="1"/>
          <p:nvPr>
            <p:ph type="body" idx="2"/>
          </p:nvPr>
        </p:nvSpPr>
        <p:spPr>
          <a:xfrm>
            <a:off x="4700016" y="1645920"/>
            <a:ext cx="6583680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Project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Description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Leads / affiliation / resources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3 — Section divider">
    <p:bg>
      <p:bgPr>
        <a:solidFill>
          <a:srgbClr val="2531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ection title"/>
          <p:cNvSpPr txBox="1"/>
          <p:nvPr>
            <p:ph type="title" idx="0"/>
          </p:nvPr>
        </p:nvSpPr>
        <p:spPr>
          <a:xfrm>
            <a:off x="768096" y="2011680"/>
            <a:ext cx="10058400" cy="2423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1pPr>
            <a:lvl2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2pPr>
            <a:lvl3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3pPr>
            <a:lvl4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4pPr>
            <a:lvl5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5pPr>
            <a:lvl6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6pPr>
            <a:lvl7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7pPr>
            <a:lvl8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8pPr>
            <a:lvl9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6400" b="1">
                <a:solidFill>
                  <a:srgbClr val="FDF7EF"/>
                </a:solidFill>
                <a:latin typeface="DM Serif Display"/>
              </a:defRPr>
            </a:pPr>
            <a:r>
              <a:rPr sz="6400" b="1">
                <a:solidFill>
                  <a:srgbClr val="FDF7EF"/>
                </a:solidFill>
                <a:latin typeface="DM Serif Display"/>
              </a:rPr>
              <a:t>Section title</a:t>
            </a:r>
          </a:p>
        </p:txBody>
      </p:sp>
      <p:sp>
        <p:nvSpPr>
          <p:cNvPr id="3" name="PH|body|Section subtitle"/>
          <p:cNvSpPr txBox="1"/>
          <p:nvPr>
            <p:ph type="body" idx="1"/>
          </p:nvPr>
        </p:nvSpPr>
        <p:spPr>
          <a:xfrm>
            <a:off x="804672" y="4983480"/>
            <a:ext cx="9921240" cy="7680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FDF7EF"/>
                </a:solidFill>
                <a:latin typeface="Inter"/>
              </a:defRPr>
            </a:pPr>
            <a:r>
              <a:rPr sz="2300" b="0">
                <a:solidFill>
                  <a:srgbClr val="FDF7EF"/>
                </a:solidFill>
                <a:latin typeface="Inter"/>
              </a:rPr>
              <a:t>Section subtitle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4 — Titl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your text"/>
          <p:cNvSpPr txBox="1"/>
          <p:nvPr>
            <p:ph type="body" idx="1"/>
          </p:nvPr>
        </p:nvSpPr>
        <p:spPr>
          <a:xfrm>
            <a:off x="1051560" y="1682496"/>
            <a:ext cx="10012680" cy="42885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2E2D2C"/>
                </a:solidFill>
                <a:latin typeface="Inter"/>
              </a:defRPr>
            </a:pPr>
            <a:r>
              <a:rPr sz="2300" b="0">
                <a:solidFill>
                  <a:srgbClr val="2E2D2C"/>
                </a:solidFill>
                <a:latin typeface="Inter"/>
              </a:rPr>
              <a:t>Add your text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5 — Text and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text"/>
          <p:cNvSpPr txBox="1"/>
          <p:nvPr>
            <p:ph type="body" idx="1"/>
          </p:nvPr>
        </p:nvSpPr>
        <p:spPr>
          <a:xfrm>
            <a:off x="868680" y="1664208"/>
            <a:ext cx="3867912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pic|Add figure"/>
          <p:cNvSpPr txBox="1"/>
          <p:nvPr>
            <p:ph type="pic" idx="2"/>
          </p:nvPr>
        </p:nvSpPr>
        <p:spPr>
          <a:xfrm>
            <a:off x="5065776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6 — Figur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Add text"/>
          <p:cNvSpPr txBox="1"/>
          <p:nvPr>
            <p:ph type="body" idx="2"/>
          </p:nvPr>
        </p:nvSpPr>
        <p:spPr>
          <a:xfrm>
            <a:off x="7644383" y="1664208"/>
            <a:ext cx="3675887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7 — Two figur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Figure A"/>
          <p:cNvSpPr txBox="1"/>
          <p:nvPr>
            <p:ph type="pic" idx="1"/>
          </p:nvPr>
        </p:nvSpPr>
        <p:spPr>
          <a:xfrm>
            <a:off x="85039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A</a:t>
            </a:r>
          </a:p>
        </p:txBody>
      </p:sp>
      <p:sp>
        <p:nvSpPr>
          <p:cNvPr id="4" name="PH|pic|Figure B"/>
          <p:cNvSpPr txBox="1"/>
          <p:nvPr>
            <p:ph type="pic" idx="2"/>
          </p:nvPr>
        </p:nvSpPr>
        <p:spPr>
          <a:xfrm>
            <a:off x="624535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B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8 — Full-width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10488168" cy="40416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Caption / source"/>
          <p:cNvSpPr txBox="1"/>
          <p:nvPr>
            <p:ph type="body" idx="2"/>
          </p:nvPr>
        </p:nvSpPr>
        <p:spPr>
          <a:xfrm>
            <a:off x="868680" y="5788152"/>
            <a:ext cx="10451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Caption / source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9 — Two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300216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0 — Three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7782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01583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1 — Four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263640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86968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6263640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2 — Six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092440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886968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7" name="PH|body|Heading&#10;&#10;Add text"/>
          <p:cNvSpPr txBox="1"/>
          <p:nvPr>
            <p:ph type="body" idx="5"/>
          </p:nvPr>
        </p:nvSpPr>
        <p:spPr>
          <a:xfrm>
            <a:off x="4489704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8" name="PH|body|Heading&#10;&#10;Add text"/>
          <p:cNvSpPr txBox="1"/>
          <p:nvPr>
            <p:ph type="body" idx="6"/>
          </p:nvPr>
        </p:nvSpPr>
        <p:spPr>
          <a:xfrm>
            <a:off x="8092440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3 — Chart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chart|Insert chart"/>
          <p:cNvSpPr txBox="1"/>
          <p:nvPr>
            <p:ph type="chart" idx="1"/>
          </p:nvPr>
        </p:nvSpPr>
        <p:spPr>
          <a:xfrm>
            <a:off x="877824" y="1801368"/>
            <a:ext cx="7242048" cy="38587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chart</a:t>
            </a:r>
          </a:p>
        </p:txBody>
      </p:sp>
      <p:sp>
        <p:nvSpPr>
          <p:cNvPr id="4" name="PH|body|Observation&#10;&#10;Context / conditions"/>
          <p:cNvSpPr txBox="1"/>
          <p:nvPr>
            <p:ph type="body" idx="2"/>
          </p:nvPr>
        </p:nvSpPr>
        <p:spPr>
          <a:xfrm>
            <a:off x="8540496" y="1975104"/>
            <a:ext cx="2779776" cy="3611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Observation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Context / conditions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4 — Full tabl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tbl|Insert table"/>
          <p:cNvSpPr txBox="1"/>
          <p:nvPr>
            <p:ph type="tbl" idx="1"/>
          </p:nvPr>
        </p:nvSpPr>
        <p:spPr>
          <a:xfrm>
            <a:off x="877824" y="1728216"/>
            <a:ext cx="10442448" cy="382219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table</a:t>
            </a:r>
          </a:p>
        </p:txBody>
      </p:sp>
      <p:sp>
        <p:nvSpPr>
          <p:cNvPr id="4" name="PH|body|Units / conditions / source"/>
          <p:cNvSpPr txBox="1"/>
          <p:nvPr>
            <p:ph type="body" idx="2"/>
          </p:nvPr>
        </p:nvSpPr>
        <p:spPr>
          <a:xfrm>
            <a:off x="877824" y="5751576"/>
            <a:ext cx="10442448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Units / conditions / source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5 — Code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Code / pseudocode"/>
          <p:cNvSpPr txBox="1"/>
          <p:nvPr>
            <p:ph type="body" idx="1"/>
          </p:nvPr>
        </p:nvSpPr>
        <p:spPr>
          <a:xfrm>
            <a:off x="1115568" y="2011680"/>
            <a:ext cx="5897880" cy="33649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Code / pseudocode</a:t>
            </a:r>
          </a:p>
        </p:txBody>
      </p:sp>
      <p:sp>
        <p:nvSpPr>
          <p:cNvPr id="4" name="PH|body|Explanation"/>
          <p:cNvSpPr txBox="1"/>
          <p:nvPr>
            <p:ph type="body" idx="2"/>
          </p:nvPr>
        </p:nvSpPr>
        <p:spPr>
          <a:xfrm>
            <a:off x="7927848" y="2011680"/>
            <a:ext cx="3374136" cy="3575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Explanation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6 — Team profil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hoto"/>
          <p:cNvSpPr txBox="1"/>
          <p:nvPr>
            <p:ph type="pic" idx="1"/>
          </p:nvPr>
        </p:nvSpPr>
        <p:spPr>
          <a:xfrm>
            <a:off x="932688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4" name="PH|pic|Photo"/>
          <p:cNvSpPr txBox="1"/>
          <p:nvPr>
            <p:ph type="pic" idx="2"/>
          </p:nvPr>
        </p:nvSpPr>
        <p:spPr>
          <a:xfrm>
            <a:off x="4517136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5" name="PH|pic|Photo"/>
          <p:cNvSpPr txBox="1"/>
          <p:nvPr>
            <p:ph type="pic" idx="3"/>
          </p:nvPr>
        </p:nvSpPr>
        <p:spPr>
          <a:xfrm>
            <a:off x="8101583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6" name="PH|body|Name&#10;Role / affiliation"/>
          <p:cNvSpPr txBox="1"/>
          <p:nvPr>
            <p:ph type="body" idx="4"/>
          </p:nvPr>
        </p:nvSpPr>
        <p:spPr>
          <a:xfrm>
            <a:off x="932688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7" name="PH|body|Name&#10;Role / affiliation"/>
          <p:cNvSpPr txBox="1"/>
          <p:nvPr>
            <p:ph type="body" idx="5"/>
          </p:nvPr>
        </p:nvSpPr>
        <p:spPr>
          <a:xfrm>
            <a:off x="4517136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8" name="PH|body|Name&#10;Role / affiliation"/>
          <p:cNvSpPr txBox="1"/>
          <p:nvPr>
            <p:ph type="body" idx="6"/>
          </p:nvPr>
        </p:nvSpPr>
        <p:spPr>
          <a:xfrm>
            <a:off x="8101583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7 — Title canva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8 — Empty canvas with fram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9 — Image collag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Image A"/>
          <p:cNvSpPr txBox="1"/>
          <p:nvPr>
            <p:ph type="pic" idx="1"/>
          </p:nvPr>
        </p:nvSpPr>
        <p:spPr>
          <a:xfrm>
            <a:off x="859536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A</a:t>
            </a:r>
          </a:p>
        </p:txBody>
      </p:sp>
      <p:sp>
        <p:nvSpPr>
          <p:cNvPr id="4" name="PH|pic|Image B"/>
          <p:cNvSpPr txBox="1"/>
          <p:nvPr>
            <p:ph type="pic" idx="2"/>
          </p:nvPr>
        </p:nvSpPr>
        <p:spPr>
          <a:xfrm>
            <a:off x="4096512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B</a:t>
            </a:r>
          </a:p>
        </p:txBody>
      </p:sp>
      <p:sp>
        <p:nvSpPr>
          <p:cNvPr id="5" name="PH|pic|Image C"/>
          <p:cNvSpPr txBox="1"/>
          <p:nvPr>
            <p:ph type="pic" idx="3"/>
          </p:nvPr>
        </p:nvSpPr>
        <p:spPr>
          <a:xfrm>
            <a:off x="859536" y="3749039"/>
            <a:ext cx="6272784" cy="1911095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C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7635240" y="1700784"/>
            <a:ext cx="3657600" cy="39867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20 — Two image crop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Wide crop"/>
          <p:cNvSpPr txBox="1"/>
          <p:nvPr>
            <p:ph type="pic" idx="1"/>
          </p:nvPr>
        </p:nvSpPr>
        <p:spPr>
          <a:xfrm>
            <a:off x="896112" y="1600200"/>
            <a:ext cx="3685032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Wide crop</a:t>
            </a:r>
          </a:p>
        </p:txBody>
      </p:sp>
      <p:sp>
        <p:nvSpPr>
          <p:cNvPr id="4" name="PH|pic|Portrait crop"/>
          <p:cNvSpPr txBox="1"/>
          <p:nvPr>
            <p:ph type="pic" idx="2"/>
          </p:nvPr>
        </p:nvSpPr>
        <p:spPr>
          <a:xfrm>
            <a:off x="4864608" y="1600200"/>
            <a:ext cx="2743200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Portrait crop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38160" y="1783080"/>
            <a:ext cx="3145536" cy="35112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Frame12" Type="http://schemas.openxmlformats.org/officeDocument/2006/relationships/image" Target="../media/image1.png"/><Relationship Id="rIdLayout1" Type="http://schemas.openxmlformats.org/officeDocument/2006/relationships/slideLayout" Target="../slideLayouts/slideLayout1.xml"/><Relationship Id="rIdLayout10" Type="http://schemas.openxmlformats.org/officeDocument/2006/relationships/slideLayout" Target="../slideLayouts/slideLayout1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Layout13" Type="http://schemas.openxmlformats.org/officeDocument/2006/relationships/slideLayout" Target="../slideLayouts/slideLayout13.xml"/><Relationship Id="rIdLayout14" Type="http://schemas.openxmlformats.org/officeDocument/2006/relationships/slideLayout" Target="../slideLayouts/slideLayout14.xml"/><Relationship Id="rIdLayout15" Type="http://schemas.openxmlformats.org/officeDocument/2006/relationships/slideLayout" Target="../slideLayouts/slideLayout15.xml"/><Relationship Id="rIdLayout16" Type="http://schemas.openxmlformats.org/officeDocument/2006/relationships/slideLayout" Target="../slideLayouts/slideLayout16.xml"/><Relationship Id="rIdLayout17" Type="http://schemas.openxmlformats.org/officeDocument/2006/relationships/slideLayout" Target="../slideLayouts/slideLayout17.xml"/><Relationship Id="rIdLayout18" Type="http://schemas.openxmlformats.org/officeDocument/2006/relationships/slideLayout" Target="../slideLayouts/slideLayout18.xml"/><Relationship Id="rIdLayout19" Type="http://schemas.openxmlformats.org/officeDocument/2006/relationships/slideLayout" Target="../slideLayouts/slideLayout19.xml"/><Relationship Id="rIdLayout2" Type="http://schemas.openxmlformats.org/officeDocument/2006/relationships/slideLayout" Target="../slideLayouts/slideLayout2.xml"/><Relationship Id="rIdLayout20" Type="http://schemas.openxmlformats.org/officeDocument/2006/relationships/slideLayout" Target="../slideLayouts/slideLayout20.xml"/><Relationship Id="rIdLayout3" Type="http://schemas.openxmlformats.org/officeDocument/2006/relationships/slideLayout" Target="../slideLayouts/slideLayout3.xml"/><Relationship Id="rIdLayout4" Type="http://schemas.openxmlformats.org/officeDocument/2006/relationships/slideLayout" Target="../slideLayouts/slideLayout4.xml"/><Relationship Id="rIdLayout5" Type="http://schemas.openxmlformats.org/officeDocument/2006/relationships/slideLayout" Target="../slideLayouts/slideLayout5.xml"/><Relationship Id="rIdLayout6" Type="http://schemas.openxmlformats.org/officeDocument/2006/relationships/slideLayout" Target="../slideLayouts/slideLayout6.xml"/><Relationship Id="rIdLayout7" Type="http://schemas.openxmlformats.org/officeDocument/2006/relationships/slideLayout" Target="../slideLayouts/slideLayout7.xml"/><Relationship Id="rIdLayout8" Type="http://schemas.openxmlformats.org/officeDocument/2006/relationships/slideLayout" Target="../slideLayouts/slideLayout8.xml"/><Relationship Id="rIdLayout9" Type="http://schemas.openxmlformats.org/officeDocument/2006/relationships/slideLayout" Target="../slideLayouts/slideLayout9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RAME | University mark" descr="berkeley_seal.png"/>
          <p:cNvPicPr>
            <a:picLocks noChangeAspect="1"/>
          </p:cNvPicPr>
          <p:nvPr/>
        </p:nvPicPr>
        <p:blipFill>
          <a:blip r:embed="rIdFrame12"/>
          <a:stretch>
            <a:fillRect/>
          </a:stretch>
        </p:blipFill>
        <p:spPr>
          <a:xfrm>
            <a:off x="457200" y="274320"/>
            <a:ext cx="731520" cy="731520"/>
          </a:xfrm>
          <a:prstGeom prst="rect">
            <a:avLst/>
          </a:prstGeom>
          <a:effectLst/>
        </p:spPr>
      </p:pic>
      <p:sp>
        <p:nvSpPr>
          <p:cNvPr id="3" name="FRAME | Lab name"/>
          <p:cNvSpPr txBox="1"/>
          <p:nvPr/>
        </p:nvSpPr>
        <p:spPr>
          <a:xfrm>
            <a:off x="1298448" y="365760"/>
            <a:ext cx="1298448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3552"/>
                </a:solidFill>
                <a:latin typeface="Inter"/>
              </a:rPr>
              <a:t>BAR LAB</a:t>
            </a:r>
          </a:p>
        </p:txBody>
      </p:sp>
      <p:sp>
        <p:nvSpPr>
          <p:cNvPr id="4" name="FRAME | Affiliation"/>
          <p:cNvSpPr txBox="1"/>
          <p:nvPr/>
        </p:nvSpPr>
        <p:spPr>
          <a:xfrm>
            <a:off x="1298448" y="704088"/>
            <a:ext cx="1298448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FRAME | Title rule"/>
          <p:cNvCxnSpPr/>
          <p:nvPr/>
        </p:nvCxnSpPr>
        <p:spPr>
          <a:xfrm>
            <a:off x="4928616" y="978408"/>
            <a:ext cx="2331720" cy="0"/>
          </a:xfrm>
          <a:prstGeom prst="line">
            <a:avLst/>
          </a:prstGeom>
          <a:ln w="26670">
            <a:solidFill>
              <a:srgbClr val="AB9A8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AME | Purpose label"/>
          <p:cNvSpPr txBox="1"/>
          <p:nvPr/>
        </p:nvSpPr>
        <p:spPr>
          <a:xfrm>
            <a:off x="9966960" y="438912"/>
            <a:ext cx="17373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PROGRAM</a:t>
            </a:r>
          </a:p>
        </p:txBody>
      </p:sp>
      <p:sp>
        <p:nvSpPr>
          <p:cNvPr id="7" name="FRAME | Purpose value"/>
          <p:cNvSpPr txBox="1"/>
          <p:nvPr/>
        </p:nvSpPr>
        <p:spPr>
          <a:xfrm>
            <a:off x="9509760" y="694944"/>
            <a:ext cx="21945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MX GEMMINI + VPU</a:t>
            </a:r>
          </a:p>
        </p:txBody>
      </p:sp>
      <p:sp>
        <p:nvSpPr>
          <p:cNvPr id="8" name="FRAME | Arrow pill"/>
          <p:cNvSpPr/>
          <p:nvPr/>
        </p:nvSpPr>
        <p:spPr>
          <a:xfrm>
            <a:off x="438912" y="6300216"/>
            <a:ext cx="950976" cy="283464"/>
          </a:xfrm>
          <a:prstGeom prst="roundRect">
            <a:avLst>
              <a:gd name="adj" fmla="val 50000"/>
            </a:avLst>
          </a:prstGeom>
          <a:noFill/>
          <a:ln w="8255">
            <a:solidFill>
              <a:srgbClr val="2E2D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FRAME | Arrow"/>
          <p:cNvCxnSpPr/>
          <p:nvPr/>
        </p:nvCxnSpPr>
        <p:spPr>
          <a:xfrm>
            <a:off x="694944" y="6441948"/>
            <a:ext cx="438912" cy="0"/>
          </a:xfrm>
          <a:prstGeom prst="line">
            <a:avLst/>
          </a:prstGeom>
          <a:ln w="11430">
            <a:solidFill>
              <a:srgbClr val="2E2D2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AGE"/>
          <p:cNvSpPr txBox="1"/>
          <p:nvPr/>
        </p:nvSpPr>
        <p:spPr>
          <a:xfrm>
            <a:off x="10387584" y="6318504"/>
            <a:ext cx="13258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Layout1"/>
    <p:sldLayoutId id="2147483651" r:id="rIdLayout2"/>
    <p:sldLayoutId id="2147483652" r:id="rIdLayout3"/>
    <p:sldLayoutId id="2147483653" r:id="rIdLayout4"/>
    <p:sldLayoutId id="2147483654" r:id="rIdLayout5"/>
    <p:sldLayoutId id="2147483655" r:id="rIdLayout6"/>
    <p:sldLayoutId id="2147483656" r:id="rIdLayout7"/>
    <p:sldLayoutId id="2147483657" r:id="rIdLayout8"/>
    <p:sldLayoutId id="2147483658" r:id="rIdLayout9"/>
    <p:sldLayoutId id="2147483659" r:id="rIdLayout10"/>
    <p:sldLayoutId id="2147483660" r:id="rIdLayout11"/>
    <p:sldLayoutId id="2147483661" r:id="rIdLayout12"/>
    <p:sldLayoutId id="2147483662" r:id="rIdLayout13"/>
    <p:sldLayoutId id="2147483663" r:id="rIdLayout14"/>
    <p:sldLayoutId id="2147483664" r:id="rIdLayout15"/>
    <p:sldLayoutId id="2147483665" r:id="rIdLayout16"/>
    <p:sldLayoutId id="2147483666" r:id="rIdLayout17"/>
    <p:sldLayoutId id="2147483667" r:id="rIdLayout18"/>
    <p:sldLayoutId id="2147483668" r:id="rIdLayout19"/>
    <p:sldLayoutId id="2147483669" r:id="rIdLayout20"/>
  </p:sldLayoutIdLst>
  <p:txStyles>
    <p:titleStyle>
      <a:lvl1pPr algn="ctr" defTabSz="457200" rtl="0" eaLnBrk="1" latinLnBrk="0" hangingPunct="1" marL="0" indent="0">
        <a:buNone/>
        <a:spcBef>
          <a:spcPct val="0"/>
        </a:spcBef>
        <a:defRPr sz="2800" kern="1200">
          <a:solidFill>
            <a:schemeClr val="tx1"/>
          </a:solidFill>
          <a:latin typeface="Inter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otherStyle>
  </p:txStyles>
</p:sldMaster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One JSON profile changes legal MLIR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81328"/>
            <a:ext cx="5522976" cy="4407408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47104" y="1481328"/>
            <a:ext cx="4800600" cy="4407408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36776"/>
            <a:ext cx="510235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Selected RTL profile fields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29968"/>
            <a:ext cx="5093208" cy="2569464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"geometry": {"mesh_rows":16,"mesh_columns":16},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"legal_compute": [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{"activation_format":"fp4_e2m1",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"weight_format":"fp4_e2m1","pe_mode":0},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{"activation_format":"fp8_e4m3",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"weight_format":"fp8_e4m3","pe_mode":8}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],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"resources": {"scratchpad_bytes":262144,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            "vpu":true,"spad_requant":true}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36592"/>
            <a:ext cx="509320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313455"/>
                </a:solidFill>
                <a:latin typeface="Inter"/>
              </a:rPr>
              <a:t>MxE4M3Fp4VpuGemminiRocketConfig · direct projections in both legal rows · two 8-lane BF16 VPUs.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312664"/>
            <a:ext cx="5093208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5B5957"/>
                </a:solidFill>
                <a:latin typeface="Inter"/>
              </a:rPr>
              <a:t>RTL 266c593 + MxGen dba3e7 → 41 fragments / 40 SoC wrappers; each JSON stores source hashes.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1636776"/>
            <a:ext cx="437083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Before → after bind_profile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48272" y="2029968"/>
            <a:ext cx="4379976" cy="1499616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before: contract {format = "mxfp4"}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after:  contract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activation_format = "fp4_e2m1",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weight_format = "fp4_e2m1",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pe_mode = 0 : i32,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profile_sha256 = "e9e33f..."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3712463"/>
            <a:ext cx="437083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10" b="1">
                <a:solidFill>
                  <a:srgbClr val="103552"/>
                </a:solidFill>
                <a:latin typeface="Inter"/>
              </a:rPr>
              <a:t>Compiler consequences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4041648"/>
            <a:ext cx="4370832" cy="1481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TinyLlama: 155 FP4 / 45 FP8 MX sites per stage.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FP4 binds PE 0; 256 KiB SPAD caps tiles.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VPU/requant legal; FP6 rejects in this profile.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load_profile(profile, rtl_root=rtl) rejects drift.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943600"/>
            <a:ext cx="104698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npu-exploration supplies source kernels for per-mode Spike checks; the RTL profile alone is structural, not a performance claim.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02 / 03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dialect: typed IR to RV64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99616"/>
            <a:ext cx="5166360" cy="2724912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81344" y="1499616"/>
            <a:ext cx="5166360" cy="272491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FP4 GEMM → typed MX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%acc = "mx_gemmini.contract"(%A,%As,%B,%Bs)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activation_format = "fp4_e2m1",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weight_format = "fp4_e2m1", pe_mode = 0 : i32 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%out = "mx_gemmini.readout_bf16"(%acc)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38144"/>
            <a:ext cx="4727448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>
                <a:solidFill>
                  <a:srgbClr val="313455"/>
                </a:solidFill>
                <a:latin typeface="Inter"/>
              </a:rPr>
              <a:t>resource → packed codes + E8M0 scales → mvin; contract → MX compute. Radiance softmax uses vpu_execute; readout_bf16 / spad_requant / wait finish the tile.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Compiled attention object → binary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__asm__ volatile(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".insn r 0x7b, 3, 2, x0, %0, %1"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: : "r"(Q_IN),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    "r"(0x0010001000000000));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objdump: 4a: 04b6b07b  .insn 4, 0x04b6b07b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3493008"/>
            <a:ext cx="4727448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physical_program orders mvin → compute → VPU → mvout. RoCC C + data asm → RV64 GCC → ELF → Nicolas Spike.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52544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3552"/>
                </a:solidFill>
                <a:latin typeface="Inter"/>
              </a:rPr>
              <a:t>Implemented transforms and checks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bind_profile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Legal PE tuple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profile digest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99232" y="4709160"/>
            <a:ext cx="1965960" cy="98755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2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MXBF16Catalog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Preparation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Select BF16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MX sites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7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7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schedule.plan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7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Choose native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loop and tiles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8623" y="4709160"/>
            <a:ext cx="1965960" cy="987552"/>
          </a:xfrm>
          <a:prstGeom prst="roundRect">
            <a:avLst/>
          </a:prstGeom>
          <a:solidFill>
            <a:srgbClr val="E5E7DA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0063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MXVPUPostOffload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0063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Map softmax, add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reductions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19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59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physical_program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59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Order DMA, compute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VPU commands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833872"/>
            <a:ext cx="1046988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mx-gemmini-opt verifies typed IR. The standalone command path bypasses LLVM; the generic full-model host currently uses Merlin → LLVM → RV64.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01 / 03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MX+VPU Spike cycle results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59536" y="1673352"/>
          <a:ext cx="10479023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1063"/>
                <a:gridCol w="2176272"/>
                <a:gridCol w="2176272"/>
                <a:gridCol w="2185416"/>
              </a:tblGrid>
              <a:tr h="54864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80" b="1">
                          <a:solidFill>
                            <a:srgbClr val="FFFFFF"/>
                          </a:solidFill>
                          <a:latin typeface="Inter"/>
                        </a:rPr>
                        <a:t>Workload / scope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80" b="1">
                          <a:solidFill>
                            <a:srgbClr val="FFFFFF"/>
                          </a:solidFill>
                          <a:latin typeface="Inter"/>
                        </a:rPr>
                        <a:t>Compiler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80" b="1">
                          <a:solidFill>
                            <a:srgbClr val="FFFFFF"/>
                          </a:solidFill>
                          <a:latin typeface="Inter"/>
                        </a:rPr>
                        <a:t>Native source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80" b="1">
                          <a:solidFill>
                            <a:srgbClr val="FFFFFF"/>
                          </a:solidFill>
                          <a:latin typeface="Inter"/>
                        </a:rPr>
                        <a:t>Compiler Δ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SmolVLA · full 12-step session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72,066,544,354*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71,875,683,634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+0.266%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· full 33-step session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running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pending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SmolVLA flow · one step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2,112,653,481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2,112,919,925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−0.0126%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Dense attention 64×256×128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43,523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43,641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−0.27%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Text | [Units · Best-value convention · Uncertain"/>
          <p:cNvSpPr txBox="1"/>
          <p:nvPr/>
        </p:nvSpPr>
        <p:spPr>
          <a:xfrm>
            <a:off x="859536" y="5404104"/>
            <a:ext cx="10515600" cy="6035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* Completed timing receipt; independent quantized accuracy remains open. TinyLlama corrected full Spike runs are in progress; no model cycle total.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Nicolas e4m3_vpu Spike, host tracking off. Paired flow/attention output hashes match. Full SmolVLA issuer-swap outputs match (33/33).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" y="4663440"/>
            <a:ext cx="10479024" cy="557784"/>
          </a:xfrm>
          <a:prstGeom prst="roundRect">
            <a:avLst/>
          </a:prstGeom>
          <a:solidFill>
            <a:srgbClr val="E1E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03552"/>
                </a:solidFill>
                <a:latin typeface="Inter"/>
              </a:rPr>
              <a:t>Full-model source variants replace two MX issuer catalogs; host graph and VPU stay fixed. A matched fused handwritten whole-model baseline is unmeasured.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03 / 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Lab Pastel">
      <a:dk1>
        <a:srgbClr val="2E2D2C"/>
      </a:dk1>
      <a:lt1>
        <a:srgbClr val="FDF7EF"/>
      </a:lt1>
      <a:dk2>
        <a:srgbClr val="333351"/>
      </a:dk2>
      <a:lt2>
        <a:srgbClr val="ECE3DA"/>
      </a:lt2>
      <a:accent1>
        <a:srgbClr val="0F3759"/>
      </a:accent1>
      <a:accent2>
        <a:srgbClr val="AB9A89"/>
      </a:accent2>
      <a:accent3>
        <a:srgbClr val="8B93A6"/>
      </a:accent3>
      <a:accent4>
        <a:srgbClr val="815E5E"/>
      </a:accent4>
      <a:accent5>
        <a:srgbClr val="7D886C"/>
      </a:accent5>
      <a:accent6>
        <a:srgbClr val="253143"/>
      </a:accent6>
      <a:hlink>
        <a:srgbClr val="0F3759"/>
      </a:hlink>
      <a:folHlink>
        <a:srgbClr val="815E5E"/>
      </a:folHlink>
    </a:clrScheme>
    <a:fontScheme name="Lab Pastel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Presentation Template — Pastel</dc:title>
  <dc:subject>Reusable project slides, compositions and visual style pages</dc:subject>
  <dc:creator/>
  <cp:keywords>template, research, lab, editable, 16:9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