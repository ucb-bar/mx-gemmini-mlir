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20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20.xml" ContentType="application/vnd.openxmlformats-officedocument.presentationml.slide+xml"/>
  <Override PartName="/ppt/slides/slide23.xml" ContentType="application/vnd.openxmlformats-officedocument.presentationml.slide+xml"/>
  <Override PartName="/ppt/slides/slide3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78" r:id="rId30"/>
    <p:sldId id="275" r:id="rId27"/>
    <p:sldId id="288" r:id="rId40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 &amp; narrative" id="{AAB17009-52C5-4E37-978F-80997DFE1075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Content &amp; figures" id="{8C5BFAC1-65B7-4BE4-80DA-EA053B37B180}">
          <p14:sldIdLst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</p14:sldIdLst>
        </p14:section>
        <p14:section name="Processes &amp; architecture" id="{245ECFAE-8D81-4D3B-9024-77A055E60BE8}">
          <p14:sldIdLst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</p14:sldIdLst>
        </p14:section>
        <p14:section name="Results &amp; closing" id="{8CE93A61-643E-42A3-82CC-B2DD609D8EE7}">
          <p14:sldIdLst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</p14:sldIdLst>
        </p14:section>
        <p14:section name="Empty compositions" id="{D5C4F8FB-6E8E-4AE3-A902-1A6618D87E15}">
          <p14:sldIdLst>
            <p14:sldId id="294"/>
            <p14:sldId id="295"/>
            <p14:sldId id="296"/>
            <p14:sldId id="297"/>
          </p14:sldIdLst>
        </p14:section>
        <p14:section name="Style &amp; reusable elements" id="{712C9ADA-4E89-47F6-905E-06077D7D5852}">
          <p14:sldIdLst>
            <p14:sldId id="298"/>
            <p14:sldId id="299"/>
            <p14:sldId id="300"/>
            <p14:sldId id="301"/>
            <p14:sldId id="302"/>
            <p14:sldId id="303"/>
            <p14:sldId id="304"/>
            <p14:sldId id="305"/>
            <p14:sldId id="306"/>
            <p14:sldId id="307"/>
            <p14:sldId id="308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8" Type="http://schemas.openxmlformats.org/officeDocument/2006/relationships/notesMaster" Target="notesMasters/notesMaster1.xml"/><Relationship Id="rId27" Type="http://schemas.openxmlformats.org/officeDocument/2006/relationships/slide" Target="slides/slide20.xml"/><Relationship Id="rId30" Type="http://schemas.openxmlformats.org/officeDocument/2006/relationships/slide" Target="slides/slide23.xml"/><Relationship Id="rId40" Type="http://schemas.openxmlformats.org/officeDocument/2006/relationships/slide" Target="slides/slide3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Five-stage process</a:t>
            </a:r>
          </a:p>
          <a:p/>
          <a:p>
            <a:r>
              <a:t>Replace the sample content with your project information. Diagram roles and measurements on style pages are template conventions, not research claims.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System block diagram</a:t>
            </a:r>
          </a:p>
          <a:p/>
          <a:p>
            <a:r>
              <a:t>Replace the sample content with your project information. Diagram roles and measurements on style pages are template conventions, not research claims.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Results table</a:t>
            </a:r>
          </a:p>
          <a:p/>
          <a:p>
            <a:r>
              <a:t>Replace the sample content with your project information. Diagram roles and measurements on style pages are template conventions, not research claims.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01 — Project cover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University mark" descr="berkeley_s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8576" y="457200"/>
            <a:ext cx="914400" cy="914400"/>
          </a:xfrm>
          <a:prstGeom prst="rect">
            <a:avLst/>
          </a:prstGeom>
          <a:effectLst/>
        </p:spPr>
      </p:pic>
      <p:sp>
        <p:nvSpPr>
          <p:cNvPr id="3" name="Lab name"/>
          <p:cNvSpPr txBox="1"/>
          <p:nvPr/>
        </p:nvSpPr>
        <p:spPr>
          <a:xfrm>
            <a:off x="5660136" y="571500"/>
            <a:ext cx="1623060" cy="40005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F3759"/>
                </a:solidFill>
                <a:latin typeface="Inter"/>
              </a:rPr>
              <a:t>LAB NAME</a:t>
            </a:r>
          </a:p>
        </p:txBody>
      </p:sp>
      <p:sp>
        <p:nvSpPr>
          <p:cNvPr id="4" name="Affiliation"/>
          <p:cNvSpPr txBox="1"/>
          <p:nvPr/>
        </p:nvSpPr>
        <p:spPr>
          <a:xfrm>
            <a:off x="5660136" y="994409"/>
            <a:ext cx="162306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E2D2C"/>
                </a:solidFill>
                <a:latin typeface="Inter"/>
              </a:rPr>
              <a:t>UC BERKELEY</a:t>
            </a:r>
          </a:p>
        </p:txBody>
      </p:sp>
      <p:cxnSp>
        <p:nvCxnSpPr>
          <p:cNvPr id="5" name="Circuit decoration"/>
          <p:cNvCxnSpPr/>
          <p:nvPr/>
        </p:nvCxnSpPr>
        <p:spPr>
          <a:xfrm>
            <a:off x="537210" y="1645920"/>
            <a:ext cx="0" cy="100949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Circuit decoration"/>
          <p:cNvCxnSpPr/>
          <p:nvPr/>
        </p:nvCxnSpPr>
        <p:spPr>
          <a:xfrm flipH="1">
            <a:off x="413766" y="2655417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ircuit decoration"/>
          <p:cNvCxnSpPr/>
          <p:nvPr/>
        </p:nvCxnSpPr>
        <p:spPr>
          <a:xfrm>
            <a:off x="413766" y="2778861"/>
            <a:ext cx="0" cy="14581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ircuit decoration"/>
          <p:cNvSpPr/>
          <p:nvPr/>
        </p:nvSpPr>
        <p:spPr>
          <a:xfrm>
            <a:off x="391820" y="4215018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ircuit decoration"/>
          <p:cNvSpPr/>
          <p:nvPr/>
        </p:nvSpPr>
        <p:spPr>
          <a:xfrm>
            <a:off x="520750" y="1629460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ircuit decoration"/>
          <p:cNvCxnSpPr/>
          <p:nvPr/>
        </p:nvCxnSpPr>
        <p:spPr>
          <a:xfrm>
            <a:off x="660654" y="1797344"/>
            <a:ext cx="0" cy="112727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ircuit decoration"/>
          <p:cNvCxnSpPr/>
          <p:nvPr/>
        </p:nvCxnSpPr>
        <p:spPr>
          <a:xfrm>
            <a:off x="660654" y="2924616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ircuit decoration"/>
          <p:cNvCxnSpPr/>
          <p:nvPr/>
        </p:nvCxnSpPr>
        <p:spPr>
          <a:xfrm>
            <a:off x="784098" y="3048060"/>
            <a:ext cx="0" cy="149175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Circuit decoration"/>
          <p:cNvSpPr/>
          <p:nvPr/>
        </p:nvSpPr>
        <p:spPr>
          <a:xfrm>
            <a:off x="762152" y="4517867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" name="Circuit decoration"/>
          <p:cNvCxnSpPr/>
          <p:nvPr/>
        </p:nvCxnSpPr>
        <p:spPr>
          <a:xfrm>
            <a:off x="784098" y="1948769"/>
            <a:ext cx="0" cy="124504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ircuit decoration"/>
          <p:cNvCxnSpPr/>
          <p:nvPr/>
        </p:nvCxnSpPr>
        <p:spPr>
          <a:xfrm flipH="1">
            <a:off x="660654" y="3193816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ircuit decoration"/>
          <p:cNvCxnSpPr/>
          <p:nvPr/>
        </p:nvCxnSpPr>
        <p:spPr>
          <a:xfrm>
            <a:off x="660654" y="3317260"/>
            <a:ext cx="0" cy="15254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Circuit decoration"/>
          <p:cNvSpPr/>
          <p:nvPr/>
        </p:nvSpPr>
        <p:spPr>
          <a:xfrm>
            <a:off x="638708" y="4820716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ircuit decoration"/>
          <p:cNvSpPr/>
          <p:nvPr/>
        </p:nvSpPr>
        <p:spPr>
          <a:xfrm>
            <a:off x="767638" y="1932310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ircuit decoration"/>
          <p:cNvCxnSpPr/>
          <p:nvPr/>
        </p:nvCxnSpPr>
        <p:spPr>
          <a:xfrm>
            <a:off x="907542" y="1645920"/>
            <a:ext cx="0" cy="1817095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ircuit decoration"/>
          <p:cNvCxnSpPr/>
          <p:nvPr/>
        </p:nvCxnSpPr>
        <p:spPr>
          <a:xfrm>
            <a:off x="907542" y="3463015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ircuit decoration"/>
          <p:cNvCxnSpPr/>
          <p:nvPr/>
        </p:nvCxnSpPr>
        <p:spPr>
          <a:xfrm>
            <a:off x="1030986" y="3586459"/>
            <a:ext cx="0" cy="65050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Circuit decoration"/>
          <p:cNvSpPr/>
          <p:nvPr/>
        </p:nvSpPr>
        <p:spPr>
          <a:xfrm>
            <a:off x="1009040" y="4215018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ircuit decoration"/>
          <p:cNvCxnSpPr/>
          <p:nvPr/>
        </p:nvCxnSpPr>
        <p:spPr>
          <a:xfrm>
            <a:off x="1030986" y="1797344"/>
            <a:ext cx="0" cy="85807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Circuit decoration"/>
          <p:cNvCxnSpPr/>
          <p:nvPr/>
        </p:nvCxnSpPr>
        <p:spPr>
          <a:xfrm flipH="1">
            <a:off x="907542" y="2655417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Circuit decoration"/>
          <p:cNvCxnSpPr/>
          <p:nvPr/>
        </p:nvCxnSpPr>
        <p:spPr>
          <a:xfrm>
            <a:off x="907542" y="2778861"/>
            <a:ext cx="0" cy="176095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Circuit decoration"/>
          <p:cNvSpPr/>
          <p:nvPr/>
        </p:nvSpPr>
        <p:spPr>
          <a:xfrm>
            <a:off x="885596" y="4517867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Circuit decoration"/>
          <p:cNvSpPr/>
          <p:nvPr/>
        </p:nvSpPr>
        <p:spPr>
          <a:xfrm>
            <a:off x="1014526" y="1780885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ircuit decoration"/>
          <p:cNvCxnSpPr/>
          <p:nvPr/>
        </p:nvCxnSpPr>
        <p:spPr>
          <a:xfrm>
            <a:off x="1154430" y="1948769"/>
            <a:ext cx="0" cy="97584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ircuit decoration"/>
          <p:cNvCxnSpPr/>
          <p:nvPr/>
        </p:nvCxnSpPr>
        <p:spPr>
          <a:xfrm>
            <a:off x="1154430" y="2924616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Circuit decoration"/>
          <p:cNvCxnSpPr/>
          <p:nvPr/>
        </p:nvCxnSpPr>
        <p:spPr>
          <a:xfrm>
            <a:off x="1277874" y="3048060"/>
            <a:ext cx="0" cy="17946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Circuit decoration"/>
          <p:cNvSpPr/>
          <p:nvPr/>
        </p:nvSpPr>
        <p:spPr>
          <a:xfrm>
            <a:off x="1255928" y="4820716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2" name="Circuit decoration"/>
          <p:cNvCxnSpPr/>
          <p:nvPr/>
        </p:nvCxnSpPr>
        <p:spPr>
          <a:xfrm>
            <a:off x="1277874" y="1645920"/>
            <a:ext cx="0" cy="1547896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Circuit decoration"/>
          <p:cNvCxnSpPr/>
          <p:nvPr/>
        </p:nvCxnSpPr>
        <p:spPr>
          <a:xfrm flipH="1">
            <a:off x="1154430" y="3193816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ircuit decoration"/>
          <p:cNvCxnSpPr/>
          <p:nvPr/>
        </p:nvCxnSpPr>
        <p:spPr>
          <a:xfrm>
            <a:off x="1154430" y="3317260"/>
            <a:ext cx="0" cy="91970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Circuit decoration"/>
          <p:cNvSpPr/>
          <p:nvPr/>
        </p:nvSpPr>
        <p:spPr>
          <a:xfrm>
            <a:off x="1132484" y="4215018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Circuit decoration"/>
          <p:cNvSpPr/>
          <p:nvPr/>
        </p:nvSpPr>
        <p:spPr>
          <a:xfrm>
            <a:off x="1261414" y="1629460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7" name="Circuit decoration"/>
          <p:cNvCxnSpPr/>
          <p:nvPr/>
        </p:nvCxnSpPr>
        <p:spPr>
          <a:xfrm>
            <a:off x="1401318" y="1797344"/>
            <a:ext cx="0" cy="1665671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ircuit decoration"/>
          <p:cNvCxnSpPr/>
          <p:nvPr/>
        </p:nvCxnSpPr>
        <p:spPr>
          <a:xfrm>
            <a:off x="1401318" y="3463015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Circuit decoration"/>
          <p:cNvCxnSpPr/>
          <p:nvPr/>
        </p:nvCxnSpPr>
        <p:spPr>
          <a:xfrm>
            <a:off x="1524762" y="3586459"/>
            <a:ext cx="0" cy="95335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Circuit decoration"/>
          <p:cNvSpPr/>
          <p:nvPr/>
        </p:nvSpPr>
        <p:spPr>
          <a:xfrm>
            <a:off x="1502816" y="4517867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1" name="Circuit decoration"/>
          <p:cNvCxnSpPr/>
          <p:nvPr/>
        </p:nvCxnSpPr>
        <p:spPr>
          <a:xfrm>
            <a:off x="1524762" y="1948769"/>
            <a:ext cx="0" cy="706648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Circuit decoration"/>
          <p:cNvCxnSpPr/>
          <p:nvPr/>
        </p:nvCxnSpPr>
        <p:spPr>
          <a:xfrm flipH="1">
            <a:off x="1401318" y="2655417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Circuit decoration"/>
          <p:cNvCxnSpPr/>
          <p:nvPr/>
        </p:nvCxnSpPr>
        <p:spPr>
          <a:xfrm>
            <a:off x="1401318" y="2778861"/>
            <a:ext cx="0" cy="2063801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Circuit decoration"/>
          <p:cNvSpPr/>
          <p:nvPr/>
        </p:nvSpPr>
        <p:spPr>
          <a:xfrm>
            <a:off x="1379372" y="4820716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Circuit decoration"/>
          <p:cNvSpPr/>
          <p:nvPr/>
        </p:nvSpPr>
        <p:spPr>
          <a:xfrm>
            <a:off x="1508302" y="1932310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ircuit decoration"/>
          <p:cNvCxnSpPr/>
          <p:nvPr/>
        </p:nvCxnSpPr>
        <p:spPr>
          <a:xfrm flipV="1">
            <a:off x="11670030" y="4001414"/>
            <a:ext cx="0" cy="1009498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Circuit decoration"/>
          <p:cNvCxnSpPr/>
          <p:nvPr/>
        </p:nvCxnSpPr>
        <p:spPr>
          <a:xfrm flipV="1">
            <a:off x="11670030" y="3877970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Circuit decoration"/>
          <p:cNvCxnSpPr/>
          <p:nvPr/>
        </p:nvCxnSpPr>
        <p:spPr>
          <a:xfrm flipV="1">
            <a:off x="11793474" y="2419868"/>
            <a:ext cx="0" cy="14581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Circuit decoration"/>
          <p:cNvSpPr/>
          <p:nvPr/>
        </p:nvSpPr>
        <p:spPr>
          <a:xfrm>
            <a:off x="11771528" y="2397922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Circuit decoration"/>
          <p:cNvSpPr/>
          <p:nvPr/>
        </p:nvSpPr>
        <p:spPr>
          <a:xfrm>
            <a:off x="11653570" y="4994452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1" name="Circuit decoration"/>
          <p:cNvCxnSpPr/>
          <p:nvPr/>
        </p:nvCxnSpPr>
        <p:spPr>
          <a:xfrm flipV="1">
            <a:off x="11546586" y="3732215"/>
            <a:ext cx="0" cy="112727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Circuit decoration"/>
          <p:cNvCxnSpPr/>
          <p:nvPr/>
        </p:nvCxnSpPr>
        <p:spPr>
          <a:xfrm flipH="1" flipV="1">
            <a:off x="11423142" y="3608771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Circuit decoration"/>
          <p:cNvCxnSpPr/>
          <p:nvPr/>
        </p:nvCxnSpPr>
        <p:spPr>
          <a:xfrm flipV="1">
            <a:off x="11423142" y="2117018"/>
            <a:ext cx="0" cy="149175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Circuit decoration"/>
          <p:cNvSpPr/>
          <p:nvPr/>
        </p:nvSpPr>
        <p:spPr>
          <a:xfrm>
            <a:off x="11401196" y="2095073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5" name="Circuit decoration"/>
          <p:cNvCxnSpPr/>
          <p:nvPr/>
        </p:nvCxnSpPr>
        <p:spPr>
          <a:xfrm flipV="1">
            <a:off x="11423142" y="3463015"/>
            <a:ext cx="0" cy="124504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Circuit decoration"/>
          <p:cNvCxnSpPr/>
          <p:nvPr/>
        </p:nvCxnSpPr>
        <p:spPr>
          <a:xfrm flipV="1">
            <a:off x="11423142" y="3339571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Circuit decoration"/>
          <p:cNvCxnSpPr/>
          <p:nvPr/>
        </p:nvCxnSpPr>
        <p:spPr>
          <a:xfrm flipV="1">
            <a:off x="11546586" y="1814169"/>
            <a:ext cx="0" cy="15254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Circuit decoration"/>
          <p:cNvSpPr/>
          <p:nvPr/>
        </p:nvSpPr>
        <p:spPr>
          <a:xfrm>
            <a:off x="11524640" y="1792224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Circuit decoration"/>
          <p:cNvSpPr/>
          <p:nvPr/>
        </p:nvSpPr>
        <p:spPr>
          <a:xfrm>
            <a:off x="11406682" y="4691603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ircuit decoration"/>
          <p:cNvCxnSpPr/>
          <p:nvPr/>
        </p:nvCxnSpPr>
        <p:spPr>
          <a:xfrm flipV="1">
            <a:off x="11299698" y="3193816"/>
            <a:ext cx="0" cy="1817096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Circuit decoration"/>
          <p:cNvCxnSpPr/>
          <p:nvPr/>
        </p:nvCxnSpPr>
        <p:spPr>
          <a:xfrm flipH="1" flipV="1">
            <a:off x="11176254" y="3070372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Circuit decoration"/>
          <p:cNvCxnSpPr/>
          <p:nvPr/>
        </p:nvCxnSpPr>
        <p:spPr>
          <a:xfrm flipV="1">
            <a:off x="11176254" y="2419868"/>
            <a:ext cx="0" cy="65050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Circuit decoration"/>
          <p:cNvSpPr/>
          <p:nvPr/>
        </p:nvSpPr>
        <p:spPr>
          <a:xfrm>
            <a:off x="11154308" y="2397922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ircuit decoration"/>
          <p:cNvCxnSpPr/>
          <p:nvPr/>
        </p:nvCxnSpPr>
        <p:spPr>
          <a:xfrm flipV="1">
            <a:off x="11176254" y="4001414"/>
            <a:ext cx="0" cy="85807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Circuit decoration"/>
          <p:cNvCxnSpPr/>
          <p:nvPr/>
        </p:nvCxnSpPr>
        <p:spPr>
          <a:xfrm flipV="1">
            <a:off x="11176254" y="3877970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Circuit decoration"/>
          <p:cNvCxnSpPr/>
          <p:nvPr/>
        </p:nvCxnSpPr>
        <p:spPr>
          <a:xfrm flipV="1">
            <a:off x="11299698" y="2117018"/>
            <a:ext cx="0" cy="176095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Circuit decoration"/>
          <p:cNvSpPr/>
          <p:nvPr/>
        </p:nvSpPr>
        <p:spPr>
          <a:xfrm>
            <a:off x="11277752" y="2095073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Circuit decoration"/>
          <p:cNvSpPr/>
          <p:nvPr/>
        </p:nvSpPr>
        <p:spPr>
          <a:xfrm>
            <a:off x="11159794" y="4843028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9" name="Circuit decoration"/>
          <p:cNvCxnSpPr/>
          <p:nvPr/>
        </p:nvCxnSpPr>
        <p:spPr>
          <a:xfrm flipV="1">
            <a:off x="11052810" y="3732215"/>
            <a:ext cx="0" cy="97584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Circuit decoration"/>
          <p:cNvCxnSpPr/>
          <p:nvPr/>
        </p:nvCxnSpPr>
        <p:spPr>
          <a:xfrm flipH="1" flipV="1">
            <a:off x="10929366" y="3608771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Circuit decoration"/>
          <p:cNvCxnSpPr/>
          <p:nvPr/>
        </p:nvCxnSpPr>
        <p:spPr>
          <a:xfrm flipV="1">
            <a:off x="10929366" y="1814169"/>
            <a:ext cx="0" cy="17946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Circuit decoration"/>
          <p:cNvSpPr/>
          <p:nvPr/>
        </p:nvSpPr>
        <p:spPr>
          <a:xfrm>
            <a:off x="10907420" y="1792224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3" name="Circuit decoration"/>
          <p:cNvCxnSpPr/>
          <p:nvPr/>
        </p:nvCxnSpPr>
        <p:spPr>
          <a:xfrm flipV="1">
            <a:off x="10929366" y="3463015"/>
            <a:ext cx="0" cy="154789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Circuit decoration"/>
          <p:cNvCxnSpPr/>
          <p:nvPr/>
        </p:nvCxnSpPr>
        <p:spPr>
          <a:xfrm flipV="1">
            <a:off x="10929366" y="3339571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Circuit decoration"/>
          <p:cNvCxnSpPr/>
          <p:nvPr/>
        </p:nvCxnSpPr>
        <p:spPr>
          <a:xfrm flipV="1">
            <a:off x="11052810" y="2419868"/>
            <a:ext cx="0" cy="91970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Circuit decoration"/>
          <p:cNvSpPr/>
          <p:nvPr/>
        </p:nvSpPr>
        <p:spPr>
          <a:xfrm>
            <a:off x="11030864" y="2397922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Circuit decoration"/>
          <p:cNvSpPr/>
          <p:nvPr/>
        </p:nvSpPr>
        <p:spPr>
          <a:xfrm>
            <a:off x="10912906" y="4994452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8" name="Circuit decoration"/>
          <p:cNvCxnSpPr/>
          <p:nvPr/>
        </p:nvCxnSpPr>
        <p:spPr>
          <a:xfrm flipV="1">
            <a:off x="10805922" y="3193816"/>
            <a:ext cx="0" cy="1665671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Circuit decoration"/>
          <p:cNvCxnSpPr/>
          <p:nvPr/>
        </p:nvCxnSpPr>
        <p:spPr>
          <a:xfrm flipH="1" flipV="1">
            <a:off x="10682478" y="3070372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Circuit decoration"/>
          <p:cNvCxnSpPr/>
          <p:nvPr/>
        </p:nvCxnSpPr>
        <p:spPr>
          <a:xfrm flipV="1">
            <a:off x="10682478" y="2117018"/>
            <a:ext cx="0" cy="95335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Circuit decoration"/>
          <p:cNvSpPr/>
          <p:nvPr/>
        </p:nvSpPr>
        <p:spPr>
          <a:xfrm>
            <a:off x="10660532" y="2095073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2" name="Circuit decoration"/>
          <p:cNvCxnSpPr/>
          <p:nvPr/>
        </p:nvCxnSpPr>
        <p:spPr>
          <a:xfrm flipV="1">
            <a:off x="10682478" y="4001414"/>
            <a:ext cx="0" cy="706648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Circuit decoration"/>
          <p:cNvCxnSpPr/>
          <p:nvPr/>
        </p:nvCxnSpPr>
        <p:spPr>
          <a:xfrm flipV="1">
            <a:off x="10682478" y="3877970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Circuit decoration"/>
          <p:cNvCxnSpPr/>
          <p:nvPr/>
        </p:nvCxnSpPr>
        <p:spPr>
          <a:xfrm flipV="1">
            <a:off x="10805922" y="1814169"/>
            <a:ext cx="0" cy="2063801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Circuit decoration"/>
          <p:cNvSpPr/>
          <p:nvPr/>
        </p:nvSpPr>
        <p:spPr>
          <a:xfrm>
            <a:off x="10783976" y="1792224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Circuit decoration"/>
          <p:cNvSpPr/>
          <p:nvPr/>
        </p:nvSpPr>
        <p:spPr>
          <a:xfrm>
            <a:off x="10666018" y="4691603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 | PURPOSE"/>
          <p:cNvSpPr txBox="1"/>
          <p:nvPr/>
        </p:nvSpPr>
        <p:spPr>
          <a:xfrm>
            <a:off x="685800" y="676656"/>
            <a:ext cx="2176272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E2D2C"/>
                </a:solidFill>
                <a:latin typeface="DM Serif Display"/>
              </a:rPr>
              <a:t>PURPOSE</a:t>
            </a:r>
          </a:p>
        </p:txBody>
      </p:sp>
      <p:sp>
        <p:nvSpPr>
          <p:cNvPr id="88" name="PH|body|Talk / meeting"/>
          <p:cNvSpPr txBox="1"/>
          <p:nvPr>
            <p:ph type="body" idx="1"/>
          </p:nvPr>
        </p:nvSpPr>
        <p:spPr>
          <a:xfrm>
            <a:off x="685800" y="1033271"/>
            <a:ext cx="2176272" cy="30175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Talk / meeting</a:t>
            </a:r>
          </a:p>
        </p:txBody>
      </p:sp>
      <p:sp>
        <p:nvSpPr>
          <p:cNvPr id="89" name="Text | DATE"/>
          <p:cNvSpPr txBox="1"/>
          <p:nvPr/>
        </p:nvSpPr>
        <p:spPr>
          <a:xfrm>
            <a:off x="9326880" y="676656"/>
            <a:ext cx="2176272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E2D2C"/>
                </a:solidFill>
                <a:latin typeface="DM Serif Display"/>
              </a:rPr>
              <a:t>DATE</a:t>
            </a:r>
          </a:p>
        </p:txBody>
      </p:sp>
      <p:sp>
        <p:nvSpPr>
          <p:cNvPr id="90" name="PH|body|Date"/>
          <p:cNvSpPr txBox="1"/>
          <p:nvPr>
            <p:ph type="body" idx="2"/>
          </p:nvPr>
        </p:nvSpPr>
        <p:spPr>
          <a:xfrm>
            <a:off x="9326880" y="1033271"/>
            <a:ext cx="2176272" cy="30175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Date</a:t>
            </a:r>
          </a:p>
        </p:txBody>
      </p:sp>
      <p:sp>
        <p:nvSpPr>
          <p:cNvPr id="91" name="Text | PROJECT PART OF"/>
          <p:cNvSpPr txBox="1"/>
          <p:nvPr/>
        </p:nvSpPr>
        <p:spPr>
          <a:xfrm>
            <a:off x="685800" y="5724144"/>
            <a:ext cx="3017520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E2D2C"/>
                </a:solidFill>
                <a:latin typeface="DM Serif Display"/>
              </a:rPr>
              <a:t>PROJECT PART OF</a:t>
            </a:r>
          </a:p>
        </p:txBody>
      </p:sp>
      <p:sp>
        <p:nvSpPr>
          <p:cNvPr id="92" name="PH|body|Lab / institution"/>
          <p:cNvSpPr txBox="1"/>
          <p:nvPr>
            <p:ph type="body" idx="3"/>
          </p:nvPr>
        </p:nvSpPr>
        <p:spPr>
          <a:xfrm>
            <a:off x="685800" y="6080759"/>
            <a:ext cx="3017520" cy="30175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Lab / institution</a:t>
            </a:r>
          </a:p>
        </p:txBody>
      </p:sp>
      <p:sp>
        <p:nvSpPr>
          <p:cNvPr id="93" name="Text | PRESENTED BY"/>
          <p:cNvSpPr txBox="1"/>
          <p:nvPr/>
        </p:nvSpPr>
        <p:spPr>
          <a:xfrm>
            <a:off x="8412480" y="5724144"/>
            <a:ext cx="3017520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E2D2C"/>
                </a:solidFill>
                <a:latin typeface="DM Serif Display"/>
              </a:rPr>
              <a:t>PRESENTED BY</a:t>
            </a:r>
          </a:p>
        </p:txBody>
      </p:sp>
      <p:sp>
        <p:nvSpPr>
          <p:cNvPr id="94" name="PH|body|Presenter"/>
          <p:cNvSpPr txBox="1"/>
          <p:nvPr>
            <p:ph type="body" idx="4"/>
          </p:nvPr>
        </p:nvSpPr>
        <p:spPr>
          <a:xfrm>
            <a:off x="8412480" y="6080759"/>
            <a:ext cx="3017520" cy="30175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Presenter</a:t>
            </a:r>
          </a:p>
        </p:txBody>
      </p:sp>
      <p:sp>
        <p:nvSpPr>
          <p:cNvPr id="95" name="PH|title|Project name"/>
          <p:cNvSpPr txBox="1"/>
          <p:nvPr>
            <p:ph type="title" idx="0"/>
          </p:nvPr>
        </p:nvSpPr>
        <p:spPr>
          <a:xfrm>
            <a:off x="2194560" y="1920240"/>
            <a:ext cx="7799831" cy="113385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1pPr>
            <a:lvl2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2pPr>
            <a:lvl3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3pPr>
            <a:lvl4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4pPr>
            <a:lvl5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5pPr>
            <a:lvl6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6pPr>
            <a:lvl7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7pPr>
            <a:lvl8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8pPr>
            <a:lvl9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5000" b="1">
                <a:solidFill>
                  <a:srgbClr val="333351"/>
                </a:solidFill>
                <a:latin typeface="DM Serif Display"/>
              </a:defRPr>
            </a:pPr>
            <a:r>
              <a:rPr sz="5000" b="1">
                <a:solidFill>
                  <a:srgbClr val="333351"/>
                </a:solidFill>
                <a:latin typeface="DM Serif Display"/>
              </a:rPr>
              <a:t>Project name</a:t>
            </a:r>
          </a:p>
        </p:txBody>
      </p:sp>
      <p:sp>
        <p:nvSpPr>
          <p:cNvPr id="96" name="PH|body|Presentation title / subtitle"/>
          <p:cNvSpPr txBox="1"/>
          <p:nvPr>
            <p:ph type="body" idx="5"/>
          </p:nvPr>
        </p:nvSpPr>
        <p:spPr>
          <a:xfrm>
            <a:off x="2286000" y="3264408"/>
            <a:ext cx="7616952" cy="94183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1pPr>
            <a:lvl2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2pPr>
            <a:lvl3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3pPr>
            <a:lvl4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4pPr>
            <a:lvl5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5pPr>
            <a:lvl6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6pPr>
            <a:lvl7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7pPr>
            <a:lvl8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8pPr>
            <a:lvl9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>Presentation title / subtitle</a:t>
            </a:r>
          </a:p>
        </p:txBody>
      </p:sp>
      <p:sp>
        <p:nvSpPr>
          <p:cNvPr id="97" name="PH|body|Authors / collaborators"/>
          <p:cNvSpPr txBox="1"/>
          <p:nvPr>
            <p:ph type="body" idx="6"/>
          </p:nvPr>
        </p:nvSpPr>
        <p:spPr>
          <a:xfrm>
            <a:off x="2743200" y="4553712"/>
            <a:ext cx="6702552" cy="95097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Authors / collaborators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2 — Project information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Project image"/>
          <p:cNvSpPr txBox="1"/>
          <p:nvPr>
            <p:ph type="pic" idx="1"/>
          </p:nvPr>
        </p:nvSpPr>
        <p:spPr>
          <a:xfrm>
            <a:off x="868680" y="1536192"/>
            <a:ext cx="3337560" cy="3355848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Project image</a:t>
            </a:r>
          </a:p>
        </p:txBody>
      </p:sp>
      <p:sp>
        <p:nvSpPr>
          <p:cNvPr id="4" name="PH|body|Project name&#10;&#10;Description&#10;&#10;Leads / affiliation / resources"/>
          <p:cNvSpPr txBox="1"/>
          <p:nvPr>
            <p:ph type="body" idx="2"/>
          </p:nvPr>
        </p:nvSpPr>
        <p:spPr>
          <a:xfrm>
            <a:off x="4700016" y="1645920"/>
            <a:ext cx="6583680" cy="40233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>Project name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>Description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>Leads / affiliation / resources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03 — Section divider">
    <p:bg>
      <p:bgPr>
        <a:solidFill>
          <a:srgbClr val="2531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ection title"/>
          <p:cNvSpPr txBox="1"/>
          <p:nvPr>
            <p:ph type="title" idx="0"/>
          </p:nvPr>
        </p:nvSpPr>
        <p:spPr>
          <a:xfrm>
            <a:off x="768096" y="2011680"/>
            <a:ext cx="10058400" cy="24231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1pPr>
            <a:lvl2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2pPr>
            <a:lvl3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3pPr>
            <a:lvl4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4pPr>
            <a:lvl5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5pPr>
            <a:lvl6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6pPr>
            <a:lvl7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7pPr>
            <a:lvl8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8pPr>
            <a:lvl9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6400" b="1">
                <a:solidFill>
                  <a:srgbClr val="FDF7EF"/>
                </a:solidFill>
                <a:latin typeface="DM Serif Display"/>
              </a:defRPr>
            </a:pPr>
            <a:r>
              <a:rPr sz="6400" b="1">
                <a:solidFill>
                  <a:srgbClr val="FDF7EF"/>
                </a:solidFill>
                <a:latin typeface="DM Serif Display"/>
              </a:rPr>
              <a:t>Section title</a:t>
            </a:r>
          </a:p>
        </p:txBody>
      </p:sp>
      <p:sp>
        <p:nvSpPr>
          <p:cNvPr id="3" name="PH|body|Section subtitle"/>
          <p:cNvSpPr txBox="1"/>
          <p:nvPr>
            <p:ph type="body" idx="1"/>
          </p:nvPr>
        </p:nvSpPr>
        <p:spPr>
          <a:xfrm>
            <a:off x="804672" y="4983480"/>
            <a:ext cx="9921240" cy="76809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1pPr>
            <a:lvl2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2pPr>
            <a:lvl3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3pPr>
            <a:lvl4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4pPr>
            <a:lvl5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5pPr>
            <a:lvl6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6pPr>
            <a:lvl7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7pPr>
            <a:lvl8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8pPr>
            <a:lvl9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300" b="0">
                <a:solidFill>
                  <a:srgbClr val="FDF7EF"/>
                </a:solidFill>
                <a:latin typeface="Inter"/>
              </a:defRPr>
            </a:pPr>
            <a:r>
              <a:rPr sz="2300" b="0">
                <a:solidFill>
                  <a:srgbClr val="FDF7EF"/>
                </a:solidFill>
                <a:latin typeface="Inter"/>
              </a:rPr>
              <a:t>Section subtitle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4 — Title and text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Add your text"/>
          <p:cNvSpPr txBox="1"/>
          <p:nvPr>
            <p:ph type="body" idx="1"/>
          </p:nvPr>
        </p:nvSpPr>
        <p:spPr>
          <a:xfrm>
            <a:off x="1051560" y="1682496"/>
            <a:ext cx="10012680" cy="428853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300" b="0">
                <a:solidFill>
                  <a:srgbClr val="2E2D2C"/>
                </a:solidFill>
                <a:latin typeface="Inter"/>
              </a:defRPr>
            </a:pPr>
            <a:r>
              <a:rPr sz="2300" b="0">
                <a:solidFill>
                  <a:srgbClr val="2E2D2C"/>
                </a:solidFill>
                <a:latin typeface="Inter"/>
              </a:rPr>
              <a:t>Add your text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5 — Text and figure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Add text"/>
          <p:cNvSpPr txBox="1"/>
          <p:nvPr>
            <p:ph type="body" idx="1"/>
          </p:nvPr>
        </p:nvSpPr>
        <p:spPr>
          <a:xfrm>
            <a:off x="868680" y="1664208"/>
            <a:ext cx="3867912" cy="3977639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4" name="PH|pic|Add figure"/>
          <p:cNvSpPr txBox="1"/>
          <p:nvPr>
            <p:ph type="pic" idx="2"/>
          </p:nvPr>
        </p:nvSpPr>
        <p:spPr>
          <a:xfrm>
            <a:off x="5065776" y="1554480"/>
            <a:ext cx="6254496" cy="4069080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Add figure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6 — Figure and text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Add figure"/>
          <p:cNvSpPr txBox="1"/>
          <p:nvPr>
            <p:ph type="pic" idx="1"/>
          </p:nvPr>
        </p:nvSpPr>
        <p:spPr>
          <a:xfrm>
            <a:off x="850392" y="1554480"/>
            <a:ext cx="6254496" cy="4069080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Add figure</a:t>
            </a:r>
          </a:p>
        </p:txBody>
      </p:sp>
      <p:sp>
        <p:nvSpPr>
          <p:cNvPr id="4" name="PH|body|Add text"/>
          <p:cNvSpPr txBox="1"/>
          <p:nvPr>
            <p:ph type="body" idx="2"/>
          </p:nvPr>
        </p:nvSpPr>
        <p:spPr>
          <a:xfrm>
            <a:off x="7644383" y="1664208"/>
            <a:ext cx="3675887" cy="3977639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7 — Two figure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Figure A"/>
          <p:cNvSpPr txBox="1"/>
          <p:nvPr>
            <p:ph type="pic" idx="1"/>
          </p:nvPr>
        </p:nvSpPr>
        <p:spPr>
          <a:xfrm>
            <a:off x="850392" y="2084831"/>
            <a:ext cx="5093208" cy="3136392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Figure A</a:t>
            </a:r>
          </a:p>
        </p:txBody>
      </p:sp>
      <p:sp>
        <p:nvSpPr>
          <p:cNvPr id="4" name="PH|pic|Figure B"/>
          <p:cNvSpPr txBox="1"/>
          <p:nvPr>
            <p:ph type="pic" idx="2"/>
          </p:nvPr>
        </p:nvSpPr>
        <p:spPr>
          <a:xfrm>
            <a:off x="6245352" y="2084831"/>
            <a:ext cx="5093208" cy="3136392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Figure B</a:t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8 — Full-width figure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Add figure"/>
          <p:cNvSpPr txBox="1"/>
          <p:nvPr>
            <p:ph type="pic" idx="1"/>
          </p:nvPr>
        </p:nvSpPr>
        <p:spPr>
          <a:xfrm>
            <a:off x="850392" y="1554480"/>
            <a:ext cx="10488168" cy="4041648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Add figure</a:t>
            </a:r>
          </a:p>
        </p:txBody>
      </p:sp>
      <p:sp>
        <p:nvSpPr>
          <p:cNvPr id="4" name="PH|body|Caption / source"/>
          <p:cNvSpPr txBox="1"/>
          <p:nvPr>
            <p:ph type="body" idx="2"/>
          </p:nvPr>
        </p:nvSpPr>
        <p:spPr>
          <a:xfrm>
            <a:off x="868680" y="5788152"/>
            <a:ext cx="10451592" cy="28346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Caption / source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9 — Two column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Heading&#10;&#10;Add text"/>
          <p:cNvSpPr txBox="1"/>
          <p:nvPr>
            <p:ph type="body" idx="1"/>
          </p:nvPr>
        </p:nvSpPr>
        <p:spPr>
          <a:xfrm>
            <a:off x="886968" y="1691640"/>
            <a:ext cx="5010912" cy="40233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4" name="PH|body|Heading&#10;&#10;Add text"/>
          <p:cNvSpPr txBox="1"/>
          <p:nvPr>
            <p:ph type="body" idx="2"/>
          </p:nvPr>
        </p:nvSpPr>
        <p:spPr>
          <a:xfrm>
            <a:off x="6300216" y="1691640"/>
            <a:ext cx="5010912" cy="40233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0 — Three column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Heading&#10;&#10;Add text"/>
          <p:cNvSpPr txBox="1"/>
          <p:nvPr>
            <p:ph type="body" idx="1"/>
          </p:nvPr>
        </p:nvSpPr>
        <p:spPr>
          <a:xfrm>
            <a:off x="877824" y="1691640"/>
            <a:ext cx="3218688" cy="400507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4" name="PH|body|Heading&#10;&#10;Add text"/>
          <p:cNvSpPr txBox="1"/>
          <p:nvPr>
            <p:ph type="body" idx="2"/>
          </p:nvPr>
        </p:nvSpPr>
        <p:spPr>
          <a:xfrm>
            <a:off x="4489704" y="1691640"/>
            <a:ext cx="3218688" cy="400507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5" name="PH|body|Heading&#10;&#10;Add text"/>
          <p:cNvSpPr txBox="1"/>
          <p:nvPr>
            <p:ph type="body" idx="3"/>
          </p:nvPr>
        </p:nvSpPr>
        <p:spPr>
          <a:xfrm>
            <a:off x="8101583" y="1691640"/>
            <a:ext cx="3218688" cy="400507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1 — Four panel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Heading&#10;&#10;Add text"/>
          <p:cNvSpPr txBox="1"/>
          <p:nvPr>
            <p:ph type="body" idx="1"/>
          </p:nvPr>
        </p:nvSpPr>
        <p:spPr>
          <a:xfrm>
            <a:off x="886968" y="1719072"/>
            <a:ext cx="5010912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4" name="PH|body|Heading&#10;&#10;Add text"/>
          <p:cNvSpPr txBox="1"/>
          <p:nvPr>
            <p:ph type="body" idx="2"/>
          </p:nvPr>
        </p:nvSpPr>
        <p:spPr>
          <a:xfrm>
            <a:off x="6263640" y="1719072"/>
            <a:ext cx="5010912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5" name="PH|body|Heading&#10;&#10;Add text"/>
          <p:cNvSpPr txBox="1"/>
          <p:nvPr>
            <p:ph type="body" idx="3"/>
          </p:nvPr>
        </p:nvSpPr>
        <p:spPr>
          <a:xfrm>
            <a:off x="886968" y="3867912"/>
            <a:ext cx="5010912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6" name="PH|body|Heading&#10;&#10;Add text"/>
          <p:cNvSpPr txBox="1"/>
          <p:nvPr>
            <p:ph type="body" idx="4"/>
          </p:nvPr>
        </p:nvSpPr>
        <p:spPr>
          <a:xfrm>
            <a:off x="6263640" y="3867912"/>
            <a:ext cx="5010912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2 — Six panel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Heading&#10;&#10;Add text"/>
          <p:cNvSpPr txBox="1"/>
          <p:nvPr>
            <p:ph type="body" idx="1"/>
          </p:nvPr>
        </p:nvSpPr>
        <p:spPr>
          <a:xfrm>
            <a:off x="886968" y="171907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4" name="PH|body|Heading&#10;&#10;Add text"/>
          <p:cNvSpPr txBox="1"/>
          <p:nvPr>
            <p:ph type="body" idx="2"/>
          </p:nvPr>
        </p:nvSpPr>
        <p:spPr>
          <a:xfrm>
            <a:off x="4489704" y="171907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5" name="PH|body|Heading&#10;&#10;Add text"/>
          <p:cNvSpPr txBox="1"/>
          <p:nvPr>
            <p:ph type="body" idx="3"/>
          </p:nvPr>
        </p:nvSpPr>
        <p:spPr>
          <a:xfrm>
            <a:off x="8092440" y="171907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6" name="PH|body|Heading&#10;&#10;Add text"/>
          <p:cNvSpPr txBox="1"/>
          <p:nvPr>
            <p:ph type="body" idx="4"/>
          </p:nvPr>
        </p:nvSpPr>
        <p:spPr>
          <a:xfrm>
            <a:off x="886968" y="386791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7" name="PH|body|Heading&#10;&#10;Add text"/>
          <p:cNvSpPr txBox="1"/>
          <p:nvPr>
            <p:ph type="body" idx="5"/>
          </p:nvPr>
        </p:nvSpPr>
        <p:spPr>
          <a:xfrm>
            <a:off x="4489704" y="386791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8" name="PH|body|Heading&#10;&#10;Add text"/>
          <p:cNvSpPr txBox="1"/>
          <p:nvPr>
            <p:ph type="body" idx="6"/>
          </p:nvPr>
        </p:nvSpPr>
        <p:spPr>
          <a:xfrm>
            <a:off x="8092440" y="386791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3 — Chart and note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chart|Insert chart"/>
          <p:cNvSpPr txBox="1"/>
          <p:nvPr>
            <p:ph type="chart" idx="1"/>
          </p:nvPr>
        </p:nvSpPr>
        <p:spPr>
          <a:xfrm>
            <a:off x="877824" y="1801368"/>
            <a:ext cx="7242048" cy="385876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Insert chart</a:t>
            </a:r>
          </a:p>
        </p:txBody>
      </p:sp>
      <p:sp>
        <p:nvSpPr>
          <p:cNvPr id="4" name="PH|body|Observation&#10;&#10;Context / conditions"/>
          <p:cNvSpPr txBox="1"/>
          <p:nvPr>
            <p:ph type="body" idx="2"/>
          </p:nvPr>
        </p:nvSpPr>
        <p:spPr>
          <a:xfrm>
            <a:off x="8540496" y="1975104"/>
            <a:ext cx="2779776" cy="3611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Observation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Context / conditions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4 — Full table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tbl|Insert table"/>
          <p:cNvSpPr txBox="1"/>
          <p:nvPr>
            <p:ph type="tbl" idx="1"/>
          </p:nvPr>
        </p:nvSpPr>
        <p:spPr>
          <a:xfrm>
            <a:off x="877824" y="1728216"/>
            <a:ext cx="10442448" cy="382219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Insert table</a:t>
            </a:r>
          </a:p>
        </p:txBody>
      </p:sp>
      <p:sp>
        <p:nvSpPr>
          <p:cNvPr id="4" name="PH|body|Units / conditions / source"/>
          <p:cNvSpPr txBox="1"/>
          <p:nvPr>
            <p:ph type="body" idx="2"/>
          </p:nvPr>
        </p:nvSpPr>
        <p:spPr>
          <a:xfrm>
            <a:off x="877824" y="5751576"/>
            <a:ext cx="10442448" cy="28346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Units / conditions / source</a:t>
            </a: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5 — Code and note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Code / pseudocode"/>
          <p:cNvSpPr txBox="1"/>
          <p:nvPr>
            <p:ph type="body" idx="1"/>
          </p:nvPr>
        </p:nvSpPr>
        <p:spPr>
          <a:xfrm>
            <a:off x="1115568" y="2011680"/>
            <a:ext cx="5897880" cy="336499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Code / pseudocode</a:t>
            </a:r>
          </a:p>
        </p:txBody>
      </p:sp>
      <p:sp>
        <p:nvSpPr>
          <p:cNvPr id="4" name="PH|body|Explanation"/>
          <p:cNvSpPr txBox="1"/>
          <p:nvPr>
            <p:ph type="body" idx="2"/>
          </p:nvPr>
        </p:nvSpPr>
        <p:spPr>
          <a:xfrm>
            <a:off x="7927848" y="2011680"/>
            <a:ext cx="3374136" cy="357530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Explanation</a:t>
            </a: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6 — Team profile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Photo"/>
          <p:cNvSpPr txBox="1"/>
          <p:nvPr>
            <p:ph type="pic" idx="1"/>
          </p:nvPr>
        </p:nvSpPr>
        <p:spPr>
          <a:xfrm>
            <a:off x="932688" y="1572768"/>
            <a:ext cx="3172968" cy="2606040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Photo</a:t>
            </a:r>
          </a:p>
        </p:txBody>
      </p:sp>
      <p:sp>
        <p:nvSpPr>
          <p:cNvPr id="4" name="PH|pic|Photo"/>
          <p:cNvSpPr txBox="1"/>
          <p:nvPr>
            <p:ph type="pic" idx="2"/>
          </p:nvPr>
        </p:nvSpPr>
        <p:spPr>
          <a:xfrm>
            <a:off x="4517136" y="1572768"/>
            <a:ext cx="3172968" cy="2606040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Photo</a:t>
            </a:r>
          </a:p>
        </p:txBody>
      </p:sp>
      <p:sp>
        <p:nvSpPr>
          <p:cNvPr id="5" name="PH|pic|Photo"/>
          <p:cNvSpPr txBox="1"/>
          <p:nvPr>
            <p:ph type="pic" idx="3"/>
          </p:nvPr>
        </p:nvSpPr>
        <p:spPr>
          <a:xfrm>
            <a:off x="8101583" y="1572768"/>
            <a:ext cx="3172968" cy="2606040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Photo</a:t>
            </a:r>
          </a:p>
        </p:txBody>
      </p:sp>
      <p:sp>
        <p:nvSpPr>
          <p:cNvPr id="6" name="PH|body|Name&#10;Role / affiliation"/>
          <p:cNvSpPr txBox="1"/>
          <p:nvPr>
            <p:ph type="body" idx="4"/>
          </p:nvPr>
        </p:nvSpPr>
        <p:spPr>
          <a:xfrm>
            <a:off x="932688" y="4535424"/>
            <a:ext cx="3154680" cy="108813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Name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Role / affiliation</a:t>
            </a:r>
          </a:p>
        </p:txBody>
      </p:sp>
      <p:sp>
        <p:nvSpPr>
          <p:cNvPr id="7" name="PH|body|Name&#10;Role / affiliation"/>
          <p:cNvSpPr txBox="1"/>
          <p:nvPr>
            <p:ph type="body" idx="5"/>
          </p:nvPr>
        </p:nvSpPr>
        <p:spPr>
          <a:xfrm>
            <a:off x="4517136" y="4535424"/>
            <a:ext cx="3154680" cy="108813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Name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Role / affiliation</a:t>
            </a:r>
          </a:p>
        </p:txBody>
      </p:sp>
      <p:sp>
        <p:nvSpPr>
          <p:cNvPr id="8" name="PH|body|Name&#10;Role / affiliation"/>
          <p:cNvSpPr txBox="1"/>
          <p:nvPr>
            <p:ph type="body" idx="6"/>
          </p:nvPr>
        </p:nvSpPr>
        <p:spPr>
          <a:xfrm>
            <a:off x="8101583" y="4535424"/>
            <a:ext cx="3154680" cy="108813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Name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Role / affiliation</a:t>
            </a: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7 — Title canva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8 — Empty canvas with frame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9 — Image collage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Image A"/>
          <p:cNvSpPr txBox="1"/>
          <p:nvPr>
            <p:ph type="pic" idx="1"/>
          </p:nvPr>
        </p:nvSpPr>
        <p:spPr>
          <a:xfrm>
            <a:off x="859536" y="1572768"/>
            <a:ext cx="3035808" cy="1984248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Image A</a:t>
            </a:r>
          </a:p>
        </p:txBody>
      </p:sp>
      <p:sp>
        <p:nvSpPr>
          <p:cNvPr id="4" name="PH|pic|Image B"/>
          <p:cNvSpPr txBox="1"/>
          <p:nvPr>
            <p:ph type="pic" idx="2"/>
          </p:nvPr>
        </p:nvSpPr>
        <p:spPr>
          <a:xfrm>
            <a:off x="4096512" y="1572768"/>
            <a:ext cx="3035808" cy="1984248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Image B</a:t>
            </a:r>
          </a:p>
        </p:txBody>
      </p:sp>
      <p:sp>
        <p:nvSpPr>
          <p:cNvPr id="5" name="PH|pic|Image C"/>
          <p:cNvSpPr txBox="1"/>
          <p:nvPr>
            <p:ph type="pic" idx="3"/>
          </p:nvPr>
        </p:nvSpPr>
        <p:spPr>
          <a:xfrm>
            <a:off x="859536" y="3749039"/>
            <a:ext cx="6272784" cy="1911095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Image C</a:t>
            </a:r>
          </a:p>
        </p:txBody>
      </p:sp>
      <p:sp>
        <p:nvSpPr>
          <p:cNvPr id="6" name="PH|body|Heading&#10;&#10;Add text"/>
          <p:cNvSpPr txBox="1"/>
          <p:nvPr>
            <p:ph type="body" idx="4"/>
          </p:nvPr>
        </p:nvSpPr>
        <p:spPr>
          <a:xfrm>
            <a:off x="7635240" y="1700784"/>
            <a:ext cx="3657600" cy="398678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20 — Two image crop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Wide crop"/>
          <p:cNvSpPr txBox="1"/>
          <p:nvPr>
            <p:ph type="pic" idx="1"/>
          </p:nvPr>
        </p:nvSpPr>
        <p:spPr>
          <a:xfrm>
            <a:off x="896112" y="1600200"/>
            <a:ext cx="3685032" cy="3182112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Wide crop</a:t>
            </a:r>
          </a:p>
        </p:txBody>
      </p:sp>
      <p:sp>
        <p:nvSpPr>
          <p:cNvPr id="4" name="PH|pic|Portrait crop"/>
          <p:cNvSpPr txBox="1"/>
          <p:nvPr>
            <p:ph type="pic" idx="2"/>
          </p:nvPr>
        </p:nvSpPr>
        <p:spPr>
          <a:xfrm>
            <a:off x="4864608" y="1600200"/>
            <a:ext cx="2743200" cy="3182112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Portrait crop</a:t>
            </a:r>
          </a:p>
        </p:txBody>
      </p:sp>
      <p:sp>
        <p:nvSpPr>
          <p:cNvPr id="5" name="PH|body|Heading&#10;&#10;Add text"/>
          <p:cNvSpPr txBox="1"/>
          <p:nvPr>
            <p:ph type="body" idx="3"/>
          </p:nvPr>
        </p:nvSpPr>
        <p:spPr>
          <a:xfrm>
            <a:off x="8138160" y="1783080"/>
            <a:ext cx="3145536" cy="351129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Frame12" Type="http://schemas.openxmlformats.org/officeDocument/2006/relationships/image" Target="../media/image1.png"/><Relationship Id="rIdLayout1" Type="http://schemas.openxmlformats.org/officeDocument/2006/relationships/slideLayout" Target="../slideLayouts/slideLayout1.xml"/><Relationship Id="rIdLayout10" Type="http://schemas.openxmlformats.org/officeDocument/2006/relationships/slideLayout" Target="../slideLayouts/slideLayout10.xml"/><Relationship Id="rIdLayout11" Type="http://schemas.openxmlformats.org/officeDocument/2006/relationships/slideLayout" Target="../slideLayouts/slideLayout11.xml"/><Relationship Id="rIdLayout12" Type="http://schemas.openxmlformats.org/officeDocument/2006/relationships/slideLayout" Target="../slideLayouts/slideLayout12.xml"/><Relationship Id="rIdLayout13" Type="http://schemas.openxmlformats.org/officeDocument/2006/relationships/slideLayout" Target="../slideLayouts/slideLayout13.xml"/><Relationship Id="rIdLayout14" Type="http://schemas.openxmlformats.org/officeDocument/2006/relationships/slideLayout" Target="../slideLayouts/slideLayout14.xml"/><Relationship Id="rIdLayout15" Type="http://schemas.openxmlformats.org/officeDocument/2006/relationships/slideLayout" Target="../slideLayouts/slideLayout15.xml"/><Relationship Id="rIdLayout16" Type="http://schemas.openxmlformats.org/officeDocument/2006/relationships/slideLayout" Target="../slideLayouts/slideLayout16.xml"/><Relationship Id="rIdLayout17" Type="http://schemas.openxmlformats.org/officeDocument/2006/relationships/slideLayout" Target="../slideLayouts/slideLayout17.xml"/><Relationship Id="rIdLayout18" Type="http://schemas.openxmlformats.org/officeDocument/2006/relationships/slideLayout" Target="../slideLayouts/slideLayout18.xml"/><Relationship Id="rIdLayout19" Type="http://schemas.openxmlformats.org/officeDocument/2006/relationships/slideLayout" Target="../slideLayouts/slideLayout19.xml"/><Relationship Id="rIdLayout2" Type="http://schemas.openxmlformats.org/officeDocument/2006/relationships/slideLayout" Target="../slideLayouts/slideLayout2.xml"/><Relationship Id="rIdLayout20" Type="http://schemas.openxmlformats.org/officeDocument/2006/relationships/slideLayout" Target="../slideLayouts/slideLayout20.xml"/><Relationship Id="rIdLayout3" Type="http://schemas.openxmlformats.org/officeDocument/2006/relationships/slideLayout" Target="../slideLayouts/slideLayout3.xml"/><Relationship Id="rIdLayout4" Type="http://schemas.openxmlformats.org/officeDocument/2006/relationships/slideLayout" Target="../slideLayouts/slideLayout4.xml"/><Relationship Id="rIdLayout5" Type="http://schemas.openxmlformats.org/officeDocument/2006/relationships/slideLayout" Target="../slideLayouts/slideLayout5.xml"/><Relationship Id="rIdLayout6" Type="http://schemas.openxmlformats.org/officeDocument/2006/relationships/slideLayout" Target="../slideLayouts/slideLayout6.xml"/><Relationship Id="rIdLayout7" Type="http://schemas.openxmlformats.org/officeDocument/2006/relationships/slideLayout" Target="../slideLayouts/slideLayout7.xml"/><Relationship Id="rIdLayout8" Type="http://schemas.openxmlformats.org/officeDocument/2006/relationships/slideLayout" Target="../slideLayouts/slideLayout8.xml"/><Relationship Id="rIdLayout9" Type="http://schemas.openxmlformats.org/officeDocument/2006/relationships/slideLayout" Target="../slideLayouts/slideLayout9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FRAME | University mark" descr="berkeley_seal.png"/>
          <p:cNvPicPr>
            <a:picLocks noChangeAspect="1"/>
          </p:cNvPicPr>
          <p:nvPr/>
        </p:nvPicPr>
        <p:blipFill>
          <a:blip r:embed="rIdFrame12"/>
          <a:stretch>
            <a:fillRect/>
          </a:stretch>
        </p:blipFill>
        <p:spPr>
          <a:xfrm>
            <a:off x="457200" y="274320"/>
            <a:ext cx="731520" cy="731520"/>
          </a:xfrm>
          <a:prstGeom prst="rect">
            <a:avLst/>
          </a:prstGeom>
          <a:effectLst/>
        </p:spPr>
      </p:pic>
      <p:sp>
        <p:nvSpPr>
          <p:cNvPr id="3" name="FRAME | Lab name"/>
          <p:cNvSpPr txBox="1"/>
          <p:nvPr/>
        </p:nvSpPr>
        <p:spPr>
          <a:xfrm>
            <a:off x="1298448" y="365760"/>
            <a:ext cx="1298448" cy="32004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03552"/>
                </a:solidFill>
                <a:latin typeface="Inter"/>
              </a:rPr>
              <a:t>BAR LAB</a:t>
            </a:r>
          </a:p>
        </p:txBody>
      </p:sp>
      <p:sp>
        <p:nvSpPr>
          <p:cNvPr id="4" name="FRAME | Affiliation"/>
          <p:cNvSpPr txBox="1"/>
          <p:nvPr/>
        </p:nvSpPr>
        <p:spPr>
          <a:xfrm>
            <a:off x="1298448" y="704088"/>
            <a:ext cx="1298448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2E2D2C"/>
                </a:solidFill>
                <a:latin typeface="Inter"/>
              </a:rPr>
              <a:t>UC BERKELEY</a:t>
            </a:r>
          </a:p>
        </p:txBody>
      </p:sp>
      <p:cxnSp>
        <p:nvCxnSpPr>
          <p:cNvPr id="5" name="FRAME | Title rule"/>
          <p:cNvCxnSpPr/>
          <p:nvPr/>
        </p:nvCxnSpPr>
        <p:spPr>
          <a:xfrm>
            <a:off x="4928616" y="978408"/>
            <a:ext cx="2331720" cy="0"/>
          </a:xfrm>
          <a:prstGeom prst="line">
            <a:avLst/>
          </a:prstGeom>
          <a:ln w="26670">
            <a:solidFill>
              <a:srgbClr val="AB9A8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FRAME | Purpose label"/>
          <p:cNvSpPr txBox="1"/>
          <p:nvPr/>
        </p:nvSpPr>
        <p:spPr>
          <a:xfrm>
            <a:off x="9966960" y="438912"/>
            <a:ext cx="173736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313455"/>
                </a:solidFill>
                <a:latin typeface="Inter"/>
              </a:rPr>
              <a:t>PROGRAM</a:t>
            </a:r>
          </a:p>
        </p:txBody>
      </p:sp>
      <p:sp>
        <p:nvSpPr>
          <p:cNvPr id="7" name="FRAME | Purpose value"/>
          <p:cNvSpPr txBox="1"/>
          <p:nvPr/>
        </p:nvSpPr>
        <p:spPr>
          <a:xfrm>
            <a:off x="9509760" y="694944"/>
            <a:ext cx="219456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313455"/>
                </a:solidFill>
                <a:latin typeface="Inter"/>
              </a:rPr>
              <a:t>MX GEMMINI + VPU</a:t>
            </a:r>
          </a:p>
        </p:txBody>
      </p:sp>
      <p:sp>
        <p:nvSpPr>
          <p:cNvPr id="8" name="FRAME | Arrow pill"/>
          <p:cNvSpPr/>
          <p:nvPr/>
        </p:nvSpPr>
        <p:spPr>
          <a:xfrm>
            <a:off x="438912" y="6300216"/>
            <a:ext cx="950976" cy="283464"/>
          </a:xfrm>
          <a:prstGeom prst="roundRect">
            <a:avLst>
              <a:gd name="adj" fmla="val 50000"/>
            </a:avLst>
          </a:prstGeom>
          <a:noFill/>
          <a:ln w="8255">
            <a:solidFill>
              <a:srgbClr val="2E2D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FRAME | Arrow"/>
          <p:cNvCxnSpPr/>
          <p:nvPr/>
        </p:nvCxnSpPr>
        <p:spPr>
          <a:xfrm>
            <a:off x="694944" y="6441948"/>
            <a:ext cx="438912" cy="0"/>
          </a:xfrm>
          <a:prstGeom prst="line">
            <a:avLst/>
          </a:prstGeom>
          <a:ln w="11430">
            <a:solidFill>
              <a:srgbClr val="2E2D2C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PAGE"/>
          <p:cNvSpPr txBox="1"/>
          <p:nvPr/>
        </p:nvSpPr>
        <p:spPr>
          <a:xfrm>
            <a:off x="10387584" y="6318504"/>
            <a:ext cx="132588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/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0" r:id="rIdLayout1"/>
    <p:sldLayoutId id="2147483651" r:id="rIdLayout2"/>
    <p:sldLayoutId id="2147483652" r:id="rIdLayout3"/>
    <p:sldLayoutId id="2147483653" r:id="rIdLayout4"/>
    <p:sldLayoutId id="2147483654" r:id="rIdLayout5"/>
    <p:sldLayoutId id="2147483655" r:id="rIdLayout6"/>
    <p:sldLayoutId id="2147483656" r:id="rIdLayout7"/>
    <p:sldLayoutId id="2147483657" r:id="rIdLayout8"/>
    <p:sldLayoutId id="2147483658" r:id="rIdLayout9"/>
    <p:sldLayoutId id="2147483659" r:id="rIdLayout10"/>
    <p:sldLayoutId id="2147483660" r:id="rIdLayout11"/>
    <p:sldLayoutId id="2147483661" r:id="rIdLayout12"/>
    <p:sldLayoutId id="2147483662" r:id="rIdLayout13"/>
    <p:sldLayoutId id="2147483663" r:id="rIdLayout14"/>
    <p:sldLayoutId id="2147483664" r:id="rIdLayout15"/>
    <p:sldLayoutId id="2147483665" r:id="rIdLayout16"/>
    <p:sldLayoutId id="2147483666" r:id="rIdLayout17"/>
    <p:sldLayoutId id="2147483667" r:id="rIdLayout18"/>
    <p:sldLayoutId id="2147483668" r:id="rIdLayout19"/>
    <p:sldLayoutId id="2147483669" r:id="rIdLayout20"/>
  </p:sldLayoutIdLst>
  <p:txStyles>
    <p:titleStyle>
      <a:lvl1pPr algn="ctr" defTabSz="457200" rtl="0" eaLnBrk="1" latinLnBrk="0" hangingPunct="1" marL="0" indent="0">
        <a:buNone/>
        <a:spcBef>
          <a:spcPct val="0"/>
        </a:spcBef>
        <a:defRPr sz="2800" kern="1200">
          <a:solidFill>
            <a:schemeClr val="tx1"/>
          </a:solidFill>
          <a:latin typeface="Inter"/>
          <a:ea typeface="+mj-ea"/>
          <a:cs typeface="+mj-cs"/>
        </a:defRPr>
      </a:lvl1pPr>
    </p:titleStyle>
    <p:bodyStyle>
      <a:lvl1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1pPr>
      <a:lvl2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2pPr>
      <a:lvl3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3pPr>
      <a:lvl4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4pPr>
      <a:lvl5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5pPr>
      <a:lvl6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6pPr>
      <a:lvl7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7pPr>
      <a:lvl8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8pPr>
      <a:lvl9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1pPr>
      <a:lvl2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2pPr>
      <a:lvl3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3pPr>
      <a:lvl4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4pPr>
      <a:lvl5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5pPr>
      <a:lvl6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6pPr>
      <a:lvl7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7pPr>
      <a:lvl8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8pPr>
      <a:lvl9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9pPr>
    </p:otherStyle>
  </p:txStyles>
</p:sldMaster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3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3.xml"/></Relationships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showMasterSp="1">
  <p:cSld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TITLE"/>
          <p:cNvSpPr txBox="1"/>
          <p:nvPr/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313455"/>
                </a:solidFill>
                <a:latin typeface="Inter"/>
              </a:rPr>
              <a:t>One dialect, many MX configurations</a:t>
            </a:r>
          </a:p>
        </p:txBody>
      </p:sp>
      <p:sp>
        <p:nvSpPr>
          <p:cNvPr id="12" name="Text | 01"/>
          <p:cNvSpPr txBox="1"/>
          <p:nvPr/>
        </p:nvSpPr>
        <p:spPr>
          <a:xfrm>
            <a:off x="859536" y="1856231"/>
            <a:ext cx="1892807" cy="55778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900" b="0">
                <a:solidFill>
                  <a:srgbClr val="83776B"/>
                </a:solidFill>
                <a:latin typeface="DM Serif Display"/>
              </a:rPr>
              <a:t>01</a:t>
            </a:r>
          </a:p>
        </p:txBody>
      </p:sp>
      <p:sp>
        <p:nvSpPr>
          <p:cNvPr id="13" name="Component | Stage 1"/>
          <p:cNvSpPr/>
          <p:nvPr/>
        </p:nvSpPr>
        <p:spPr>
          <a:xfrm>
            <a:off x="859536" y="2734056"/>
            <a:ext cx="1892807" cy="1133856"/>
          </a:xfrm>
          <a:prstGeom prst="roundRect">
            <a:avLst>
              <a:gd name="adj" fmla="val 8000"/>
            </a:avLst>
          </a:prstGeom>
          <a:solidFill>
            <a:srgbClr val="ECE3DA"/>
          </a:solidFill>
          <a:ln w="14604">
            <a:solidFill>
              <a:srgbClr val="AB9A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 | Stage 1"/>
          <p:cNvSpPr txBox="1"/>
          <p:nvPr/>
        </p:nvSpPr>
        <p:spPr>
          <a:xfrm>
            <a:off x="969264" y="2788920"/>
            <a:ext cx="1673351" cy="10241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20" b="1">
                <a:solidFill>
                  <a:srgbClr val="313455"/>
                </a:solidFill>
                <a:latin typeface="Inter"/>
              </a:rPr>
              <a:t>RTL + MxGen</a:t>
            </a:r>
          </a:p>
        </p:txBody>
      </p:sp>
      <p:sp>
        <p:nvSpPr>
          <p:cNvPr id="15" name="Text | Input / action&#10;and expected&#10;output."/>
          <p:cNvSpPr txBox="1"/>
          <p:nvPr/>
        </p:nvSpPr>
        <p:spPr>
          <a:xfrm>
            <a:off x="859536" y="4288536"/>
            <a:ext cx="1892807" cy="106984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313455"/>
                </a:solidFill>
                <a:latin typeface="Inter"/>
              </a:rPr>
              <a:t>41 MX fragments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313455"/>
                </a:solidFill>
                <a:latin typeface="Inter"/>
              </a:rPr>
              <a:t>40 SoC wrappers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313455"/>
                </a:solidFill>
                <a:latin typeface="Inter"/>
              </a:rPr>
              <a:t>pinned source hashes</a:t>
            </a:r>
          </a:p>
        </p:txBody>
      </p:sp>
      <p:cxnSp>
        <p:nvCxnSpPr>
          <p:cNvPr id="16" name="Connector"/>
          <p:cNvCxnSpPr/>
          <p:nvPr/>
        </p:nvCxnSpPr>
        <p:spPr>
          <a:xfrm>
            <a:off x="2788920" y="3300984"/>
            <a:ext cx="164592" cy="0"/>
          </a:xfrm>
          <a:prstGeom prst="line">
            <a:avLst/>
          </a:prstGeom>
          <a:ln w="16510">
            <a:solidFill>
              <a:srgbClr val="2E2D2C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 | 02"/>
          <p:cNvSpPr txBox="1"/>
          <p:nvPr/>
        </p:nvSpPr>
        <p:spPr>
          <a:xfrm>
            <a:off x="3008376" y="1856231"/>
            <a:ext cx="1892807" cy="55778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900" b="0">
                <a:solidFill>
                  <a:srgbClr val="0F3759"/>
                </a:solidFill>
                <a:latin typeface="DM Serif Display"/>
              </a:rPr>
              <a:t>02</a:t>
            </a:r>
          </a:p>
        </p:txBody>
      </p:sp>
      <p:sp>
        <p:nvSpPr>
          <p:cNvPr id="18" name="Component | Stage 2"/>
          <p:cNvSpPr/>
          <p:nvPr/>
        </p:nvSpPr>
        <p:spPr>
          <a:xfrm>
            <a:off x="3008376" y="2734056"/>
            <a:ext cx="1892807" cy="1133856"/>
          </a:xfrm>
          <a:prstGeom prst="roundRect">
            <a:avLst>
              <a:gd name="adj" fmla="val 8000"/>
            </a:avLst>
          </a:prstGeom>
          <a:solidFill>
            <a:srgbClr val="CBCFD0"/>
          </a:solidFill>
          <a:ln w="14604">
            <a:solidFill>
              <a:srgbClr val="0F3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 | Stage 2"/>
          <p:cNvSpPr txBox="1"/>
          <p:nvPr/>
        </p:nvSpPr>
        <p:spPr>
          <a:xfrm>
            <a:off x="3118104" y="2788920"/>
            <a:ext cx="1673351" cy="10241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20" b="1">
                <a:solidFill>
                  <a:srgbClr val="313455"/>
                </a:solidFill>
                <a:latin typeface="Inter"/>
              </a:rPr>
              <a:t>Profile JSON</a:t>
            </a:r>
          </a:p>
        </p:txBody>
      </p:sp>
      <p:sp>
        <p:nvSpPr>
          <p:cNvPr id="20" name="Text | Input / action&#10;and expected&#10;output."/>
          <p:cNvSpPr txBox="1"/>
          <p:nvPr/>
        </p:nvSpPr>
        <p:spPr>
          <a:xfrm>
            <a:off x="3008376" y="4288536"/>
            <a:ext cx="1892807" cy="106984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313455"/>
                </a:solidFill>
                <a:latin typeface="Inter"/>
              </a:rPr>
              <a:t>mesh / DMA / queues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313455"/>
                </a:solidFill>
                <a:latin typeface="Inter"/>
              </a:rPr>
              <a:t>LUT + scales + VPU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313455"/>
                </a:solidFill>
                <a:latin typeface="Inter"/>
              </a:rPr>
              <a:t>legal PE tuples</a:t>
            </a:r>
          </a:p>
        </p:txBody>
      </p:sp>
      <p:cxnSp>
        <p:nvCxnSpPr>
          <p:cNvPr id="21" name="Connector"/>
          <p:cNvCxnSpPr/>
          <p:nvPr/>
        </p:nvCxnSpPr>
        <p:spPr>
          <a:xfrm>
            <a:off x="4937760" y="3300984"/>
            <a:ext cx="164592" cy="0"/>
          </a:xfrm>
          <a:prstGeom prst="line">
            <a:avLst/>
          </a:prstGeom>
          <a:ln w="16510">
            <a:solidFill>
              <a:srgbClr val="2E2D2C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 | 03"/>
          <p:cNvSpPr txBox="1"/>
          <p:nvPr/>
        </p:nvSpPr>
        <p:spPr>
          <a:xfrm>
            <a:off x="5157216" y="1856231"/>
            <a:ext cx="1892807" cy="55778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900" b="0">
                <a:solidFill>
                  <a:srgbClr val="6D727F"/>
                </a:solidFill>
                <a:latin typeface="DM Serif Display"/>
              </a:rPr>
              <a:t>03</a:t>
            </a:r>
          </a:p>
        </p:txBody>
      </p:sp>
      <p:sp>
        <p:nvSpPr>
          <p:cNvPr id="23" name="Component | Stage 3"/>
          <p:cNvSpPr/>
          <p:nvPr/>
        </p:nvSpPr>
        <p:spPr>
          <a:xfrm>
            <a:off x="5157216" y="2734056"/>
            <a:ext cx="1892807" cy="1133856"/>
          </a:xfrm>
          <a:prstGeom prst="roundRect">
            <a:avLst>
              <a:gd name="adj" fmla="val 8000"/>
            </a:avLst>
          </a:prstGeom>
          <a:solidFill>
            <a:srgbClr val="E5E2E0"/>
          </a:solidFill>
          <a:ln w="14604">
            <a:solidFill>
              <a:srgbClr val="8B93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 | Stage 3"/>
          <p:cNvSpPr txBox="1"/>
          <p:nvPr/>
        </p:nvSpPr>
        <p:spPr>
          <a:xfrm>
            <a:off x="5266944" y="2788920"/>
            <a:ext cx="1673351" cy="10241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20" b="1">
                <a:solidFill>
                  <a:srgbClr val="313455"/>
                </a:solidFill>
                <a:latin typeface="Inter"/>
              </a:rPr>
              <a:t>Typed legality</a:t>
            </a:r>
          </a:p>
        </p:txBody>
      </p:sp>
      <p:sp>
        <p:nvSpPr>
          <p:cNvPr id="25" name="Text | Input / action&#10;and expected&#10;output."/>
          <p:cNvSpPr txBox="1"/>
          <p:nvPr/>
        </p:nvSpPr>
        <p:spPr>
          <a:xfrm>
            <a:off x="5157216" y="4288536"/>
            <a:ext cx="1892807" cy="106984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313455"/>
                </a:solidFill>
                <a:latin typeface="Inter"/>
              </a:rPr>
              <a:t>format + projection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313455"/>
                </a:solidFill>
                <a:latin typeface="Inter"/>
              </a:rPr>
              <a:t>DIM / SRAM bounds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313455"/>
                </a:solidFill>
                <a:latin typeface="Inter"/>
              </a:rPr>
              <a:t>reject invalid modes</a:t>
            </a:r>
          </a:p>
        </p:txBody>
      </p:sp>
      <p:cxnSp>
        <p:nvCxnSpPr>
          <p:cNvPr id="26" name="Connector"/>
          <p:cNvCxnSpPr/>
          <p:nvPr/>
        </p:nvCxnSpPr>
        <p:spPr>
          <a:xfrm>
            <a:off x="7086600" y="3300984"/>
            <a:ext cx="164592" cy="0"/>
          </a:xfrm>
          <a:prstGeom prst="line">
            <a:avLst/>
          </a:prstGeom>
          <a:ln w="16510">
            <a:solidFill>
              <a:srgbClr val="2E2D2C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 | 04"/>
          <p:cNvSpPr txBox="1"/>
          <p:nvPr/>
        </p:nvSpPr>
        <p:spPr>
          <a:xfrm>
            <a:off x="7306056" y="1856231"/>
            <a:ext cx="1892807" cy="55778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900" b="0">
                <a:solidFill>
                  <a:srgbClr val="815E5E"/>
                </a:solidFill>
                <a:latin typeface="DM Serif Display"/>
              </a:rPr>
              <a:t>04</a:t>
            </a:r>
          </a:p>
        </p:txBody>
      </p:sp>
      <p:sp>
        <p:nvSpPr>
          <p:cNvPr id="28" name="Component | Stage 4"/>
          <p:cNvSpPr/>
          <p:nvPr/>
        </p:nvSpPr>
        <p:spPr>
          <a:xfrm>
            <a:off x="7306056" y="2734056"/>
            <a:ext cx="1892807" cy="1133856"/>
          </a:xfrm>
          <a:prstGeom prst="roundRect">
            <a:avLst>
              <a:gd name="adj" fmla="val 8000"/>
            </a:avLst>
          </a:prstGeom>
          <a:solidFill>
            <a:srgbClr val="E3D7D1"/>
          </a:solidFill>
          <a:ln w="14604">
            <a:solidFill>
              <a:srgbClr val="815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 | Stage 4"/>
          <p:cNvSpPr txBox="1"/>
          <p:nvPr/>
        </p:nvSpPr>
        <p:spPr>
          <a:xfrm>
            <a:off x="7415783" y="2788920"/>
            <a:ext cx="1673351" cy="10241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20" b="1">
                <a:solidFill>
                  <a:srgbClr val="313455"/>
                </a:solidFill>
                <a:latin typeface="Inter"/>
              </a:rPr>
              <a:t>Schedule + emit</a:t>
            </a:r>
          </a:p>
        </p:txBody>
      </p:sp>
      <p:sp>
        <p:nvSpPr>
          <p:cNvPr id="30" name="Text | Input / action&#10;and expected&#10;output."/>
          <p:cNvSpPr txBox="1"/>
          <p:nvPr/>
        </p:nvSpPr>
        <p:spPr>
          <a:xfrm>
            <a:off x="7306056" y="4288536"/>
            <a:ext cx="1892807" cy="106984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313455"/>
                </a:solidFill>
                <a:latin typeface="Inter"/>
              </a:rPr>
              <a:t>schedule.plan + tiles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313455"/>
                </a:solidFill>
                <a:latin typeface="Inter"/>
              </a:rPr>
              <a:t>SPAD / DMA / loops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313455"/>
                </a:solidFill>
                <a:latin typeface="Inter"/>
              </a:rPr>
              <a:t>RoCC command IR</a:t>
            </a:r>
          </a:p>
        </p:txBody>
      </p:sp>
      <p:cxnSp>
        <p:nvCxnSpPr>
          <p:cNvPr id="31" name="Connector"/>
          <p:cNvCxnSpPr/>
          <p:nvPr/>
        </p:nvCxnSpPr>
        <p:spPr>
          <a:xfrm>
            <a:off x="9235440" y="3300984"/>
            <a:ext cx="164592" cy="0"/>
          </a:xfrm>
          <a:prstGeom prst="line">
            <a:avLst/>
          </a:prstGeom>
          <a:ln w="16510">
            <a:solidFill>
              <a:srgbClr val="2E2D2C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 | 05"/>
          <p:cNvSpPr txBox="1"/>
          <p:nvPr/>
        </p:nvSpPr>
        <p:spPr>
          <a:xfrm>
            <a:off x="9454896" y="1856231"/>
            <a:ext cx="1892807" cy="55778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900" b="0">
                <a:solidFill>
                  <a:srgbClr val="7D886C"/>
                </a:solidFill>
                <a:latin typeface="DM Serif Display"/>
              </a:rPr>
              <a:t>05</a:t>
            </a:r>
          </a:p>
        </p:txBody>
      </p:sp>
      <p:sp>
        <p:nvSpPr>
          <p:cNvPr id="33" name="Component | Stage 5"/>
          <p:cNvSpPr/>
          <p:nvPr/>
        </p:nvSpPr>
        <p:spPr>
          <a:xfrm>
            <a:off x="9454896" y="2734056"/>
            <a:ext cx="1892807" cy="1133856"/>
          </a:xfrm>
          <a:prstGeom prst="roundRect">
            <a:avLst>
              <a:gd name="adj" fmla="val 8000"/>
            </a:avLst>
          </a:prstGeom>
          <a:solidFill>
            <a:srgbClr val="E2E0D3"/>
          </a:solidFill>
          <a:ln w="14604">
            <a:solidFill>
              <a:srgbClr val="7D88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 | Stage 5"/>
          <p:cNvSpPr txBox="1"/>
          <p:nvPr/>
        </p:nvSpPr>
        <p:spPr>
          <a:xfrm>
            <a:off x="9564624" y="2788920"/>
            <a:ext cx="1673351" cy="10241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20" b="1">
                <a:solidFill>
                  <a:srgbClr val="313455"/>
                </a:solidFill>
                <a:latin typeface="Inter"/>
              </a:rPr>
              <a:t>Spike qualify</a:t>
            </a:r>
          </a:p>
        </p:txBody>
      </p:sp>
      <p:sp>
        <p:nvSpPr>
          <p:cNvPr id="35" name="Text | Input / action&#10;and expected&#10;output."/>
          <p:cNvSpPr txBox="1"/>
          <p:nvPr/>
        </p:nvSpPr>
        <p:spPr>
          <a:xfrm>
            <a:off x="9454896" y="4288536"/>
            <a:ext cx="1892807" cy="106984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313455"/>
                </a:solidFill>
                <a:latin typeface="Inter"/>
              </a:rPr>
              <a:t>Nicolas kernels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313455"/>
                </a:solidFill>
                <a:latin typeface="Inter"/>
              </a:rPr>
              <a:t>numeric + cycle receipts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313455"/>
                </a:solidFill>
                <a:latin typeface="Inter"/>
              </a:rPr>
              <a:t>per config / mode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" y="5532120"/>
            <a:ext cx="9646920" cy="55778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19" b="0">
                <a:solidFill>
                  <a:srgbClr val="5B5957"/>
                </a:solidFill>
                <a:latin typeface="Inter"/>
              </a:rPr>
              <a:t>RTL/MxGen defines capabilities; npu-exploration supplies reference kernels. Selected DIM16 MX+VPU: E4M3 + FP4,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19" b="0">
                <a:solidFill>
                  <a:srgbClr val="5B5957"/>
                </a:solidFill>
                <a:latin typeface="Inter"/>
              </a:rPr>
              <a:t>two 8-lane BF16 VPUs and SPAD_REQUANT. FP6 is separate; each profile needs numerical qualification.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469880" y="6291072"/>
            <a:ext cx="1234440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5957"/>
                </a:solidFill>
                <a:latin typeface="Inter"/>
              </a:rPr>
              <a:t>02 / 03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showMasterSp="1">
  <p:cSld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TITLE"/>
          <p:cNvSpPr txBox="1"/>
          <p:nvPr/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313455"/>
                </a:solidFill>
                <a:latin typeface="Inter"/>
              </a:rPr>
              <a:t>MX Gemmini dialect to executable</a:t>
            </a:r>
          </a:p>
        </p:txBody>
      </p:sp>
      <p:sp>
        <p:nvSpPr>
          <p:cNvPr id="12" name="Shape"/>
          <p:cNvSpPr/>
          <p:nvPr/>
        </p:nvSpPr>
        <p:spPr>
          <a:xfrm>
            <a:off x="859536" y="1572768"/>
            <a:ext cx="10488168" cy="4096512"/>
          </a:xfrm>
          <a:prstGeom prst="roundRect">
            <a:avLst>
              <a:gd name="adj" fmla="val 2500"/>
            </a:avLst>
          </a:prstGeom>
          <a:noFill/>
          <a:ln w="13970">
            <a:solidFill>
              <a:srgbClr val="C0B1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 | SYSTEM / MODULE NAME"/>
          <p:cNvSpPr txBox="1"/>
          <p:nvPr/>
        </p:nvSpPr>
        <p:spPr>
          <a:xfrm>
            <a:off x="1069848" y="1801368"/>
            <a:ext cx="9985248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5B5957"/>
                </a:solidFill>
                <a:latin typeface="Inter"/>
              </a:rPr>
              <a:t>TYPED TARGET IR  →  PROFILED SCHEDULE  →  RISC-V COMMAND PROGRAM</a:t>
            </a:r>
          </a:p>
        </p:txBody>
      </p:sp>
      <p:sp>
        <p:nvSpPr>
          <p:cNvPr id="14" name="Shape"/>
          <p:cNvSpPr/>
          <p:nvPr/>
        </p:nvSpPr>
        <p:spPr>
          <a:xfrm>
            <a:off x="1143000" y="2459736"/>
            <a:ext cx="2916936" cy="2514600"/>
          </a:xfrm>
          <a:prstGeom prst="roundRect">
            <a:avLst>
              <a:gd name="adj" fmla="val 2500"/>
            </a:avLst>
          </a:prstGeom>
          <a:solidFill>
            <a:srgbClr val="ECE3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 | Control"/>
          <p:cNvSpPr txBox="1"/>
          <p:nvPr/>
        </p:nvSpPr>
        <p:spPr>
          <a:xfrm>
            <a:off x="1307592" y="2688336"/>
            <a:ext cx="2587752" cy="4114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5B5957"/>
                </a:solidFill>
                <a:latin typeface="Inter"/>
              </a:rPr>
              <a:t>Typed MX IR</a:t>
            </a:r>
          </a:p>
        </p:txBody>
      </p:sp>
      <p:sp>
        <p:nvSpPr>
          <p:cNvPr id="16" name="Component | Component A"/>
          <p:cNvSpPr/>
          <p:nvPr/>
        </p:nvSpPr>
        <p:spPr>
          <a:xfrm>
            <a:off x="1399032" y="3401568"/>
            <a:ext cx="2404872" cy="475488"/>
          </a:xfrm>
          <a:prstGeom prst="roundRect">
            <a:avLst>
              <a:gd name="adj" fmla="val 8000"/>
            </a:avLst>
          </a:prstGeom>
          <a:solidFill>
            <a:srgbClr val="ECE3DA"/>
          </a:solidFill>
          <a:ln w="14604">
            <a:solidFill>
              <a:srgbClr val="AB9A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 | Component A"/>
          <p:cNvSpPr txBox="1"/>
          <p:nvPr/>
        </p:nvSpPr>
        <p:spPr>
          <a:xfrm>
            <a:off x="1508760" y="3392424"/>
            <a:ext cx="2185415" cy="6217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10" b="1">
                <a:solidFill>
                  <a:srgbClr val="313455"/>
                </a:solidFill>
                <a:latin typeface="Inter"/>
              </a:rPr>
              <a:t>resource · contract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10" b="1">
                <a:solidFill>
                  <a:srgbClr val="313455"/>
                </a:solidFill>
                <a:latin typeface="Inter"/>
              </a:rPr>
              <a:t>upload_lut · encode</a:t>
            </a:r>
          </a:p>
        </p:txBody>
      </p:sp>
      <p:sp>
        <p:nvSpPr>
          <p:cNvPr id="18" name="Component | Component B"/>
          <p:cNvSpPr/>
          <p:nvPr/>
        </p:nvSpPr>
        <p:spPr>
          <a:xfrm>
            <a:off x="1399032" y="4142232"/>
            <a:ext cx="2404872" cy="475488"/>
          </a:xfrm>
          <a:prstGeom prst="roundRect">
            <a:avLst>
              <a:gd name="adj" fmla="val 8000"/>
            </a:avLst>
          </a:prstGeom>
          <a:solidFill>
            <a:srgbClr val="ECE3DA"/>
          </a:solidFill>
          <a:ln w="14604">
            <a:solidFill>
              <a:srgbClr val="AB9A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 | Component B"/>
          <p:cNvSpPr txBox="1"/>
          <p:nvPr/>
        </p:nvSpPr>
        <p:spPr>
          <a:xfrm>
            <a:off x="1508760" y="4123944"/>
            <a:ext cx="2185415" cy="6217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10" b="1">
                <a:solidFill>
                  <a:srgbClr val="313455"/>
                </a:solidFill>
                <a:latin typeface="Inter"/>
              </a:rPr>
              <a:t>vpu_execute · spad_requant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10" b="1">
                <a:solidFill>
                  <a:srgbClr val="313455"/>
                </a:solidFill>
                <a:latin typeface="Inter"/>
              </a:rPr>
              <a:t>readout · wait</a:t>
            </a:r>
          </a:p>
        </p:txBody>
      </p:sp>
      <p:cxnSp>
        <p:nvCxnSpPr>
          <p:cNvPr id="20" name="Connector"/>
          <p:cNvCxnSpPr/>
          <p:nvPr/>
        </p:nvCxnSpPr>
        <p:spPr>
          <a:xfrm>
            <a:off x="4123944" y="3703320"/>
            <a:ext cx="438912" cy="0"/>
          </a:xfrm>
          <a:prstGeom prst="line">
            <a:avLst/>
          </a:prstGeom>
          <a:ln w="17780">
            <a:solidFill>
              <a:srgbClr val="2E2D2C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Shape"/>
          <p:cNvSpPr/>
          <p:nvPr/>
        </p:nvSpPr>
        <p:spPr>
          <a:xfrm>
            <a:off x="4636008" y="2459736"/>
            <a:ext cx="2916936" cy="2514600"/>
          </a:xfrm>
          <a:prstGeom prst="roundRect">
            <a:avLst>
              <a:gd name="adj" fmla="val 2500"/>
            </a:avLst>
          </a:prstGeom>
          <a:solidFill>
            <a:srgbClr val="CBC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 | State / storage"/>
          <p:cNvSpPr txBox="1"/>
          <p:nvPr/>
        </p:nvSpPr>
        <p:spPr>
          <a:xfrm>
            <a:off x="4800600" y="2688336"/>
            <a:ext cx="2587752" cy="4114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03552"/>
                </a:solidFill>
                <a:latin typeface="Inter"/>
              </a:rPr>
              <a:t>Legality + schedule</a:t>
            </a:r>
          </a:p>
        </p:txBody>
      </p:sp>
      <p:sp>
        <p:nvSpPr>
          <p:cNvPr id="23" name="Component | Component A"/>
          <p:cNvSpPr/>
          <p:nvPr/>
        </p:nvSpPr>
        <p:spPr>
          <a:xfrm>
            <a:off x="4892040" y="3401568"/>
            <a:ext cx="2404872" cy="475488"/>
          </a:xfrm>
          <a:prstGeom prst="roundRect">
            <a:avLst>
              <a:gd name="adj" fmla="val 8000"/>
            </a:avLst>
          </a:prstGeom>
          <a:solidFill>
            <a:srgbClr val="CBCFD0"/>
          </a:solidFill>
          <a:ln w="14604">
            <a:solidFill>
              <a:srgbClr val="0F3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 | Component A"/>
          <p:cNvSpPr txBox="1"/>
          <p:nvPr/>
        </p:nvSpPr>
        <p:spPr>
          <a:xfrm>
            <a:off x="5001768" y="3392424"/>
            <a:ext cx="2185415" cy="6217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10" b="1">
                <a:solidFill>
                  <a:srgbClr val="313455"/>
                </a:solidFill>
                <a:latin typeface="Inter"/>
              </a:rPr>
              <a:t>RTL profile + payload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10" b="1">
                <a:solidFill>
                  <a:srgbClr val="313455"/>
                </a:solidFill>
                <a:latin typeface="Inter"/>
              </a:rPr>
              <a:t>PE tuple · capacity checks</a:t>
            </a:r>
          </a:p>
        </p:txBody>
      </p:sp>
      <p:sp>
        <p:nvSpPr>
          <p:cNvPr id="25" name="Component | Component B"/>
          <p:cNvSpPr/>
          <p:nvPr/>
        </p:nvSpPr>
        <p:spPr>
          <a:xfrm>
            <a:off x="4892040" y="4142232"/>
            <a:ext cx="2404872" cy="475488"/>
          </a:xfrm>
          <a:prstGeom prst="roundRect">
            <a:avLst>
              <a:gd name="adj" fmla="val 8000"/>
            </a:avLst>
          </a:prstGeom>
          <a:solidFill>
            <a:srgbClr val="CBCFD0"/>
          </a:solidFill>
          <a:ln w="14604">
            <a:solidFill>
              <a:srgbClr val="0F3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 | Component B"/>
          <p:cNvSpPr txBox="1"/>
          <p:nvPr/>
        </p:nvSpPr>
        <p:spPr>
          <a:xfrm>
            <a:off x="5001768" y="4123944"/>
            <a:ext cx="2185415" cy="6217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10" b="1">
                <a:solidFill>
                  <a:srgbClr val="313455"/>
                </a:solidFill>
                <a:latin typeface="Inter"/>
              </a:rPr>
              <a:t>precision + tiling policy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10" b="1">
                <a:solidFill>
                  <a:srgbClr val="313455"/>
                </a:solidFill>
                <a:latin typeface="Inter"/>
              </a:rPr>
              <a:t>schedule.plan · native loops</a:t>
            </a:r>
          </a:p>
        </p:txBody>
      </p:sp>
      <p:cxnSp>
        <p:nvCxnSpPr>
          <p:cNvPr id="27" name="Connector"/>
          <p:cNvCxnSpPr/>
          <p:nvPr/>
        </p:nvCxnSpPr>
        <p:spPr>
          <a:xfrm>
            <a:off x="7616952" y="3703320"/>
            <a:ext cx="438912" cy="0"/>
          </a:xfrm>
          <a:prstGeom prst="line">
            <a:avLst/>
          </a:prstGeom>
          <a:ln w="17780">
            <a:solidFill>
              <a:srgbClr val="2E2D2C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Shape"/>
          <p:cNvSpPr/>
          <p:nvPr/>
        </p:nvSpPr>
        <p:spPr>
          <a:xfrm>
            <a:off x="8129016" y="2459736"/>
            <a:ext cx="2916936" cy="2514600"/>
          </a:xfrm>
          <a:prstGeom prst="roundRect">
            <a:avLst>
              <a:gd name="adj" fmla="val 2500"/>
            </a:avLst>
          </a:prstGeom>
          <a:solidFill>
            <a:srgbClr val="E2E0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 | Execution"/>
          <p:cNvSpPr txBox="1"/>
          <p:nvPr/>
        </p:nvSpPr>
        <p:spPr>
          <a:xfrm>
            <a:off x="8293608" y="2688336"/>
            <a:ext cx="2587752" cy="4114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75846A"/>
                </a:solidFill>
                <a:latin typeface="Inter"/>
              </a:rPr>
              <a:t>Binary + Spike</a:t>
            </a:r>
          </a:p>
        </p:txBody>
      </p:sp>
      <p:sp>
        <p:nvSpPr>
          <p:cNvPr id="30" name="Component | Component A"/>
          <p:cNvSpPr/>
          <p:nvPr/>
        </p:nvSpPr>
        <p:spPr>
          <a:xfrm>
            <a:off x="8385048" y="3401568"/>
            <a:ext cx="2404872" cy="475488"/>
          </a:xfrm>
          <a:prstGeom prst="roundRect">
            <a:avLst>
              <a:gd name="adj" fmla="val 8000"/>
            </a:avLst>
          </a:prstGeom>
          <a:solidFill>
            <a:srgbClr val="E2E0D3"/>
          </a:solidFill>
          <a:ln w="14604">
            <a:solidFill>
              <a:srgbClr val="7D88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 | Component A"/>
          <p:cNvSpPr txBox="1"/>
          <p:nvPr/>
        </p:nvSpPr>
        <p:spPr>
          <a:xfrm>
            <a:off x="8494776" y="3392424"/>
            <a:ext cx="2185415" cy="6217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10" b="1">
                <a:solidFill>
                  <a:srgbClr val="313455"/>
                </a:solidFill>
                <a:latin typeface="Inter"/>
              </a:rPr>
              <a:t>physical_program → RoCC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10" b="1">
                <a:solidFill>
                  <a:srgbClr val="313455"/>
                </a:solidFill>
                <a:latin typeface="Inter"/>
              </a:rPr>
              <a:t>DMA · compute · VPU</a:t>
            </a:r>
          </a:p>
        </p:txBody>
      </p:sp>
      <p:sp>
        <p:nvSpPr>
          <p:cNvPr id="32" name="Component | Component B"/>
          <p:cNvSpPr/>
          <p:nvPr/>
        </p:nvSpPr>
        <p:spPr>
          <a:xfrm>
            <a:off x="8385048" y="4142232"/>
            <a:ext cx="2404872" cy="475488"/>
          </a:xfrm>
          <a:prstGeom prst="roundRect">
            <a:avLst>
              <a:gd name="adj" fmla="val 8000"/>
            </a:avLst>
          </a:prstGeom>
          <a:solidFill>
            <a:srgbClr val="E2E0D3"/>
          </a:solidFill>
          <a:ln w="14604">
            <a:solidFill>
              <a:srgbClr val="7D88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 | Component B"/>
          <p:cNvSpPr txBox="1"/>
          <p:nvPr/>
        </p:nvSpPr>
        <p:spPr>
          <a:xfrm>
            <a:off x="8494776" y="4123944"/>
            <a:ext cx="2185415" cy="6217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10" b="1">
                <a:solidFill>
                  <a:srgbClr val="313455"/>
                </a:solidFill>
                <a:latin typeface="Inter"/>
              </a:rPr>
              <a:t>RoCC C + data asm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10" b="1">
                <a:solidFill>
                  <a:srgbClr val="313455"/>
                </a:solidFill>
                <a:latin typeface="Inter"/>
              </a:rPr>
              <a:t>RV64 GCC → ELF → Spike</a:t>
            </a:r>
          </a:p>
        </p:txBody>
      </p:sp>
      <p:sp>
        <p:nvSpPr>
          <p:cNvPr id="34" name="Text | [Boundary, interfaces and omitted componen"/>
          <p:cNvSpPr txBox="1"/>
          <p:nvPr/>
        </p:nvSpPr>
        <p:spPr>
          <a:xfrm>
            <a:off x="1069848" y="5148072"/>
            <a:ext cx="10003536" cy="46634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19" b="0">
                <a:solidFill>
                  <a:srgbClr val="5B5957"/>
                </a:solidFill>
                <a:latin typeface="Inter"/>
              </a:rPr>
              <a:t>Merlin transforms: MXBF16CatalogPreparation + MXVPUPostOffload; mx-gemmini-opt verifies typed IR.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19" b="0">
                <a:solidFill>
                  <a:srgbClr val="5B5957"/>
                </a:solidFill>
                <a:latin typeface="Inter"/>
              </a:rPr>
              <a:t>Standalone commands bypass LLVM; the full-model host currently uses Merlin → LLVM → RV64.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469880" y="6291072"/>
            <a:ext cx="1234440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5957"/>
                </a:solidFill>
                <a:latin typeface="Inter"/>
              </a:rPr>
              <a:t>01 / 03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showMasterSp="1">
  <p:cSld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TITLE"/>
          <p:cNvSpPr txBox="1"/>
          <p:nvPr/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313455"/>
                </a:solidFill>
                <a:latin typeface="Inter"/>
              </a:rPr>
              <a:t>What paired Spike runs show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859536" y="1673352"/>
          <a:ext cx="10479023" cy="25786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41063"/>
                <a:gridCol w="2176272"/>
                <a:gridCol w="2176272"/>
                <a:gridCol w="2185416"/>
              </a:tblGrid>
              <a:tr h="603504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20" b="1">
                          <a:solidFill>
                            <a:srgbClr val="FFFFFF"/>
                          </a:solidFill>
                          <a:latin typeface="Inter"/>
                        </a:rPr>
                        <a:t>Paired workload</a:t>
                      </a:r>
                    </a:p>
                  </a:txBody>
                  <a:tcPr marL="128016" marR="91440" marT="45720" marB="27432" anchor="ctr">
                    <a:solidFill>
                      <a:srgbClr val="0F3759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20" b="1">
                          <a:solidFill>
                            <a:srgbClr val="FFFFFF"/>
                          </a:solidFill>
                          <a:latin typeface="Inter"/>
                        </a:rPr>
                        <a:t>Compiler cycles</a:t>
                      </a:r>
                    </a:p>
                  </a:txBody>
                  <a:tcPr marL="128016" marR="91440" marT="45720" marB="27432" anchor="ctr">
                    <a:solidFill>
                      <a:srgbClr val="0F3759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20" b="1">
                          <a:solidFill>
                            <a:srgbClr val="FFFFFF"/>
                          </a:solidFill>
                          <a:latin typeface="Inter"/>
                        </a:rPr>
                        <a:t>Nicolas cycles</a:t>
                      </a:r>
                    </a:p>
                  </a:txBody>
                  <a:tcPr marL="128016" marR="91440" marT="45720" marB="27432" anchor="ctr">
                    <a:solidFill>
                      <a:srgbClr val="0F3759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20" b="1">
                          <a:solidFill>
                            <a:srgbClr val="FFFFFF"/>
                          </a:solidFill>
                          <a:latin typeface="Inter"/>
                        </a:rPr>
                        <a:t>Compiler Δ</a:t>
                      </a:r>
                    </a:p>
                  </a:txBody>
                  <a:tcPr marL="128016" marR="91440" marT="45720" marB="27432" anchor="ctr">
                    <a:solidFill>
                      <a:srgbClr val="0F3759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313455"/>
                          </a:solidFill>
                          <a:latin typeface="Inter"/>
                        </a:rPr>
                        <a:t>Dense attention 64×256×128</a:t>
                      </a:r>
                    </a:p>
                  </a:txBody>
                  <a:tcPr marL="128016" marR="91440" marT="45720" marB="27432" anchor="ctr">
                    <a:solidFill>
                      <a:srgbClr val="F5EEE5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10" b="0">
                          <a:solidFill>
                            <a:srgbClr val="313455"/>
                          </a:solidFill>
                          <a:latin typeface="Inter"/>
                        </a:rPr>
                        <a:t>43,523</a:t>
                      </a:r>
                    </a:p>
                  </a:txBody>
                  <a:tcPr marL="128016" marR="91440" marT="45720" marB="27432" anchor="ctr">
                    <a:solidFill>
                      <a:srgbClr val="F5EEE5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10" b="0">
                          <a:solidFill>
                            <a:srgbClr val="313455"/>
                          </a:solidFill>
                          <a:latin typeface="Inter"/>
                        </a:rPr>
                        <a:t>43,641</a:t>
                      </a:r>
                    </a:p>
                  </a:txBody>
                  <a:tcPr marL="128016" marR="91440" marT="45720" marB="27432" anchor="ctr">
                    <a:solidFill>
                      <a:srgbClr val="F5EEE5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10" b="0">
                          <a:solidFill>
                            <a:srgbClr val="313455"/>
                          </a:solidFill>
                          <a:latin typeface="Inter"/>
                        </a:rPr>
                        <a:t>−0.27%</a:t>
                      </a:r>
                    </a:p>
                  </a:txBody>
                  <a:tcPr marL="128016" marR="91440" marT="45720" marB="27432" anchor="ctr">
                    <a:solidFill>
                      <a:srgbClr val="F5EEE5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313455"/>
                          </a:solidFill>
                          <a:latin typeface="Inter"/>
                        </a:rPr>
                        <a:t>SmolVLA flow · one step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10" b="0">
                          <a:solidFill>
                            <a:srgbClr val="313455"/>
                          </a:solidFill>
                          <a:latin typeface="Inter"/>
                        </a:rPr>
                        <a:t>2,112,653,481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10" b="0">
                          <a:solidFill>
                            <a:srgbClr val="313455"/>
                          </a:solidFill>
                          <a:latin typeface="Inter"/>
                        </a:rPr>
                        <a:t>2,112,919,925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10" b="0">
                          <a:solidFill>
                            <a:srgbClr val="313455"/>
                          </a:solidFill>
                          <a:latin typeface="Inter"/>
                        </a:rPr>
                        <a:t>−0.0126%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313455"/>
                          </a:solidFill>
                          <a:latin typeface="Inter"/>
                        </a:rPr>
                        <a:t>SmolVLA · 12-step matrix swap</a:t>
                      </a:r>
                    </a:p>
                  </a:txBody>
                  <a:tcPr marL="128016" marR="91440" marT="45720" marB="27432" anchor="ctr">
                    <a:solidFill>
                      <a:srgbClr val="CBCFD0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10" b="0">
                          <a:solidFill>
                            <a:srgbClr val="313455"/>
                          </a:solidFill>
                          <a:latin typeface="Inter"/>
                        </a:rPr>
                        <a:t>72,066,544,354*</a:t>
                      </a:r>
                    </a:p>
                  </a:txBody>
                  <a:tcPr marL="128016" marR="91440" marT="45720" marB="27432" anchor="ctr">
                    <a:solidFill>
                      <a:srgbClr val="CBCFD0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10" b="0">
                          <a:solidFill>
                            <a:srgbClr val="313455"/>
                          </a:solidFill>
                          <a:latin typeface="Inter"/>
                        </a:rPr>
                        <a:t>running</a:t>
                      </a:r>
                    </a:p>
                  </a:txBody>
                  <a:tcPr marL="128016" marR="91440" marT="45720" marB="27432" anchor="ctr">
                    <a:solidFill>
                      <a:srgbClr val="CBCFD0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10" b="0">
                          <a:solidFill>
                            <a:srgbClr val="313455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128016" marR="91440" marT="45720" marB="27432" anchor="ctr">
                    <a:solidFill>
                      <a:srgbClr val="CBCFD0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3" name="Text | [Units · Best-value convention · Uncertain"/>
          <p:cNvSpPr txBox="1"/>
          <p:nvPr/>
        </p:nvSpPr>
        <p:spPr>
          <a:xfrm>
            <a:off x="859536" y="5404104"/>
            <a:ext cx="10515600" cy="6035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5957"/>
                </a:solidFill>
                <a:latin typeface="Inter"/>
              </a:rPr>
              <a:t>* Completed compiler timing receipt; full-session numeric qualification pending. Spike e4m3_vpu model, host tracking off.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5957"/>
                </a:solidFill>
                <a:latin typeface="Inter"/>
              </a:rPr>
              <a:t>Evidence: docs/evidence/attn_vpu_equal_work_20261013 and docs/evidence/nicolas_matrix_substitution_smolvla_20261013.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9536" y="4645152"/>
            <a:ext cx="10479024" cy="585216"/>
          </a:xfrm>
          <a:prstGeom prst="roundRect">
            <a:avLst/>
          </a:prstGeom>
          <a:solidFill>
            <a:srgbClr val="E1E8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03552"/>
                </a:solidFill>
                <a:latin typeface="Inter"/>
              </a:rPr>
              <a:t>Paired kernel / flow results match outputs. The source swap changes MX issuers only; no matched full fused handwritten MX+VPU model baseline exists yet.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69880" y="6291072"/>
            <a:ext cx="1234440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5957"/>
                </a:solidFill>
                <a:latin typeface="Inter"/>
              </a:rPr>
              <a:t>03 / 03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Lab Pastel">
      <a:dk1>
        <a:srgbClr val="2E2D2C"/>
      </a:dk1>
      <a:lt1>
        <a:srgbClr val="FDF7EF"/>
      </a:lt1>
      <a:dk2>
        <a:srgbClr val="333351"/>
      </a:dk2>
      <a:lt2>
        <a:srgbClr val="ECE3DA"/>
      </a:lt2>
      <a:accent1>
        <a:srgbClr val="0F3759"/>
      </a:accent1>
      <a:accent2>
        <a:srgbClr val="AB9A89"/>
      </a:accent2>
      <a:accent3>
        <a:srgbClr val="8B93A6"/>
      </a:accent3>
      <a:accent4>
        <a:srgbClr val="815E5E"/>
      </a:accent4>
      <a:accent5>
        <a:srgbClr val="7D886C"/>
      </a:accent5>
      <a:accent6>
        <a:srgbClr val="253143"/>
      </a:accent6>
      <a:hlink>
        <a:srgbClr val="0F3759"/>
      </a:hlink>
      <a:folHlink>
        <a:srgbClr val="815E5E"/>
      </a:folHlink>
    </a:clrScheme>
    <a:fontScheme name="Lab Pastel">
      <a:maj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Lab Presentation Template — Pastel</dc:title>
  <dc:subject>Reusable project slides, compositions and visual style pages</dc:subject>
  <dc:creator/>
  <cp:keywords>template, research, lab, editable, 16:9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