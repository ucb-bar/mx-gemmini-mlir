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20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20.xml" ContentType="application/vnd.openxmlformats-officedocument.presentationml.slide+xml"/>
  <Override PartName="/ppt/slides/slide23.xml" ContentType="application/vnd.openxmlformats-officedocument.presentationml.slide+xml"/>
  <Override PartName="/ppt/slides/slide3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78" r:id="rId30"/>
    <p:sldId id="275" r:id="rId27"/>
    <p:sldId id="288" r:id="rId40"/>
    <p:sldId id="289" r:id="rId11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 &amp; narrative" id="{AAB17009-52C5-4E37-978F-80997DFE1075}">
          <p14:sldIdLst>
            <p14:sldId id="256"/>
            <p14:sldId id="257"/>
            <p14:sldId id="258"/>
            <p14:sldId id="259"/>
            <p14:sldId id="260"/>
            <p14:sldId id="261"/>
            <p14:sldId id="262"/>
            <p14:sldId id="263"/>
          </p14:sldIdLst>
        </p14:section>
        <p14:section name="Content &amp; figures" id="{8C5BFAC1-65B7-4BE4-80DA-EA053B37B180}">
          <p14:sldIdLst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  <p14:sldId id="272"/>
            <p14:sldId id="273"/>
            <p14:sldId id="274"/>
          </p14:sldIdLst>
        </p14:section>
        <p14:section name="Processes &amp; architecture" id="{245ECFAE-8D81-4D3B-9024-77A055E60BE8}">
          <p14:sldIdLst>
            <p14:sldId id="275"/>
            <p14:sldId id="276"/>
            <p14:sldId id="277"/>
            <p14:sldId id="278"/>
            <p14:sldId id="279"/>
            <p14:sldId id="280"/>
            <p14:sldId id="281"/>
            <p14:sldId id="282"/>
          </p14:sldIdLst>
        </p14:section>
        <p14:section name="Results &amp; closing" id="{8CE93A61-643E-42A3-82CC-B2DD609D8EE7}">
          <p14:sldIdLst>
            <p14:sldId id="283"/>
            <p14:sldId id="284"/>
            <p14:sldId id="285"/>
            <p14:sldId id="286"/>
            <p14:sldId id="287"/>
            <p14:sldId id="288"/>
            <p14:sldId id="289"/>
            <p14:sldId id="290"/>
            <p14:sldId id="291"/>
            <p14:sldId id="292"/>
            <p14:sldId id="293"/>
          </p14:sldIdLst>
        </p14:section>
        <p14:section name="Empty compositions" id="{D5C4F8FB-6E8E-4AE3-A902-1A6618D87E15}">
          <p14:sldIdLst>
            <p14:sldId id="294"/>
            <p14:sldId id="295"/>
            <p14:sldId id="296"/>
            <p14:sldId id="297"/>
          </p14:sldIdLst>
        </p14:section>
        <p14:section name="Style &amp; reusable elements" id="{712C9ADA-4E89-47F6-905E-06077D7D5852}">
          <p14:sldIdLst>
            <p14:sldId id="298"/>
            <p14:sldId id="299"/>
            <p14:sldId id="300"/>
            <p14:sldId id="301"/>
            <p14:sldId id="302"/>
            <p14:sldId id="303"/>
            <p14:sldId id="304"/>
            <p14:sldId id="305"/>
            <p14:sldId id="306"/>
            <p14:sldId id="307"/>
            <p14:sldId id="308"/>
          </p14:sldIdLst>
        </p14:section>
      </p14:section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8" Type="http://schemas.openxmlformats.org/officeDocument/2006/relationships/notesMaster" Target="notesMasters/notesMaster1.xml"/><Relationship Id="rId11" Type="http://schemas.openxmlformats.org/officeDocument/2006/relationships/slide" Target="slides/slide4.xml"/><Relationship Id="rId27" Type="http://schemas.openxmlformats.org/officeDocument/2006/relationships/slide" Target="slides/slide20.xml"/><Relationship Id="rId30" Type="http://schemas.openxmlformats.org/officeDocument/2006/relationships/slide" Target="slides/slide23.xml"/><Relationship Id="rId40" Type="http://schemas.openxmlformats.org/officeDocument/2006/relationships/slide" Target="slides/slide3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Five-stage process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System block diagram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Results table</a:t>
            </a:r>
          </a:p>
          <a:p/>
          <a:p>
            <a:r>
              <a:t>Replace the sample content with your project information. Diagram roles and measurements on style pages are template conventions, not research claims.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Master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1 — Project cover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University mark" descr="berkeley_s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08576" y="457200"/>
            <a:ext cx="914400" cy="914400"/>
          </a:xfrm>
          <a:prstGeom prst="rect">
            <a:avLst/>
          </a:prstGeom>
          <a:effectLst/>
        </p:spPr>
      </p:pic>
      <p:sp>
        <p:nvSpPr>
          <p:cNvPr id="3" name="Lab name"/>
          <p:cNvSpPr txBox="1"/>
          <p:nvPr/>
        </p:nvSpPr>
        <p:spPr>
          <a:xfrm>
            <a:off x="5660136" y="571500"/>
            <a:ext cx="1623060" cy="40005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F3759"/>
                </a:solidFill>
                <a:latin typeface="Inter"/>
              </a:rPr>
              <a:t>LAB NAME</a:t>
            </a:r>
          </a:p>
        </p:txBody>
      </p:sp>
      <p:sp>
        <p:nvSpPr>
          <p:cNvPr id="4" name="Affiliation"/>
          <p:cNvSpPr txBox="1"/>
          <p:nvPr/>
        </p:nvSpPr>
        <p:spPr>
          <a:xfrm>
            <a:off x="5660136" y="994409"/>
            <a:ext cx="16230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Circuit decoration"/>
          <p:cNvCxnSpPr/>
          <p:nvPr/>
        </p:nvCxnSpPr>
        <p:spPr>
          <a:xfrm>
            <a:off x="537210" y="1645920"/>
            <a:ext cx="0" cy="10094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Circuit decoration"/>
          <p:cNvCxnSpPr/>
          <p:nvPr/>
        </p:nvCxnSpPr>
        <p:spPr>
          <a:xfrm flipH="1">
            <a:off x="413766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ircuit decoration"/>
          <p:cNvCxnSpPr/>
          <p:nvPr/>
        </p:nvCxnSpPr>
        <p:spPr>
          <a:xfrm>
            <a:off x="413766" y="2778861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Circuit decoration"/>
          <p:cNvSpPr/>
          <p:nvPr/>
        </p:nvSpPr>
        <p:spPr>
          <a:xfrm>
            <a:off x="39182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Circuit decoration"/>
          <p:cNvSpPr/>
          <p:nvPr/>
        </p:nvSpPr>
        <p:spPr>
          <a:xfrm>
            <a:off x="520750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ircuit decoration"/>
          <p:cNvCxnSpPr/>
          <p:nvPr/>
        </p:nvCxnSpPr>
        <p:spPr>
          <a:xfrm>
            <a:off x="660654" y="1797344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ircuit decoration"/>
          <p:cNvCxnSpPr/>
          <p:nvPr/>
        </p:nvCxnSpPr>
        <p:spPr>
          <a:xfrm>
            <a:off x="660654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ircuit decoration"/>
          <p:cNvCxnSpPr/>
          <p:nvPr/>
        </p:nvCxnSpPr>
        <p:spPr>
          <a:xfrm>
            <a:off x="784098" y="3048060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Circuit decoration"/>
          <p:cNvSpPr/>
          <p:nvPr/>
        </p:nvSpPr>
        <p:spPr>
          <a:xfrm>
            <a:off x="762152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4" name="Circuit decoration"/>
          <p:cNvCxnSpPr/>
          <p:nvPr/>
        </p:nvCxnSpPr>
        <p:spPr>
          <a:xfrm>
            <a:off x="784098" y="1948769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ircuit decoration"/>
          <p:cNvCxnSpPr/>
          <p:nvPr/>
        </p:nvCxnSpPr>
        <p:spPr>
          <a:xfrm flipH="1">
            <a:off x="660654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ircuit decoration"/>
          <p:cNvCxnSpPr/>
          <p:nvPr/>
        </p:nvCxnSpPr>
        <p:spPr>
          <a:xfrm>
            <a:off x="660654" y="3317260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Circuit decoration"/>
          <p:cNvSpPr/>
          <p:nvPr/>
        </p:nvSpPr>
        <p:spPr>
          <a:xfrm>
            <a:off x="63870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Circuit decoration"/>
          <p:cNvSpPr/>
          <p:nvPr/>
        </p:nvSpPr>
        <p:spPr>
          <a:xfrm>
            <a:off x="767638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9" name="Circuit decoration"/>
          <p:cNvCxnSpPr/>
          <p:nvPr/>
        </p:nvCxnSpPr>
        <p:spPr>
          <a:xfrm>
            <a:off x="907542" y="1645920"/>
            <a:ext cx="0" cy="1817095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Circuit decoration"/>
          <p:cNvCxnSpPr/>
          <p:nvPr/>
        </p:nvCxnSpPr>
        <p:spPr>
          <a:xfrm>
            <a:off x="907542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Circuit decoration"/>
          <p:cNvCxnSpPr/>
          <p:nvPr/>
        </p:nvCxnSpPr>
        <p:spPr>
          <a:xfrm>
            <a:off x="1030986" y="3586459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Circuit decoration"/>
          <p:cNvSpPr/>
          <p:nvPr/>
        </p:nvSpPr>
        <p:spPr>
          <a:xfrm>
            <a:off x="1009040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3" name="Circuit decoration"/>
          <p:cNvCxnSpPr/>
          <p:nvPr/>
        </p:nvCxnSpPr>
        <p:spPr>
          <a:xfrm>
            <a:off x="1030986" y="179734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Circuit decoration"/>
          <p:cNvCxnSpPr/>
          <p:nvPr/>
        </p:nvCxnSpPr>
        <p:spPr>
          <a:xfrm flipH="1">
            <a:off x="907542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Circuit decoration"/>
          <p:cNvCxnSpPr/>
          <p:nvPr/>
        </p:nvCxnSpPr>
        <p:spPr>
          <a:xfrm>
            <a:off x="907542" y="2778861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Circuit decoration"/>
          <p:cNvSpPr/>
          <p:nvPr/>
        </p:nvSpPr>
        <p:spPr>
          <a:xfrm>
            <a:off x="88559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Circuit decoration"/>
          <p:cNvSpPr/>
          <p:nvPr/>
        </p:nvSpPr>
        <p:spPr>
          <a:xfrm>
            <a:off x="1014526" y="1780885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ircuit decoration"/>
          <p:cNvCxnSpPr/>
          <p:nvPr/>
        </p:nvCxnSpPr>
        <p:spPr>
          <a:xfrm>
            <a:off x="1154430" y="1948769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Circuit decoration"/>
          <p:cNvCxnSpPr/>
          <p:nvPr/>
        </p:nvCxnSpPr>
        <p:spPr>
          <a:xfrm>
            <a:off x="1154430" y="29246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Circuit decoration"/>
          <p:cNvCxnSpPr/>
          <p:nvPr/>
        </p:nvCxnSpPr>
        <p:spPr>
          <a:xfrm>
            <a:off x="1277874" y="3048060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" name="Circuit decoration"/>
          <p:cNvSpPr/>
          <p:nvPr/>
        </p:nvSpPr>
        <p:spPr>
          <a:xfrm>
            <a:off x="1255928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2" name="Circuit decoration"/>
          <p:cNvCxnSpPr/>
          <p:nvPr/>
        </p:nvCxnSpPr>
        <p:spPr>
          <a:xfrm>
            <a:off x="1277874" y="1645920"/>
            <a:ext cx="0" cy="15478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Circuit decoration"/>
          <p:cNvCxnSpPr/>
          <p:nvPr/>
        </p:nvCxnSpPr>
        <p:spPr>
          <a:xfrm flipH="1">
            <a:off x="1154430" y="3193816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Circuit decoration"/>
          <p:cNvCxnSpPr/>
          <p:nvPr/>
        </p:nvCxnSpPr>
        <p:spPr>
          <a:xfrm>
            <a:off x="1154430" y="3317260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" name="Circuit decoration"/>
          <p:cNvSpPr/>
          <p:nvPr/>
        </p:nvSpPr>
        <p:spPr>
          <a:xfrm>
            <a:off x="1132484" y="4215018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Circuit decoration"/>
          <p:cNvSpPr/>
          <p:nvPr/>
        </p:nvSpPr>
        <p:spPr>
          <a:xfrm>
            <a:off x="1261414" y="162946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7" name="Circuit decoration"/>
          <p:cNvCxnSpPr/>
          <p:nvPr/>
        </p:nvCxnSpPr>
        <p:spPr>
          <a:xfrm>
            <a:off x="1401318" y="1797344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Circuit decoration"/>
          <p:cNvCxnSpPr/>
          <p:nvPr/>
        </p:nvCxnSpPr>
        <p:spPr>
          <a:xfrm>
            <a:off x="1401318" y="3463015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Circuit decoration"/>
          <p:cNvCxnSpPr/>
          <p:nvPr/>
        </p:nvCxnSpPr>
        <p:spPr>
          <a:xfrm>
            <a:off x="1524762" y="3586459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" name="Circuit decoration"/>
          <p:cNvSpPr/>
          <p:nvPr/>
        </p:nvSpPr>
        <p:spPr>
          <a:xfrm>
            <a:off x="1502816" y="4517867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1" name="Circuit decoration"/>
          <p:cNvCxnSpPr/>
          <p:nvPr/>
        </p:nvCxnSpPr>
        <p:spPr>
          <a:xfrm>
            <a:off x="1524762" y="1948769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Circuit decoration"/>
          <p:cNvCxnSpPr/>
          <p:nvPr/>
        </p:nvCxnSpPr>
        <p:spPr>
          <a:xfrm flipH="1">
            <a:off x="1401318" y="2655417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Circuit decoration"/>
          <p:cNvCxnSpPr/>
          <p:nvPr/>
        </p:nvCxnSpPr>
        <p:spPr>
          <a:xfrm>
            <a:off x="1401318" y="2778861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" name="Circuit decoration"/>
          <p:cNvSpPr/>
          <p:nvPr/>
        </p:nvSpPr>
        <p:spPr>
          <a:xfrm>
            <a:off x="1379372" y="4820716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Circuit decoration"/>
          <p:cNvSpPr/>
          <p:nvPr/>
        </p:nvSpPr>
        <p:spPr>
          <a:xfrm>
            <a:off x="1508302" y="1932310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6" name="Circuit decoration"/>
          <p:cNvCxnSpPr/>
          <p:nvPr/>
        </p:nvCxnSpPr>
        <p:spPr>
          <a:xfrm flipV="1">
            <a:off x="11670030" y="4001414"/>
            <a:ext cx="0" cy="100949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Circuit decoration"/>
          <p:cNvCxnSpPr/>
          <p:nvPr/>
        </p:nvCxnSpPr>
        <p:spPr>
          <a:xfrm flipV="1">
            <a:off x="11670030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Circuit decoration"/>
          <p:cNvCxnSpPr/>
          <p:nvPr/>
        </p:nvCxnSpPr>
        <p:spPr>
          <a:xfrm flipV="1">
            <a:off x="11793474" y="2419868"/>
            <a:ext cx="0" cy="14581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" name="Circuit decoration"/>
          <p:cNvSpPr/>
          <p:nvPr/>
        </p:nvSpPr>
        <p:spPr>
          <a:xfrm>
            <a:off x="1177152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Circuit decoration"/>
          <p:cNvSpPr/>
          <p:nvPr/>
        </p:nvSpPr>
        <p:spPr>
          <a:xfrm>
            <a:off x="11653570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ircuit decoration"/>
          <p:cNvCxnSpPr/>
          <p:nvPr/>
        </p:nvCxnSpPr>
        <p:spPr>
          <a:xfrm flipV="1">
            <a:off x="11546586" y="3732215"/>
            <a:ext cx="0" cy="112727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Circuit decoration"/>
          <p:cNvCxnSpPr/>
          <p:nvPr/>
        </p:nvCxnSpPr>
        <p:spPr>
          <a:xfrm flipH="1" flipV="1">
            <a:off x="11423142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Circuit decoration"/>
          <p:cNvCxnSpPr/>
          <p:nvPr/>
        </p:nvCxnSpPr>
        <p:spPr>
          <a:xfrm flipV="1">
            <a:off x="11423142" y="2117018"/>
            <a:ext cx="0" cy="149175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" name="Circuit decoration"/>
          <p:cNvSpPr/>
          <p:nvPr/>
        </p:nvSpPr>
        <p:spPr>
          <a:xfrm>
            <a:off x="11401196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5" name="Circuit decoration"/>
          <p:cNvCxnSpPr/>
          <p:nvPr/>
        </p:nvCxnSpPr>
        <p:spPr>
          <a:xfrm flipV="1">
            <a:off x="11423142" y="3463015"/>
            <a:ext cx="0" cy="12450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Circuit decoration"/>
          <p:cNvCxnSpPr/>
          <p:nvPr/>
        </p:nvCxnSpPr>
        <p:spPr>
          <a:xfrm flipV="1">
            <a:off x="11423142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Circuit decoration"/>
          <p:cNvCxnSpPr/>
          <p:nvPr/>
        </p:nvCxnSpPr>
        <p:spPr>
          <a:xfrm flipV="1">
            <a:off x="11546586" y="1814169"/>
            <a:ext cx="0" cy="15254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8" name="Circuit decoration"/>
          <p:cNvSpPr/>
          <p:nvPr/>
        </p:nvSpPr>
        <p:spPr>
          <a:xfrm>
            <a:off x="1152464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Circuit decoration"/>
          <p:cNvSpPr/>
          <p:nvPr/>
        </p:nvSpPr>
        <p:spPr>
          <a:xfrm>
            <a:off x="11406682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0" name="Circuit decoration"/>
          <p:cNvCxnSpPr/>
          <p:nvPr/>
        </p:nvCxnSpPr>
        <p:spPr>
          <a:xfrm flipV="1">
            <a:off x="11299698" y="3193816"/>
            <a:ext cx="0" cy="1817096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Circuit decoration"/>
          <p:cNvCxnSpPr/>
          <p:nvPr/>
        </p:nvCxnSpPr>
        <p:spPr>
          <a:xfrm flipH="1" flipV="1">
            <a:off x="11176254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Circuit decoration"/>
          <p:cNvCxnSpPr/>
          <p:nvPr/>
        </p:nvCxnSpPr>
        <p:spPr>
          <a:xfrm flipV="1">
            <a:off x="11176254" y="2419868"/>
            <a:ext cx="0" cy="65050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Circuit decoration"/>
          <p:cNvSpPr/>
          <p:nvPr/>
        </p:nvSpPr>
        <p:spPr>
          <a:xfrm>
            <a:off x="11154308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4" name="Circuit decoration"/>
          <p:cNvCxnSpPr/>
          <p:nvPr/>
        </p:nvCxnSpPr>
        <p:spPr>
          <a:xfrm flipV="1">
            <a:off x="11176254" y="4001414"/>
            <a:ext cx="0" cy="85807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" name="Circuit decoration"/>
          <p:cNvCxnSpPr/>
          <p:nvPr/>
        </p:nvCxnSpPr>
        <p:spPr>
          <a:xfrm flipV="1">
            <a:off x="11176254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Circuit decoration"/>
          <p:cNvCxnSpPr/>
          <p:nvPr/>
        </p:nvCxnSpPr>
        <p:spPr>
          <a:xfrm flipV="1">
            <a:off x="11299698" y="2117018"/>
            <a:ext cx="0" cy="176095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" name="Circuit decoration"/>
          <p:cNvSpPr/>
          <p:nvPr/>
        </p:nvSpPr>
        <p:spPr>
          <a:xfrm>
            <a:off x="1127775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Circuit decoration"/>
          <p:cNvSpPr/>
          <p:nvPr/>
        </p:nvSpPr>
        <p:spPr>
          <a:xfrm>
            <a:off x="11159794" y="4843028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ircuit decoration"/>
          <p:cNvCxnSpPr/>
          <p:nvPr/>
        </p:nvCxnSpPr>
        <p:spPr>
          <a:xfrm flipV="1">
            <a:off x="11052810" y="3732215"/>
            <a:ext cx="0" cy="97584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Circuit decoration"/>
          <p:cNvCxnSpPr/>
          <p:nvPr/>
        </p:nvCxnSpPr>
        <p:spPr>
          <a:xfrm flipH="1" flipV="1">
            <a:off x="10929366" y="36087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Circuit decoration"/>
          <p:cNvCxnSpPr/>
          <p:nvPr/>
        </p:nvCxnSpPr>
        <p:spPr>
          <a:xfrm flipV="1">
            <a:off x="10929366" y="1814169"/>
            <a:ext cx="0" cy="1794602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Circuit decoration"/>
          <p:cNvSpPr/>
          <p:nvPr/>
        </p:nvSpPr>
        <p:spPr>
          <a:xfrm>
            <a:off x="10907420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ircuit decoration"/>
          <p:cNvCxnSpPr/>
          <p:nvPr/>
        </p:nvCxnSpPr>
        <p:spPr>
          <a:xfrm flipV="1">
            <a:off x="10929366" y="3463015"/>
            <a:ext cx="0" cy="1547897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4" name="Circuit decoration"/>
          <p:cNvCxnSpPr/>
          <p:nvPr/>
        </p:nvCxnSpPr>
        <p:spPr>
          <a:xfrm flipV="1">
            <a:off x="10929366" y="3339571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Circuit decoration"/>
          <p:cNvCxnSpPr/>
          <p:nvPr/>
        </p:nvCxnSpPr>
        <p:spPr>
          <a:xfrm flipV="1">
            <a:off x="11052810" y="2419868"/>
            <a:ext cx="0" cy="919703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6" name="Circuit decoration"/>
          <p:cNvSpPr/>
          <p:nvPr/>
        </p:nvSpPr>
        <p:spPr>
          <a:xfrm>
            <a:off x="11030864" y="2397922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Circuit decoration"/>
          <p:cNvSpPr/>
          <p:nvPr/>
        </p:nvSpPr>
        <p:spPr>
          <a:xfrm>
            <a:off x="10912906" y="4994452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8" name="Circuit decoration"/>
          <p:cNvCxnSpPr/>
          <p:nvPr/>
        </p:nvCxnSpPr>
        <p:spPr>
          <a:xfrm flipV="1">
            <a:off x="10805922" y="3193816"/>
            <a:ext cx="0" cy="166567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Circuit decoration"/>
          <p:cNvCxnSpPr/>
          <p:nvPr/>
        </p:nvCxnSpPr>
        <p:spPr>
          <a:xfrm flipH="1" flipV="1">
            <a:off x="10682478" y="3070372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Circuit decoration"/>
          <p:cNvCxnSpPr/>
          <p:nvPr/>
        </p:nvCxnSpPr>
        <p:spPr>
          <a:xfrm flipV="1">
            <a:off x="10682478" y="2117018"/>
            <a:ext cx="0" cy="95335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Circuit decoration"/>
          <p:cNvSpPr/>
          <p:nvPr/>
        </p:nvSpPr>
        <p:spPr>
          <a:xfrm>
            <a:off x="10660532" y="2095073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2" name="Circuit decoration"/>
          <p:cNvCxnSpPr/>
          <p:nvPr/>
        </p:nvCxnSpPr>
        <p:spPr>
          <a:xfrm flipV="1">
            <a:off x="10682478" y="4001414"/>
            <a:ext cx="0" cy="706648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3" name="Circuit decoration"/>
          <p:cNvCxnSpPr/>
          <p:nvPr/>
        </p:nvCxnSpPr>
        <p:spPr>
          <a:xfrm flipV="1">
            <a:off x="10682478" y="3877970"/>
            <a:ext cx="123444" cy="123444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4" name="Circuit decoration"/>
          <p:cNvCxnSpPr/>
          <p:nvPr/>
        </p:nvCxnSpPr>
        <p:spPr>
          <a:xfrm flipV="1">
            <a:off x="10805922" y="1814169"/>
            <a:ext cx="0" cy="2063801"/>
          </a:xfrm>
          <a:prstGeom prst="line">
            <a:avLst/>
          </a:prstGeom>
          <a:ln w="8255">
            <a:solidFill>
              <a:srgbClr val="D4C8B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Circuit decoration"/>
          <p:cNvSpPr/>
          <p:nvPr/>
        </p:nvSpPr>
        <p:spPr>
          <a:xfrm>
            <a:off x="10783976" y="1792224"/>
            <a:ext cx="43891" cy="43891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Circuit decoration"/>
          <p:cNvSpPr/>
          <p:nvPr/>
        </p:nvSpPr>
        <p:spPr>
          <a:xfrm>
            <a:off x="10666018" y="4691603"/>
            <a:ext cx="32918" cy="32918"/>
          </a:xfrm>
          <a:prstGeom prst="ellipse">
            <a:avLst/>
          </a:prstGeom>
          <a:solidFill>
            <a:srgbClr val="D4C8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 | PURPOSE"/>
          <p:cNvSpPr txBox="1"/>
          <p:nvPr/>
        </p:nvSpPr>
        <p:spPr>
          <a:xfrm>
            <a:off x="68580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PURPOSE</a:t>
            </a:r>
          </a:p>
        </p:txBody>
      </p:sp>
      <p:sp>
        <p:nvSpPr>
          <p:cNvPr id="88" name="PH|body|Talk / meeting"/>
          <p:cNvSpPr txBox="1"/>
          <p:nvPr>
            <p:ph type="body" idx="1"/>
          </p:nvPr>
        </p:nvSpPr>
        <p:spPr>
          <a:xfrm>
            <a:off x="68580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Talk / meeting</a:t>
            </a:r>
          </a:p>
        </p:txBody>
      </p:sp>
      <p:sp>
        <p:nvSpPr>
          <p:cNvPr id="89" name="Text | DATE"/>
          <p:cNvSpPr txBox="1"/>
          <p:nvPr/>
        </p:nvSpPr>
        <p:spPr>
          <a:xfrm>
            <a:off x="9326880" y="676656"/>
            <a:ext cx="2176272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DATE</a:t>
            </a:r>
          </a:p>
        </p:txBody>
      </p:sp>
      <p:sp>
        <p:nvSpPr>
          <p:cNvPr id="90" name="PH|body|Date"/>
          <p:cNvSpPr txBox="1"/>
          <p:nvPr>
            <p:ph type="body" idx="2"/>
          </p:nvPr>
        </p:nvSpPr>
        <p:spPr>
          <a:xfrm>
            <a:off x="9326880" y="1033271"/>
            <a:ext cx="2176272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Date</a:t>
            </a:r>
          </a:p>
        </p:txBody>
      </p:sp>
      <p:sp>
        <p:nvSpPr>
          <p:cNvPr id="91" name="Text | PROJECT PART OF"/>
          <p:cNvSpPr txBox="1"/>
          <p:nvPr/>
        </p:nvSpPr>
        <p:spPr>
          <a:xfrm>
            <a:off x="68580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PROJECT PART OF</a:t>
            </a:r>
          </a:p>
        </p:txBody>
      </p:sp>
      <p:sp>
        <p:nvSpPr>
          <p:cNvPr id="92" name="PH|body|Lab / institution"/>
          <p:cNvSpPr txBox="1"/>
          <p:nvPr>
            <p:ph type="body" idx="3"/>
          </p:nvPr>
        </p:nvSpPr>
        <p:spPr>
          <a:xfrm>
            <a:off x="68580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Lab / institution</a:t>
            </a:r>
          </a:p>
        </p:txBody>
      </p:sp>
      <p:sp>
        <p:nvSpPr>
          <p:cNvPr id="93" name="Text | PRESENTED BY"/>
          <p:cNvSpPr txBox="1"/>
          <p:nvPr/>
        </p:nvSpPr>
        <p:spPr>
          <a:xfrm>
            <a:off x="8412480" y="5724144"/>
            <a:ext cx="3017520" cy="23774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2E2D2C"/>
                </a:solidFill>
                <a:latin typeface="DM Serif Display"/>
              </a:rPr>
              <a:t>PRESENTED BY</a:t>
            </a:r>
          </a:p>
        </p:txBody>
      </p:sp>
      <p:sp>
        <p:nvSpPr>
          <p:cNvPr id="94" name="PH|body|Presenter"/>
          <p:cNvSpPr txBox="1"/>
          <p:nvPr>
            <p:ph type="body" idx="4"/>
          </p:nvPr>
        </p:nvSpPr>
        <p:spPr>
          <a:xfrm>
            <a:off x="8412480" y="6080759"/>
            <a:ext cx="3017520" cy="30175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Presenter</a:t>
            </a:r>
          </a:p>
        </p:txBody>
      </p:sp>
      <p:sp>
        <p:nvSpPr>
          <p:cNvPr id="95" name="PH|title|Project name"/>
          <p:cNvSpPr txBox="1"/>
          <p:nvPr>
            <p:ph type="title" idx="0"/>
          </p:nvPr>
        </p:nvSpPr>
        <p:spPr>
          <a:xfrm>
            <a:off x="2194560" y="1920240"/>
            <a:ext cx="7799831" cy="113385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1pPr>
            <a:lvl2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2pPr>
            <a:lvl3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3pPr>
            <a:lvl4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4pPr>
            <a:lvl5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5pPr>
            <a:lvl6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6pPr>
            <a:lvl7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7pPr>
            <a:lvl8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8pPr>
            <a:lvl9pPr marL="0" indent="0" algn="ctr">
              <a:buNone/>
              <a:defRPr sz="5000" b="1">
                <a:solidFill>
                  <a:srgbClr val="333351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5000" b="1">
                <a:solidFill>
                  <a:srgbClr val="333351"/>
                </a:solidFill>
                <a:latin typeface="DM Serif Display"/>
              </a:defRPr>
            </a:pPr>
            <a:r>
              <a:rPr sz="5000" b="1">
                <a:solidFill>
                  <a:srgbClr val="333351"/>
                </a:solidFill>
                <a:latin typeface="DM Serif Display"/>
              </a:rPr>
              <a:t>Project name</a:t>
            </a:r>
          </a:p>
        </p:txBody>
      </p:sp>
      <p:sp>
        <p:nvSpPr>
          <p:cNvPr id="96" name="PH|body|Presentation title / subtitle"/>
          <p:cNvSpPr txBox="1"/>
          <p:nvPr>
            <p:ph type="body" idx="5"/>
          </p:nvPr>
        </p:nvSpPr>
        <p:spPr>
          <a:xfrm>
            <a:off x="2286000" y="3264408"/>
            <a:ext cx="7616952" cy="94183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Presentation title / subtitle</a:t>
            </a:r>
          </a:p>
        </p:txBody>
      </p:sp>
      <p:sp>
        <p:nvSpPr>
          <p:cNvPr id="97" name="PH|body|Authors / collaborators"/>
          <p:cNvSpPr txBox="1"/>
          <p:nvPr>
            <p:ph type="body" idx="6"/>
          </p:nvPr>
        </p:nvSpPr>
        <p:spPr>
          <a:xfrm>
            <a:off x="2743200" y="4553712"/>
            <a:ext cx="6702552" cy="95097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ctr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Authors / collaborators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2 — Project information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roject image"/>
          <p:cNvSpPr txBox="1"/>
          <p:nvPr>
            <p:ph type="pic" idx="1"/>
          </p:nvPr>
        </p:nvSpPr>
        <p:spPr>
          <a:xfrm>
            <a:off x="868680" y="1536192"/>
            <a:ext cx="3337560" cy="33558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Project image</a:t>
            </a:r>
          </a:p>
        </p:txBody>
      </p:sp>
      <p:sp>
        <p:nvSpPr>
          <p:cNvPr id="4" name="PH|body|Project name&#10;&#10;Description&#10;&#10;Leads / affiliation / resources"/>
          <p:cNvSpPr txBox="1"/>
          <p:nvPr>
            <p:ph type="body" idx="2"/>
          </p:nvPr>
        </p:nvSpPr>
        <p:spPr>
          <a:xfrm>
            <a:off x="4700016" y="1645920"/>
            <a:ext cx="6583680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4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Project 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Description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 b="0">
                <a:solidFill>
                  <a:srgbClr val="2E2D2C"/>
                </a:solidFill>
                <a:latin typeface="Inter"/>
              </a:defRPr>
            </a:pPr>
            <a:r>
              <a:rPr sz="2400" b="0">
                <a:solidFill>
                  <a:srgbClr val="2E2D2C"/>
                </a:solidFill>
                <a:latin typeface="Inter"/>
              </a:rPr>
              <a:t>Leads / affiliation / resources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0">
  <p:cSld name="03 — Section divider">
    <p:bg>
      <p:bgPr>
        <a:solidFill>
          <a:srgbClr val="25314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ection title"/>
          <p:cNvSpPr txBox="1"/>
          <p:nvPr>
            <p:ph type="title" idx="0"/>
          </p:nvPr>
        </p:nvSpPr>
        <p:spPr>
          <a:xfrm>
            <a:off x="768096" y="2011680"/>
            <a:ext cx="10058400" cy="24231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1pPr>
            <a:lvl2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2pPr>
            <a:lvl3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3pPr>
            <a:lvl4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4pPr>
            <a:lvl5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5pPr>
            <a:lvl6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6pPr>
            <a:lvl7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7pPr>
            <a:lvl8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8pPr>
            <a:lvl9pPr marL="0" indent="0" algn="ctr">
              <a:buNone/>
              <a:defRPr sz="6400" b="1">
                <a:solidFill>
                  <a:srgbClr val="FDF7EF"/>
                </a:solidFill>
                <a:latin typeface="DM Serif Display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6400" b="1">
                <a:solidFill>
                  <a:srgbClr val="FDF7EF"/>
                </a:solidFill>
                <a:latin typeface="DM Serif Display"/>
              </a:defRPr>
            </a:pPr>
            <a:r>
              <a:rPr sz="6400" b="1">
                <a:solidFill>
                  <a:srgbClr val="FDF7EF"/>
                </a:solidFill>
                <a:latin typeface="DM Serif Display"/>
              </a:rPr>
              <a:t>Section title</a:t>
            </a:r>
          </a:p>
        </p:txBody>
      </p:sp>
      <p:sp>
        <p:nvSpPr>
          <p:cNvPr id="3" name="PH|body|Section subtitle"/>
          <p:cNvSpPr txBox="1"/>
          <p:nvPr>
            <p:ph type="body" idx="1"/>
          </p:nvPr>
        </p:nvSpPr>
        <p:spPr>
          <a:xfrm>
            <a:off x="804672" y="4983480"/>
            <a:ext cx="9921240" cy="7680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FDF7EF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FDF7EF"/>
                </a:solidFill>
                <a:latin typeface="Inter"/>
              </a:defRPr>
            </a:pPr>
            <a:r>
              <a:rPr sz="2300" b="0">
                <a:solidFill>
                  <a:srgbClr val="FDF7EF"/>
                </a:solidFill>
                <a:latin typeface="Inter"/>
              </a:rPr>
              <a:t>Section subtitle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4 — Titl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your text"/>
          <p:cNvSpPr txBox="1"/>
          <p:nvPr>
            <p:ph type="body" idx="1"/>
          </p:nvPr>
        </p:nvSpPr>
        <p:spPr>
          <a:xfrm>
            <a:off x="1051560" y="1682496"/>
            <a:ext cx="10012680" cy="42885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3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 b="0">
                <a:solidFill>
                  <a:srgbClr val="2E2D2C"/>
                </a:solidFill>
                <a:latin typeface="Inter"/>
              </a:defRPr>
            </a:pPr>
            <a:r>
              <a:rPr sz="2300" b="0">
                <a:solidFill>
                  <a:srgbClr val="2E2D2C"/>
                </a:solidFill>
                <a:latin typeface="Inter"/>
              </a:rPr>
              <a:t>Add your text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5 — Text and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Add text"/>
          <p:cNvSpPr txBox="1"/>
          <p:nvPr>
            <p:ph type="body" idx="1"/>
          </p:nvPr>
        </p:nvSpPr>
        <p:spPr>
          <a:xfrm>
            <a:off x="868680" y="1664208"/>
            <a:ext cx="3867912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pic|Add figure"/>
          <p:cNvSpPr txBox="1"/>
          <p:nvPr>
            <p:ph type="pic" idx="2"/>
          </p:nvPr>
        </p:nvSpPr>
        <p:spPr>
          <a:xfrm>
            <a:off x="5065776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6 — Figure and text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6254496" cy="406908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Add text"/>
          <p:cNvSpPr txBox="1"/>
          <p:nvPr>
            <p:ph type="body" idx="2"/>
          </p:nvPr>
        </p:nvSpPr>
        <p:spPr>
          <a:xfrm>
            <a:off x="7644383" y="1664208"/>
            <a:ext cx="3675887" cy="3977639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7 — Two figur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Figure A"/>
          <p:cNvSpPr txBox="1"/>
          <p:nvPr>
            <p:ph type="pic" idx="1"/>
          </p:nvPr>
        </p:nvSpPr>
        <p:spPr>
          <a:xfrm>
            <a:off x="85039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A</a:t>
            </a:r>
          </a:p>
        </p:txBody>
      </p:sp>
      <p:sp>
        <p:nvSpPr>
          <p:cNvPr id="4" name="PH|pic|Figure B"/>
          <p:cNvSpPr txBox="1"/>
          <p:nvPr>
            <p:ph type="pic" idx="2"/>
          </p:nvPr>
        </p:nvSpPr>
        <p:spPr>
          <a:xfrm>
            <a:off x="6245352" y="2084831"/>
            <a:ext cx="5093208" cy="313639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Figure B</a:t>
            </a: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8 — Full-width figur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Add figure"/>
          <p:cNvSpPr txBox="1"/>
          <p:nvPr>
            <p:ph type="pic" idx="1"/>
          </p:nvPr>
        </p:nvSpPr>
        <p:spPr>
          <a:xfrm>
            <a:off x="850392" y="1554480"/>
            <a:ext cx="10488168" cy="40416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Add figure</a:t>
            </a:r>
          </a:p>
        </p:txBody>
      </p:sp>
      <p:sp>
        <p:nvSpPr>
          <p:cNvPr id="4" name="PH|body|Caption / source"/>
          <p:cNvSpPr txBox="1"/>
          <p:nvPr>
            <p:ph type="body" idx="2"/>
          </p:nvPr>
        </p:nvSpPr>
        <p:spPr>
          <a:xfrm>
            <a:off x="868680" y="5788152"/>
            <a:ext cx="10451592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Caption / source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09 — Two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300216" y="1691640"/>
            <a:ext cx="5010912" cy="402336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0 — Three column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7782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01583" y="1691640"/>
            <a:ext cx="3218688" cy="400507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1 — Four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6263640" y="171907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86968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6263640" y="3867912"/>
            <a:ext cx="5010912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2 — Six panel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Heading&#10;&#10;Add text"/>
          <p:cNvSpPr txBox="1"/>
          <p:nvPr>
            <p:ph type="body" idx="1"/>
          </p:nvPr>
        </p:nvSpPr>
        <p:spPr>
          <a:xfrm>
            <a:off x="886968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4" name="PH|body|Heading&#10;&#10;Add text"/>
          <p:cNvSpPr txBox="1"/>
          <p:nvPr>
            <p:ph type="body" idx="2"/>
          </p:nvPr>
        </p:nvSpPr>
        <p:spPr>
          <a:xfrm>
            <a:off x="4489704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092440" y="171907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886968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7" name="PH|body|Heading&#10;&#10;Add text"/>
          <p:cNvSpPr txBox="1"/>
          <p:nvPr>
            <p:ph type="body" idx="5"/>
          </p:nvPr>
        </p:nvSpPr>
        <p:spPr>
          <a:xfrm>
            <a:off x="4489704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  <p:sp>
        <p:nvSpPr>
          <p:cNvPr id="8" name="PH|body|Heading&#10;&#10;Add text"/>
          <p:cNvSpPr txBox="1"/>
          <p:nvPr>
            <p:ph type="body" idx="6"/>
          </p:nvPr>
        </p:nvSpPr>
        <p:spPr>
          <a:xfrm>
            <a:off x="8092440" y="3867912"/>
            <a:ext cx="3218688" cy="185623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3 — Chart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chart|Insert chart"/>
          <p:cNvSpPr txBox="1"/>
          <p:nvPr>
            <p:ph type="chart" idx="1"/>
          </p:nvPr>
        </p:nvSpPr>
        <p:spPr>
          <a:xfrm>
            <a:off x="877824" y="1801368"/>
            <a:ext cx="7242048" cy="3858768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chart</a:t>
            </a:r>
          </a:p>
        </p:txBody>
      </p:sp>
      <p:sp>
        <p:nvSpPr>
          <p:cNvPr id="4" name="PH|body|Observation&#10;&#10;Context / conditions"/>
          <p:cNvSpPr txBox="1"/>
          <p:nvPr>
            <p:ph type="body" idx="2"/>
          </p:nvPr>
        </p:nvSpPr>
        <p:spPr>
          <a:xfrm>
            <a:off x="8540496" y="1975104"/>
            <a:ext cx="2779776" cy="3611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Observation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Context / conditions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4 — Full tabl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tbl|Insert table"/>
          <p:cNvSpPr txBox="1"/>
          <p:nvPr>
            <p:ph type="tbl" idx="1"/>
          </p:nvPr>
        </p:nvSpPr>
        <p:spPr>
          <a:xfrm>
            <a:off x="877824" y="1728216"/>
            <a:ext cx="10442448" cy="3822191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Insert table</a:t>
            </a:r>
          </a:p>
        </p:txBody>
      </p:sp>
      <p:sp>
        <p:nvSpPr>
          <p:cNvPr id="4" name="PH|body|Units / conditions / source"/>
          <p:cNvSpPr txBox="1"/>
          <p:nvPr>
            <p:ph type="body" idx="2"/>
          </p:nvPr>
        </p:nvSpPr>
        <p:spPr>
          <a:xfrm>
            <a:off x="877824" y="5751576"/>
            <a:ext cx="10442448" cy="28346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2E2D2C"/>
                </a:solidFill>
                <a:latin typeface="Inter"/>
              </a:defRPr>
            </a:pPr>
            <a:r>
              <a:rPr sz="1200" b="0">
                <a:solidFill>
                  <a:srgbClr val="2E2D2C"/>
                </a:solidFill>
                <a:latin typeface="Inter"/>
              </a:rPr>
              <a:t>Units / conditions / source</a:t>
            </a: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5 — Code and not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body|Code / pseudocode"/>
          <p:cNvSpPr txBox="1"/>
          <p:nvPr>
            <p:ph type="body" idx="1"/>
          </p:nvPr>
        </p:nvSpPr>
        <p:spPr>
          <a:xfrm>
            <a:off x="1115568" y="2011680"/>
            <a:ext cx="5897880" cy="3364992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9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900" b="0">
                <a:solidFill>
                  <a:srgbClr val="2E2D2C"/>
                </a:solidFill>
                <a:latin typeface="Inter"/>
              </a:defRPr>
            </a:pPr>
            <a:r>
              <a:rPr sz="1900" b="0">
                <a:solidFill>
                  <a:srgbClr val="2E2D2C"/>
                </a:solidFill>
                <a:latin typeface="Inter"/>
              </a:rPr>
              <a:t>Code / pseudocode</a:t>
            </a:r>
          </a:p>
        </p:txBody>
      </p:sp>
      <p:sp>
        <p:nvSpPr>
          <p:cNvPr id="4" name="PH|body|Explanation"/>
          <p:cNvSpPr txBox="1"/>
          <p:nvPr>
            <p:ph type="body" idx="2"/>
          </p:nvPr>
        </p:nvSpPr>
        <p:spPr>
          <a:xfrm>
            <a:off x="7927848" y="2011680"/>
            <a:ext cx="3374136" cy="357530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1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rgbClr val="2E2D2C"/>
                </a:solidFill>
                <a:latin typeface="Inter"/>
              </a:defRPr>
            </a:pPr>
            <a:r>
              <a:rPr sz="2100" b="0">
                <a:solidFill>
                  <a:srgbClr val="2E2D2C"/>
                </a:solidFill>
                <a:latin typeface="Inter"/>
              </a:rPr>
              <a:t>Explanation</a:t>
            </a:r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6 — Team profile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Photo"/>
          <p:cNvSpPr txBox="1"/>
          <p:nvPr>
            <p:ph type="pic" idx="1"/>
          </p:nvPr>
        </p:nvSpPr>
        <p:spPr>
          <a:xfrm>
            <a:off x="932688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4" name="PH|pic|Photo"/>
          <p:cNvSpPr txBox="1"/>
          <p:nvPr>
            <p:ph type="pic" idx="2"/>
          </p:nvPr>
        </p:nvSpPr>
        <p:spPr>
          <a:xfrm>
            <a:off x="4517136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5" name="PH|pic|Photo"/>
          <p:cNvSpPr txBox="1"/>
          <p:nvPr>
            <p:ph type="pic" idx="3"/>
          </p:nvPr>
        </p:nvSpPr>
        <p:spPr>
          <a:xfrm>
            <a:off x="8101583" y="1572768"/>
            <a:ext cx="3172968" cy="2606040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Photo</a:t>
            </a:r>
          </a:p>
        </p:txBody>
      </p:sp>
      <p:sp>
        <p:nvSpPr>
          <p:cNvPr id="6" name="PH|body|Name&#10;Role / affiliation"/>
          <p:cNvSpPr txBox="1"/>
          <p:nvPr>
            <p:ph type="body" idx="4"/>
          </p:nvPr>
        </p:nvSpPr>
        <p:spPr>
          <a:xfrm>
            <a:off x="932688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7" name="PH|body|Name&#10;Role / affiliation"/>
          <p:cNvSpPr txBox="1"/>
          <p:nvPr>
            <p:ph type="body" idx="5"/>
          </p:nvPr>
        </p:nvSpPr>
        <p:spPr>
          <a:xfrm>
            <a:off x="4517136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  <p:sp>
        <p:nvSpPr>
          <p:cNvPr id="8" name="PH|body|Name&#10;Role / affiliation"/>
          <p:cNvSpPr txBox="1"/>
          <p:nvPr>
            <p:ph type="body" idx="6"/>
          </p:nvPr>
        </p:nvSpPr>
        <p:spPr>
          <a:xfrm>
            <a:off x="8101583" y="4535424"/>
            <a:ext cx="3154680" cy="108813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0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Name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000" b="0">
                <a:solidFill>
                  <a:srgbClr val="2E2D2C"/>
                </a:solidFill>
                <a:latin typeface="Inter"/>
              </a:defRPr>
            </a:pPr>
            <a:r>
              <a:rPr sz="2000" b="0">
                <a:solidFill>
                  <a:srgbClr val="2E2D2C"/>
                </a:solidFill>
                <a:latin typeface="Inter"/>
              </a:rPr>
              <a:t>Role / affiliation</a:t>
            </a:r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7 — Title canva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8 — Empty canvas with fram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19 — Image collage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Image A"/>
          <p:cNvSpPr txBox="1"/>
          <p:nvPr>
            <p:ph type="pic" idx="1"/>
          </p:nvPr>
        </p:nvSpPr>
        <p:spPr>
          <a:xfrm>
            <a:off x="859536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A</a:t>
            </a:r>
          </a:p>
        </p:txBody>
      </p:sp>
      <p:sp>
        <p:nvSpPr>
          <p:cNvPr id="4" name="PH|pic|Image B"/>
          <p:cNvSpPr txBox="1"/>
          <p:nvPr>
            <p:ph type="pic" idx="2"/>
          </p:nvPr>
        </p:nvSpPr>
        <p:spPr>
          <a:xfrm>
            <a:off x="4096512" y="1572768"/>
            <a:ext cx="3035808" cy="1984248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B</a:t>
            </a:r>
          </a:p>
        </p:txBody>
      </p:sp>
      <p:sp>
        <p:nvSpPr>
          <p:cNvPr id="5" name="PH|pic|Image C"/>
          <p:cNvSpPr txBox="1"/>
          <p:nvPr>
            <p:ph type="pic" idx="3"/>
          </p:nvPr>
        </p:nvSpPr>
        <p:spPr>
          <a:xfrm>
            <a:off x="859536" y="3749039"/>
            <a:ext cx="6272784" cy="1911095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Image C</a:t>
            </a:r>
          </a:p>
        </p:txBody>
      </p:sp>
      <p:sp>
        <p:nvSpPr>
          <p:cNvPr id="6" name="PH|body|Heading&#10;&#10;Add text"/>
          <p:cNvSpPr txBox="1"/>
          <p:nvPr>
            <p:ph type="body" idx="4"/>
          </p:nvPr>
        </p:nvSpPr>
        <p:spPr>
          <a:xfrm>
            <a:off x="7635240" y="1700784"/>
            <a:ext cx="3657600" cy="3986784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 showMasterSp="1">
  <p:cSld name="20 — Two image crops"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PH|title|Slide title"/>
          <p:cNvSpPr txBox="1"/>
          <p:nvPr>
            <p:ph type="title" idx="0"/>
          </p:nvPr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1pPr>
            <a:lvl2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2pPr>
            <a:lvl3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3pPr>
            <a:lvl4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4pPr>
            <a:lvl5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5pPr>
            <a:lvl6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6pPr>
            <a:lvl7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7pPr>
            <a:lvl8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8pPr>
            <a:lvl9pPr marL="0" indent="0" algn="ctr">
              <a:buNone/>
              <a:defRPr sz="2800" b="1">
                <a:solidFill>
                  <a:srgbClr val="333351"/>
                </a:solidFill>
                <a:latin typeface="Inter"/>
              </a:defRPr>
            </a:lvl9pPr>
          </a:lstStyle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800" b="1">
                <a:solidFill>
                  <a:srgbClr val="333351"/>
                </a:solidFill>
                <a:latin typeface="Inter"/>
              </a:defRPr>
            </a:pPr>
            <a:r>
              <a:rPr sz="2800" b="1">
                <a:solidFill>
                  <a:srgbClr val="333351"/>
                </a:solidFill>
                <a:latin typeface="Inter"/>
              </a:rPr>
              <a:t>Slide title</a:t>
            </a:r>
          </a:p>
        </p:txBody>
      </p:sp>
      <p:sp>
        <p:nvSpPr>
          <p:cNvPr id="3" name="PH|pic|Wide crop"/>
          <p:cNvSpPr txBox="1"/>
          <p:nvPr>
            <p:ph type="pic" idx="1"/>
          </p:nvPr>
        </p:nvSpPr>
        <p:spPr>
          <a:xfrm>
            <a:off x="896112" y="1600200"/>
            <a:ext cx="3685032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Wide crop</a:t>
            </a:r>
          </a:p>
        </p:txBody>
      </p:sp>
      <p:sp>
        <p:nvSpPr>
          <p:cNvPr id="4" name="PH|pic|Portrait crop"/>
          <p:cNvSpPr txBox="1"/>
          <p:nvPr>
            <p:ph type="pic" idx="2"/>
          </p:nvPr>
        </p:nvSpPr>
        <p:spPr>
          <a:xfrm>
            <a:off x="4864608" y="1600200"/>
            <a:ext cx="2743200" cy="3182112"/>
          </a:xfrm>
          <a:prstGeom prst="rect">
            <a:avLst/>
          </a:prstGeom>
          <a:solidFill>
            <a:srgbClr val="CBCFD0"/>
          </a:solidFill>
          <a:ln>
            <a:solidFill>
              <a:srgbClr val="C0B1A2"/>
            </a:solidFill>
          </a:ln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18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1800" b="0">
                <a:solidFill>
                  <a:srgbClr val="2E2D2C"/>
                </a:solidFill>
                <a:latin typeface="Inter"/>
              </a:defRPr>
            </a:pPr>
            <a:r>
              <a:rPr sz="1800" b="0">
                <a:solidFill>
                  <a:srgbClr val="2E2D2C"/>
                </a:solidFill>
                <a:latin typeface="Inter"/>
              </a:rPr>
              <a:t>Portrait crop</a:t>
            </a:r>
          </a:p>
        </p:txBody>
      </p:sp>
      <p:sp>
        <p:nvSpPr>
          <p:cNvPr id="5" name="PH|body|Heading&#10;&#10;Add text"/>
          <p:cNvSpPr txBox="1"/>
          <p:nvPr>
            <p:ph type="body" idx="3"/>
          </p:nvPr>
        </p:nvSpPr>
        <p:spPr>
          <a:xfrm>
            <a:off x="8138160" y="1783080"/>
            <a:ext cx="3145536" cy="3511296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>
            <a:lvl1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1pPr>
            <a:lvl2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2pPr>
            <a:lvl3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3pPr>
            <a:lvl4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4pPr>
            <a:lvl5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5pPr>
            <a:lvl6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6pPr>
            <a:lvl7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7pPr>
            <a:lvl8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8pPr>
            <a:lvl9pPr marL="0" indent="0" algn="l">
              <a:buNone/>
              <a:defRPr sz="2200" b="0">
                <a:solidFill>
                  <a:srgbClr val="2E2D2C"/>
                </a:solidFill>
                <a:latin typeface="Inter"/>
              </a:defRPr>
            </a:lvl9pPr>
          </a:lstStyle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Heading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/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200" b="0">
                <a:solidFill>
                  <a:srgbClr val="2E2D2C"/>
                </a:solidFill>
                <a:latin typeface="Inter"/>
              </a:defRPr>
            </a:pPr>
            <a:r>
              <a:rPr sz="2200" b="0">
                <a:solidFill>
                  <a:srgbClr val="2E2D2C"/>
                </a:solidFill>
                <a:latin typeface="Inter"/>
              </a:rPr>
              <a:t>Add text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Frame12" Type="http://schemas.openxmlformats.org/officeDocument/2006/relationships/image" Target="../media/image1.png"/><Relationship Id="rIdLayout1" Type="http://schemas.openxmlformats.org/officeDocument/2006/relationships/slideLayout" Target="../slideLayouts/slideLayout1.xml"/><Relationship Id="rIdLayout10" Type="http://schemas.openxmlformats.org/officeDocument/2006/relationships/slideLayout" Target="../slideLayouts/slideLayout10.xml"/><Relationship Id="rIdLayout11" Type="http://schemas.openxmlformats.org/officeDocument/2006/relationships/slideLayout" Target="../slideLayouts/slideLayout11.xml"/><Relationship Id="rIdLayout12" Type="http://schemas.openxmlformats.org/officeDocument/2006/relationships/slideLayout" Target="../slideLayouts/slideLayout12.xml"/><Relationship Id="rIdLayout13" Type="http://schemas.openxmlformats.org/officeDocument/2006/relationships/slideLayout" Target="../slideLayouts/slideLayout13.xml"/><Relationship Id="rIdLayout14" Type="http://schemas.openxmlformats.org/officeDocument/2006/relationships/slideLayout" Target="../slideLayouts/slideLayout14.xml"/><Relationship Id="rIdLayout15" Type="http://schemas.openxmlformats.org/officeDocument/2006/relationships/slideLayout" Target="../slideLayouts/slideLayout15.xml"/><Relationship Id="rIdLayout16" Type="http://schemas.openxmlformats.org/officeDocument/2006/relationships/slideLayout" Target="../slideLayouts/slideLayout16.xml"/><Relationship Id="rIdLayout17" Type="http://schemas.openxmlformats.org/officeDocument/2006/relationships/slideLayout" Target="../slideLayouts/slideLayout17.xml"/><Relationship Id="rIdLayout18" Type="http://schemas.openxmlformats.org/officeDocument/2006/relationships/slideLayout" Target="../slideLayouts/slideLayout18.xml"/><Relationship Id="rIdLayout19" Type="http://schemas.openxmlformats.org/officeDocument/2006/relationships/slideLayout" Target="../slideLayouts/slideLayout19.xml"/><Relationship Id="rIdLayout2" Type="http://schemas.openxmlformats.org/officeDocument/2006/relationships/slideLayout" Target="../slideLayouts/slideLayout2.xml"/><Relationship Id="rIdLayout20" Type="http://schemas.openxmlformats.org/officeDocument/2006/relationships/slideLayout" Target="../slideLayouts/slideLayout20.xml"/><Relationship Id="rIdLayout3" Type="http://schemas.openxmlformats.org/officeDocument/2006/relationships/slideLayout" Target="../slideLayouts/slideLayout3.xml"/><Relationship Id="rIdLayout4" Type="http://schemas.openxmlformats.org/officeDocument/2006/relationships/slideLayout" Target="../slideLayouts/slideLayout4.xml"/><Relationship Id="rIdLayout5" Type="http://schemas.openxmlformats.org/officeDocument/2006/relationships/slideLayout" Target="../slideLayouts/slideLayout5.xml"/><Relationship Id="rIdLayout6" Type="http://schemas.openxmlformats.org/officeDocument/2006/relationships/slideLayout" Target="../slideLayouts/slideLayout6.xml"/><Relationship Id="rIdLayout7" Type="http://schemas.openxmlformats.org/officeDocument/2006/relationships/slideLayout" Target="../slideLayouts/slideLayout7.xml"/><Relationship Id="rIdLayout8" Type="http://schemas.openxmlformats.org/officeDocument/2006/relationships/slideLayout" Target="../slideLayouts/slideLayout8.xml"/><Relationship Id="rIdLayout9" Type="http://schemas.openxmlformats.org/officeDocument/2006/relationships/slideLayout" Target="../slideLayouts/slideLayout9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FRAME | University mark" descr="berkeley_seal.png"/>
          <p:cNvPicPr>
            <a:picLocks noChangeAspect="1"/>
          </p:cNvPicPr>
          <p:nvPr/>
        </p:nvPicPr>
        <p:blipFill>
          <a:blip r:embed="rIdFrame12"/>
          <a:stretch>
            <a:fillRect/>
          </a:stretch>
        </p:blipFill>
        <p:spPr>
          <a:xfrm>
            <a:off x="457200" y="274320"/>
            <a:ext cx="731520" cy="731520"/>
          </a:xfrm>
          <a:prstGeom prst="rect">
            <a:avLst/>
          </a:prstGeom>
          <a:effectLst/>
        </p:spPr>
      </p:pic>
      <p:sp>
        <p:nvSpPr>
          <p:cNvPr id="3" name="FRAME | Lab name"/>
          <p:cNvSpPr txBox="1"/>
          <p:nvPr/>
        </p:nvSpPr>
        <p:spPr>
          <a:xfrm>
            <a:off x="1298448" y="365760"/>
            <a:ext cx="1298448" cy="32004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103552"/>
                </a:solidFill>
                <a:latin typeface="Inter"/>
              </a:rPr>
              <a:t>BAR LAB</a:t>
            </a:r>
          </a:p>
        </p:txBody>
      </p:sp>
      <p:sp>
        <p:nvSpPr>
          <p:cNvPr id="4" name="FRAME | Affiliation"/>
          <p:cNvSpPr txBox="1"/>
          <p:nvPr/>
        </p:nvSpPr>
        <p:spPr>
          <a:xfrm>
            <a:off x="1298448" y="704088"/>
            <a:ext cx="1298448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>
                <a:solidFill>
                  <a:srgbClr val="2E2D2C"/>
                </a:solidFill>
                <a:latin typeface="Inter"/>
              </a:rPr>
              <a:t>UC BERKELEY</a:t>
            </a:r>
          </a:p>
        </p:txBody>
      </p:sp>
      <p:cxnSp>
        <p:nvCxnSpPr>
          <p:cNvPr id="5" name="FRAME | Title rule"/>
          <p:cNvCxnSpPr/>
          <p:nvPr/>
        </p:nvCxnSpPr>
        <p:spPr>
          <a:xfrm>
            <a:off x="4928616" y="978408"/>
            <a:ext cx="2331720" cy="0"/>
          </a:xfrm>
          <a:prstGeom prst="line">
            <a:avLst/>
          </a:prstGeom>
          <a:ln w="26670">
            <a:solidFill>
              <a:srgbClr val="AB9A8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FRAME | Purpose label"/>
          <p:cNvSpPr txBox="1"/>
          <p:nvPr/>
        </p:nvSpPr>
        <p:spPr>
          <a:xfrm>
            <a:off x="9966960" y="438912"/>
            <a:ext cx="1737360" cy="18288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PROGRAM</a:t>
            </a:r>
          </a:p>
        </p:txBody>
      </p:sp>
      <p:sp>
        <p:nvSpPr>
          <p:cNvPr id="7" name="FRAME | Purpose value"/>
          <p:cNvSpPr txBox="1"/>
          <p:nvPr/>
        </p:nvSpPr>
        <p:spPr>
          <a:xfrm>
            <a:off x="9509760" y="694944"/>
            <a:ext cx="219456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313455"/>
                </a:solidFill>
                <a:latin typeface="Inter"/>
              </a:rPr>
              <a:t>MX GEMMINI + VPU</a:t>
            </a:r>
          </a:p>
        </p:txBody>
      </p:sp>
      <p:sp>
        <p:nvSpPr>
          <p:cNvPr id="8" name="FRAME | Arrow pill"/>
          <p:cNvSpPr/>
          <p:nvPr/>
        </p:nvSpPr>
        <p:spPr>
          <a:xfrm>
            <a:off x="438912" y="6300216"/>
            <a:ext cx="950976" cy="283464"/>
          </a:xfrm>
          <a:prstGeom prst="roundRect">
            <a:avLst>
              <a:gd name="adj" fmla="val 50000"/>
            </a:avLst>
          </a:prstGeom>
          <a:noFill/>
          <a:ln w="8255">
            <a:solidFill>
              <a:srgbClr val="2E2D2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FRAME | Arrow"/>
          <p:cNvCxnSpPr/>
          <p:nvPr/>
        </p:nvCxnSpPr>
        <p:spPr>
          <a:xfrm>
            <a:off x="694944" y="6441948"/>
            <a:ext cx="438912" cy="0"/>
          </a:xfrm>
          <a:prstGeom prst="line">
            <a:avLst/>
          </a:prstGeom>
          <a:ln w="11430">
            <a:solidFill>
              <a:srgbClr val="2E2D2C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PAGE"/>
          <p:cNvSpPr txBox="1"/>
          <p:nvPr/>
        </p:nvSpPr>
        <p:spPr>
          <a:xfrm>
            <a:off x="10387584" y="6318504"/>
            <a:ext cx="1325880" cy="228600"/>
          </a:xfrm>
          <a:prstGeom prst="rect">
            <a:avLst/>
          </a:prstGeom>
          <a:noFill/>
          <a:effectLst/>
        </p:spPr>
        <p:txBody>
          <a:bodyPr wrap="square" lIns="0" rIns="0" tIns="0" bIns="0" anchor="t">
            <a:spAutoFit/>
          </a:bodyPr>
          <a:lstStyle/>
          <a:p/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0" r:id="rIdLayout1"/>
    <p:sldLayoutId id="2147483651" r:id="rIdLayout2"/>
    <p:sldLayoutId id="2147483652" r:id="rIdLayout3"/>
    <p:sldLayoutId id="2147483653" r:id="rIdLayout4"/>
    <p:sldLayoutId id="2147483654" r:id="rIdLayout5"/>
    <p:sldLayoutId id="2147483655" r:id="rIdLayout6"/>
    <p:sldLayoutId id="2147483656" r:id="rIdLayout7"/>
    <p:sldLayoutId id="2147483657" r:id="rIdLayout8"/>
    <p:sldLayoutId id="2147483658" r:id="rIdLayout9"/>
    <p:sldLayoutId id="2147483659" r:id="rIdLayout10"/>
    <p:sldLayoutId id="2147483660" r:id="rIdLayout11"/>
    <p:sldLayoutId id="2147483661" r:id="rIdLayout12"/>
    <p:sldLayoutId id="2147483662" r:id="rIdLayout13"/>
    <p:sldLayoutId id="2147483663" r:id="rIdLayout14"/>
    <p:sldLayoutId id="2147483664" r:id="rIdLayout15"/>
    <p:sldLayoutId id="2147483665" r:id="rIdLayout16"/>
    <p:sldLayoutId id="2147483666" r:id="rIdLayout17"/>
    <p:sldLayoutId id="2147483667" r:id="rIdLayout18"/>
    <p:sldLayoutId id="2147483668" r:id="rIdLayout19"/>
    <p:sldLayoutId id="2147483669" r:id="rIdLayout20"/>
  </p:sldLayoutIdLst>
  <p:txStyles>
    <p:titleStyle>
      <a:lvl1pPr algn="ctr" defTabSz="457200" rtl="0" eaLnBrk="1" latinLnBrk="0" hangingPunct="1" marL="0" indent="0">
        <a:buNone/>
        <a:spcBef>
          <a:spcPct val="0"/>
        </a:spcBef>
        <a:defRPr sz="2800" kern="1200">
          <a:solidFill>
            <a:schemeClr val="tx1"/>
          </a:solidFill>
          <a:latin typeface="Inter"/>
          <a:ea typeface="+mj-ea"/>
          <a:cs typeface="+mj-cs"/>
        </a:defRPr>
      </a:lvl1pPr>
    </p:titleStyle>
    <p:bodyStyle>
      <a:lvl1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indent="0" algn="l" defTabSz="457200" rtl="0" eaLnBrk="1" latinLnBrk="0" hangingPunct="1">
        <a:buNone/>
        <a:spcBef>
          <a:spcPct val="20000"/>
        </a:spcBef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1pPr>
      <a:lvl2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2pPr>
      <a:lvl3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3pPr>
      <a:lvl4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4pPr>
      <a:lvl5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5pPr>
      <a:lvl6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6pPr>
      <a:lvl7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7pPr>
      <a:lvl8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8pPr>
      <a:lvl9pPr marL="0" algn="l" defTabSz="457200" rtl="0" eaLnBrk="1" latinLnBrk="0" hangingPunct="1" indent="0">
        <a:buNone/>
        <a:defRPr sz="2200" kern="1200">
          <a:solidFill>
            <a:schemeClr val="tx1"/>
          </a:solidFill>
          <a:latin typeface="Inter"/>
          <a:ea typeface="+mn-ea"/>
          <a:cs typeface="+mn-cs"/>
        </a:defRPr>
      </a:lvl9pPr>
    </p:otherStyle>
  </p:txStyles>
</p:sldMaster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0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3.xml"/></Relationships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2514600" y="438912"/>
            <a:ext cx="7168896" cy="5029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540" b="1">
                <a:solidFill>
                  <a:srgbClr val="313455"/>
                </a:solidFill>
                <a:latin typeface="Inter"/>
              </a:rPr>
              <a:t>Radiance MX: output and schedule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859536" y="1527048"/>
          <a:ext cx="10479023" cy="29626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1508760"/>
                <a:gridCol w="3749039"/>
                <a:gridCol w="2386584"/>
              </a:tblGrid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Radiance source kernel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Shape M×N×K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Compiler check on Nicolas Spike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Inter"/>
                        </a:rPr>
                        <a:t>B traffic / limit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128 KiB · 32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FP4 down-projection · read once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256×64×5632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one 256×64 tile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176 KiB · 88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FP8 GEMM · four-pass re-stream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256×64×2048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16,384 BF16; four 64×64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512 KiB · 128 reads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Batched GEMV · FP8/FP4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 source shapes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45,056 BF16 across four controls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one-read controls</a:t>
                      </a:r>
                    </a:p>
                  </a:txBody>
                  <a:tcPr marL="128016" marR="91440" marT="45720" marB="27432" anchor="ctr"/>
                </a:tc>
              </a:tr>
              <a:tr h="493776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1">
                          <a:solidFill>
                            <a:srgbClr val="313455"/>
                          </a:solidFill>
                          <a:latin typeface="Inter"/>
                        </a:rPr>
                        <a:t>GQA attention · MX PV only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16 cutpoints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65,536 BF16 PV outputs with source P tiles</a:t>
                      </a:r>
                    </a:p>
                  </a:txBody>
                  <a:tcPr marL="128016" marR="91440" marT="45720" marB="27432" anchor="ctr"/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090" b="0">
                          <a:solidFill>
                            <a:srgbClr val="313455"/>
                          </a:solidFill>
                          <a:latin typeface="Inter"/>
                        </a:rPr>
                        <a:t>whole kernel open</a:t>
                      </a:r>
                    </a:p>
                  </a:txBody>
                  <a:tcPr marL="128016" marR="91440" marT="45720" marB="27432" anchor="ctr"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59536" y="4599432"/>
            <a:ext cx="5120640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TILE_M=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TILE_N=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TILE_K=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 FP8 read once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tile=[</a:t>
            </a:r>
            <a:r>
              <a:rPr sz="950">
                <a:solidFill>
                  <a:srgbClr val="A44F25"/>
                </a:solidFill>
                <a:latin typeface="Liberation Mono"/>
              </a:rPr>
              <a:t>256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,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],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32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153912" y="4599432"/>
            <a:ext cx="5184648" cy="685800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Radiance: four </a:t>
            </a:r>
            <a:r>
              <a:rPr sz="950">
                <a:solidFill>
                  <a:srgbClr val="A44F25"/>
                </a:solidFill>
                <a:latin typeface="Liberation Mono"/>
              </a:rPr>
              <a:t>64</a:t>
            </a:r>
            <a:r>
              <a:rPr sz="950">
                <a:solidFill>
                  <a:srgbClr val="103552"/>
                </a:solidFill>
                <a:latin typeface="Liberation Mono"/>
              </a:rPr>
              <a:t>-row passes, B re-streamed each pass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50">
                <a:solidFill>
                  <a:srgbClr val="103552"/>
                </a:solidFill>
                <a:latin typeface="Liberation Mono"/>
              </a:rPr>
              <a:t>Compiler: </a:t>
            </a:r>
            <a:r>
              <a:rPr sz="950">
                <a:solidFill>
                  <a:srgbClr val="A44F25"/>
                </a:solidFill>
                <a:latin typeface="Liberation Mono"/>
              </a:rPr>
              <a:t>4</a:t>
            </a:r>
            <a:r>
              <a:rPr sz="950">
                <a:solidFill>
                  <a:srgbClr val="103552"/>
                </a:solidFill>
                <a:latin typeface="Liberation Mono"/>
              </a:rPr>
              <a:t> output tiles, weight_reads=</a:t>
            </a:r>
            <a:r>
              <a:rPr sz="950">
                <a:solidFill>
                  <a:srgbClr val="A44F25"/>
                </a:solidFill>
                <a:latin typeface="Liberation Mono"/>
              </a:rPr>
              <a:t>128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9536" y="5504688"/>
            <a:ext cx="10479024" cy="5669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We supplied Radiance's packed data and tile sizes. The compiler matched output and weight traffic; it did not discover the schedule on its own. Radiance runs on Muon+MX, this check on Rocket+MX+VPU Spike, so there is no cycle ratio. GQA PV is one stage.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04 / 04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One JSON profile changes legal MLIR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81328"/>
            <a:ext cx="5522976" cy="4407408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547104" y="1481328"/>
            <a:ext cx="4800600" cy="4407408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36776"/>
            <a:ext cx="510235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Selected RTL profile fields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29968"/>
            <a:ext cx="5093208" cy="2569464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"geometry"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"mesh_rows"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"mesh_columns"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16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"legal_compute"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[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0</a:t>
            </a:r>
            <a:r>
              <a:rPr sz="1045">
                <a:solidFill>
                  <a:srgbClr val="103552"/>
                </a:solidFill>
                <a:latin typeface="Liberation Mono"/>
              </a:rPr>
              <a:t>},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"activation_format"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"weight_format"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28704F"/>
                </a:solidFill>
                <a:latin typeface="Liberation Mono"/>
              </a:rPr>
              <a:t>"fp8_e4m3"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"pe_mode"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8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],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</a:t>
            </a:r>
            <a:r>
              <a:rPr sz="1045">
                <a:solidFill>
                  <a:srgbClr val="6C3D80"/>
                </a:solidFill>
                <a:latin typeface="Liberation Mono"/>
              </a:rPr>
              <a:t>"resources"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 {</a:t>
            </a:r>
            <a:r>
              <a:rPr sz="1045">
                <a:solidFill>
                  <a:srgbClr val="6C3D80"/>
                </a:solidFill>
                <a:latin typeface="Liberation Mono"/>
              </a:rPr>
              <a:t>"scratchpad_bytes"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A44F25"/>
                </a:solidFill>
                <a:latin typeface="Liberation Mono"/>
              </a:rPr>
              <a:t>262144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               </a:t>
            </a:r>
            <a:r>
              <a:rPr sz="1045">
                <a:solidFill>
                  <a:srgbClr val="6C3D80"/>
                </a:solidFill>
                <a:latin typeface="Liberation Mono"/>
              </a:rPr>
              <a:t>"vpu"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true</a:t>
            </a:r>
            <a:r>
              <a:rPr sz="1045">
                <a:solidFill>
                  <a:srgbClr val="103552"/>
                </a:solidFill>
                <a:latin typeface="Liberation Mono"/>
              </a:rPr>
              <a:t>,</a:t>
            </a:r>
            <a:r>
              <a:rPr sz="1045">
                <a:solidFill>
                  <a:srgbClr val="6C3D80"/>
                </a:solidFill>
                <a:latin typeface="Liberation Mono"/>
              </a:rPr>
              <a:t>"lut"</a:t>
            </a:r>
            <a:r>
              <a:rPr sz="1045">
                <a:solidFill>
                  <a:srgbClr val="103552"/>
                </a:solidFill>
                <a:latin typeface="Liberation Mono"/>
              </a:rPr>
              <a:t>:</a:t>
            </a:r>
            <a:r>
              <a:rPr sz="1045">
                <a:solidFill>
                  <a:srgbClr val="6C3D80"/>
                </a:solidFill>
                <a:latin typeface="Liberation Mono"/>
              </a:rPr>
              <a:t>false</a:t>
            </a: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5">
                <a:solidFill>
                  <a:srgbClr val="103552"/>
                </a:solidFill>
                <a:latin typeface="Liberation Mono"/>
              </a:rPr>
              <a:t>}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4736592"/>
            <a:ext cx="5093208" cy="47548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 b="0">
                <a:solidFill>
                  <a:srgbClr val="313455"/>
                </a:solidFill>
                <a:latin typeface="Inter"/>
              </a:rPr>
              <a:t>MxE4M3Fp4VpuGemminiRocketConfig · direct projections in both legal rows · two 8-lane BF16 VPUs.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" y="5312664"/>
            <a:ext cx="5093208" cy="3566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40" b="0">
                <a:solidFill>
                  <a:srgbClr val="5B5957"/>
                </a:solidFill>
                <a:latin typeface="Inter"/>
              </a:rPr>
              <a:t>RTL 266c593 + MxGen dba3e7 → 41 fragments / 40 SoC wrappers; each JSON stores source hashes.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48272" y="1636776"/>
            <a:ext cx="4370832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20" b="1">
                <a:solidFill>
                  <a:srgbClr val="103552"/>
                </a:solidFill>
                <a:latin typeface="Inter"/>
              </a:rPr>
              <a:t>Before → after bind_profile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748272" y="2029968"/>
            <a:ext cx="4379976" cy="1499616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before</a:t>
            </a:r>
            <a:r>
              <a:rPr sz="1085">
                <a:solidFill>
                  <a:srgbClr val="103552"/>
                </a:solidFill>
                <a:latin typeface="Liberation Mono"/>
              </a:rPr>
              <a:t>: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{format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"mxfp4"</a:t>
            </a:r>
            <a:r>
              <a:rPr sz="1085">
                <a:solidFill>
                  <a:srgbClr val="103552"/>
                </a:solidFill>
                <a:latin typeface="Liberation Mono"/>
              </a:rPr>
              <a:t>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6C3D80"/>
                </a:solidFill>
                <a:latin typeface="Liberation Mono"/>
              </a:rPr>
              <a:t>after</a:t>
            </a:r>
            <a:r>
              <a:rPr sz="1085">
                <a:solidFill>
                  <a:srgbClr val="103552"/>
                </a:solidFill>
                <a:latin typeface="Liberation Mono"/>
              </a:rPr>
              <a:t>:  </a:t>
            </a:r>
            <a:r>
              <a:rPr sz="1085">
                <a:solidFill>
                  <a:srgbClr val="6C3D80"/>
                </a:solidFill>
                <a:latin typeface="Liberation Mono"/>
              </a:rPr>
              <a:t>contract</a:t>
            </a:r>
            <a:r>
              <a:rPr sz="1085">
                <a:solidFill>
                  <a:srgbClr val="103552"/>
                </a:solidFill>
                <a:latin typeface="Liberation Mono"/>
              </a:rPr>
              <a:t>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085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A44F25"/>
                </a:solidFill>
                <a:latin typeface="Liberation Mono"/>
              </a:rPr>
              <a:t>0</a:t>
            </a:r>
            <a:r>
              <a:rPr sz="1085">
                <a:solidFill>
                  <a:srgbClr val="103552"/>
                </a:solidFill>
                <a:latin typeface="Liberation Mono"/>
              </a:rPr>
              <a:t> : i32,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85">
                <a:solidFill>
                  <a:srgbClr val="103552"/>
                </a:solidFill>
                <a:latin typeface="Liberation Mono"/>
              </a:rPr>
              <a:t>  </a:t>
            </a:r>
            <a:r>
              <a:rPr sz="1085">
                <a:solidFill>
                  <a:srgbClr val="6C3D80"/>
                </a:solidFill>
                <a:latin typeface="Liberation Mono"/>
              </a:rPr>
              <a:t>profile_sha256</a:t>
            </a:r>
            <a:r>
              <a:rPr sz="1085">
                <a:solidFill>
                  <a:srgbClr val="103552"/>
                </a:solidFill>
                <a:latin typeface="Liberation Mono"/>
              </a:rPr>
              <a:t> = </a:t>
            </a:r>
            <a:r>
              <a:rPr sz="1085">
                <a:solidFill>
                  <a:srgbClr val="28704F"/>
                </a:solidFill>
                <a:latin typeface="Liberation Mono"/>
              </a:rPr>
              <a:t>"e9e33f..."</a:t>
            </a:r>
            <a:r>
              <a:rPr sz="1085">
                <a:solidFill>
                  <a:srgbClr val="103552"/>
                </a:solidFill>
                <a:latin typeface="Liberation Mono"/>
              </a:rPr>
              <a:t> }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48272" y="3712463"/>
            <a:ext cx="4370832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10" b="1">
                <a:solidFill>
                  <a:srgbClr val="103552"/>
                </a:solidFill>
                <a:latin typeface="Inter"/>
              </a:rPr>
              <a:t>Compiler consequences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2" y="4041648"/>
            <a:ext cx="4370832" cy="172821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MX+VPU: direct FP4 PE 0 and FP8 PE 8; no LUT.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FP6 E3M2 LUT × FP4 direct → PE 3; VPU off.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LUT PE 9: both; 10: activation; 11: weight.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PE 0–8 can also use LUT; mode alone is insufficient.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TinyLlama: 155 FP4 / 45 FP8 sites per stage.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256 KiB SPAD caps tiles; VPU/requant legal.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 b="0">
                <a:solidFill>
                  <a:srgbClr val="313455"/>
                </a:solidFill>
                <a:latin typeface="Inter"/>
              </a:rPr>
              <a:t>• load_profile(profile, rtl_root=rtl) rejects drift.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" y="5943600"/>
            <a:ext cx="10469880" cy="2286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npu-exploration supplies source kernels for per-mode Spike checks; the RTL profile alone is structural, not a performance claim.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02 / 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dialect: typed IR to RV64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59536" y="1499616"/>
            <a:ext cx="5166360" cy="2724912"/>
          </a:xfrm>
          <a:prstGeom prst="roundRect">
            <a:avLst/>
          </a:prstGeom>
          <a:solidFill>
            <a:srgbClr val="EDE5D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181344" y="1499616"/>
            <a:ext cx="5166360" cy="272491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FP4 GEMM → typed MX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51560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"mx_gemmini.contract"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%As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  <a:r>
              <a:rPr sz="1110">
                <a:solidFill>
                  <a:srgbClr val="006874"/>
                </a:solidFill>
                <a:latin typeface="Liberation Mono"/>
              </a:rPr>
              <a:t>%Bs</a:t>
            </a:r>
            <a:r>
              <a:rPr sz="1110">
                <a:solidFill>
                  <a:srgbClr val="103552"/>
                </a:solidFill>
                <a:latin typeface="Liberation Mono"/>
              </a:rPr>
              <a:t>) {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activation_format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103552"/>
                </a:solidFill>
                <a:latin typeface="Liberation Mono"/>
              </a:rPr>
              <a:t>  </a:t>
            </a:r>
            <a:r>
              <a:rPr sz="1110">
                <a:solidFill>
                  <a:srgbClr val="6C3D80"/>
                </a:solidFill>
                <a:latin typeface="Liberation Mono"/>
              </a:rPr>
              <a:t>weight_format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28704F"/>
                </a:solidFill>
                <a:latin typeface="Liberation Mono"/>
              </a:rPr>
              <a:t>"fp4_e2m1"</a:t>
            </a:r>
            <a:r>
              <a:rPr sz="1110">
                <a:solidFill>
                  <a:srgbClr val="103552"/>
                </a:solidFill>
                <a:latin typeface="Liberation Mono"/>
              </a:rPr>
              <a:t>, </a:t>
            </a:r>
            <a:r>
              <a:rPr sz="1110">
                <a:solidFill>
                  <a:srgbClr val="6C3D80"/>
                </a:solidFill>
                <a:latin typeface="Liberation Mono"/>
              </a:rPr>
              <a:t>pe_mode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A44F25"/>
                </a:solidFill>
                <a:latin typeface="Liberation Mono"/>
              </a:rPr>
              <a:t>0</a:t>
            </a:r>
            <a:r>
              <a:rPr sz="1110">
                <a:solidFill>
                  <a:srgbClr val="103552"/>
                </a:solidFill>
                <a:latin typeface="Liberation Mono"/>
              </a:rPr>
              <a:t> : i32 }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10">
                <a:solidFill>
                  <a:srgbClr val="006874"/>
                </a:solidFill>
                <a:latin typeface="Liberation Mono"/>
              </a:rPr>
              <a:t>%out</a:t>
            </a:r>
            <a:r>
              <a:rPr sz="1110">
                <a:solidFill>
                  <a:srgbClr val="103552"/>
                </a:solidFill>
                <a:latin typeface="Liberation Mono"/>
              </a:rPr>
              <a:t> = </a:t>
            </a:r>
            <a:r>
              <a:rPr sz="1110">
                <a:solidFill>
                  <a:srgbClr val="6C3D80"/>
                </a:solidFill>
                <a:latin typeface="Liberation Mono"/>
              </a:rPr>
              <a:t>"mx_gemmini.readout_bf16"</a:t>
            </a:r>
            <a:r>
              <a:rPr sz="1110">
                <a:solidFill>
                  <a:srgbClr val="103552"/>
                </a:solidFill>
                <a:latin typeface="Liberation Mono"/>
              </a:rPr>
              <a:t>(</a:t>
            </a:r>
            <a:r>
              <a:rPr sz="1110">
                <a:solidFill>
                  <a:srgbClr val="006874"/>
                </a:solidFill>
                <a:latin typeface="Liberation Mono"/>
              </a:rPr>
              <a:t>%acc</a:t>
            </a:r>
            <a:r>
              <a:rPr sz="1110">
                <a:solidFill>
                  <a:srgbClr val="103552"/>
                </a:solidFill>
                <a:latin typeface="Liberation Mono"/>
              </a:rPr>
              <a:t>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438144"/>
            <a:ext cx="4727448" cy="68580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60" b="0">
                <a:solidFill>
                  <a:srgbClr val="313455"/>
                </a:solidFill>
                <a:latin typeface="Inter"/>
              </a:rPr>
              <a:t>resource supplies packed A/B codes + E8M0 scales. contract computes C[m,n] = Σk A[m,k]×B[k,n] in the selected PE mode; readout_bf16 returns BF16. VPU can do softmax; Radiance uses Muon SIMT.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664208"/>
            <a:ext cx="4754880" cy="310896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50" b="1">
                <a:solidFill>
                  <a:srgbClr val="103552"/>
                </a:solidFill>
                <a:latin typeface="Inter"/>
              </a:rPr>
              <a:t>Compiled attention object → binary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82512" y="2048256"/>
            <a:ext cx="4754880" cy="1298448"/>
          </a:xfrm>
          <a:prstGeom prst="roundRect">
            <a:avLst/>
          </a:prstGeom>
          <a:solidFill>
            <a:srgbClr val="FDF8F1"/>
          </a:solidFill>
          <a:ln>
            <a:solidFill>
              <a:srgbClr val="D3CAB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09728" tIns="91440" rIns="73152" bIns="36576"/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__asm__</a:t>
            </a:r>
            <a:r>
              <a:rPr sz="1030">
                <a:solidFill>
                  <a:srgbClr val="103552"/>
                </a:solidFill>
                <a:latin typeface="Liberation Mono"/>
              </a:rPr>
              <a:t> </a:t>
            </a:r>
            <a:r>
              <a:rPr sz="1030">
                <a:solidFill>
                  <a:srgbClr val="6C3D80"/>
                </a:solidFill>
                <a:latin typeface="Liberation Mono"/>
              </a:rPr>
              <a:t>volatile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".insn r 0x7b, 3, 2, x0, %0, %1"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: :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(Q_IN),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103552"/>
                </a:solidFill>
                <a:latin typeface="Liberation Mono"/>
              </a:rPr>
              <a:t>      </a:t>
            </a:r>
            <a:r>
              <a:rPr sz="1030">
                <a:solidFill>
                  <a:srgbClr val="28704F"/>
                </a:solidFill>
                <a:latin typeface="Liberation Mono"/>
              </a:rPr>
              <a:t>"r"</a:t>
            </a:r>
            <a:r>
              <a:rPr sz="1030">
                <a:solidFill>
                  <a:srgbClr val="103552"/>
                </a:solidFill>
                <a:latin typeface="Liberation Mono"/>
              </a:rPr>
              <a:t>(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0x0010001000000000</a:t>
            </a:r>
            <a:r>
              <a:rPr sz="1030">
                <a:solidFill>
                  <a:srgbClr val="103552"/>
                </a:solidFill>
                <a:latin typeface="Liberation Mono"/>
              </a:rPr>
              <a:t>));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30">
                <a:solidFill>
                  <a:srgbClr val="6C3D80"/>
                </a:solidFill>
                <a:latin typeface="Liberation Mono"/>
              </a:rPr>
              <a:t>objdump</a:t>
            </a:r>
            <a:r>
              <a:rPr sz="1030">
                <a:solidFill>
                  <a:srgbClr val="103552"/>
                </a:solidFill>
                <a:latin typeface="Liberation Mono"/>
              </a:rPr>
              <a:t>: 4a: 04b6b07b  .insn </a:t>
            </a:r>
            <a:r>
              <a:rPr sz="1030">
                <a:solidFill>
                  <a:srgbClr val="A44F25"/>
                </a:solidFill>
                <a:latin typeface="Liberation Mono"/>
              </a:rPr>
              <a:t>4</a:t>
            </a:r>
            <a:r>
              <a:rPr sz="1030">
                <a:solidFill>
                  <a:srgbClr val="103552"/>
                </a:solidFill>
                <a:latin typeface="Liberation Mono"/>
              </a:rPr>
              <a:t>, </a:t>
            </a:r>
            <a:r>
              <a:rPr sz="1030">
                <a:solidFill>
                  <a:srgbClr val="A44F25"/>
                </a:solidFill>
                <a:latin typeface="Liberation Mono"/>
              </a:rPr>
              <a:t>0x04b6b07b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82512" y="3493008"/>
            <a:ext cx="4727448" cy="54864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313455"/>
                </a:solidFill>
                <a:latin typeface="Inter"/>
              </a:rPr>
              <a:t>physical_program orders mvin → compute → VPU → mvout. RoCC C + data asm → RV64 GCC → ELF → Nicolas Spike.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7824" y="4352544"/>
            <a:ext cx="10424160" cy="27432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03552"/>
                </a:solidFill>
                <a:latin typeface="Inter"/>
              </a:rPr>
              <a:t>Implemented transforms and checks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59536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50976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bind_profile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50976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Legal PE tuple +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profile digest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99232" y="4709160"/>
            <a:ext cx="1965960" cy="987552"/>
          </a:xfrm>
          <a:prstGeom prst="roundRect">
            <a:avLst/>
          </a:prstGeom>
          <a:solidFill>
            <a:srgbClr val="E1E8EC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090672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MXBF16Catalog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Preparation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90672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Select BF16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MX sites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138927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30367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schedule.plan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30367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Choose native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loop policy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78623" y="4709160"/>
            <a:ext cx="1965960" cy="987552"/>
          </a:xfrm>
          <a:prstGeom prst="roundRect">
            <a:avLst/>
          </a:prstGeom>
          <a:solidFill>
            <a:srgbClr val="E5E7DA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70063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MXVPUPostOffload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70063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Map softmax, add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reductions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418319" y="4709160"/>
            <a:ext cx="1965960" cy="987552"/>
          </a:xfrm>
          <a:prstGeom prst="roundRect">
            <a:avLst/>
          </a:prstGeom>
          <a:solidFill>
            <a:srgbClr val="FDF8F1"/>
          </a:solidFill>
          <a:ln>
            <a:solidFill>
              <a:srgbClr val="B0A59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509759" y="4800600"/>
            <a:ext cx="1783080" cy="338328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170" b="1">
                <a:solidFill>
                  <a:srgbClr val="103552"/>
                </a:solidFill>
                <a:latin typeface="Inter"/>
              </a:rPr>
              <a:t>physical_program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509759" y="5230368"/>
            <a:ext cx="1783080" cy="365760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Order DMA, compute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80" b="0">
                <a:solidFill>
                  <a:srgbClr val="313455"/>
                </a:solidFill>
                <a:latin typeface="Inter"/>
              </a:rPr>
              <a:t>and VPU commands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77824" y="5833872"/>
            <a:ext cx="10469880" cy="329184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019" b="0">
                <a:solidFill>
                  <a:srgbClr val="5B5957"/>
                </a:solidFill>
                <a:latin typeface="Inter"/>
              </a:rPr>
              <a:t>mx-gemmini-opt verifies typed IR. The standalone command path bypasses LLVM; the generic full-model host currently uses Merlin → LLVM → RV64.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01 / 04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showMasterSp="1">
  <p:cSld>
    <p:bg>
      <p:bgPr>
        <a:solidFill>
          <a:srgbClr val="FD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5" name="TITLE"/>
          <p:cNvSpPr txBox="1"/>
          <p:nvPr/>
        </p:nvSpPr>
        <p:spPr>
          <a:xfrm>
            <a:off x="2926080" y="329184"/>
            <a:ext cx="6345936" cy="585216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313455"/>
                </a:solidFill>
                <a:latin typeface="Inter"/>
              </a:rPr>
              <a:t>MX results: Spike comparisons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859536" y="1673352"/>
          <a:ext cx="10479023" cy="28529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941063"/>
                <a:gridCol w="2176272"/>
                <a:gridCol w="2176272"/>
                <a:gridCol w="2185416"/>
              </a:tblGrid>
              <a:tr h="548640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Workload / compared code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Control/source cycles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120" b="1">
                          <a:solidFill>
                            <a:srgbClr val="FFFFFF"/>
                          </a:solidFill>
                          <a:latin typeface="Inter"/>
                        </a:rPr>
                        <a:t>Compiler Δ</a:t>
                      </a:r>
                    </a:p>
                  </a:txBody>
                  <a:tcPr marL="128016" marR="91440" marT="45720" marB="27432" anchor="ctr">
                    <a:solidFill>
                      <a:srgbClr val="0F3759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SmolVLA all-FP8 12-step · issuer swap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180,219,637,915*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179,451,403,096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+0.428%</a:t>
                      </a:r>
                    </a:p>
                  </a:txBody>
                  <a:tcPr marL="128016" marR="91440" marT="45720" marB="27432" anchor="ctr">
                    <a:solidFill>
                      <a:srgbClr val="F5EEE5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mixed 33 steps · issuer swap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83,547,564,353*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83,544,602,795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+0.004%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1">
                          <a:solidFill>
                            <a:srgbClr val="313455"/>
                          </a:solidFill>
                          <a:latin typeface="Inter"/>
                        </a:rPr>
                        <a:t>TinyLlama 160-token forward · independent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15,170,996,572†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12,703,713,784†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NO RATIO</a:t>
                      </a:r>
                    </a:p>
                  </a:txBody>
                  <a:tcPr marL="128016" marR="91440" marT="45720" marB="27432" anchor="ctr">
                    <a:solidFill>
                      <a:srgbClr val="CBCFD0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  <a:tr h="576072">
                <a:tc>
                  <a:txBody>
                    <a:bodyPr/>
                    <a:lstStyle/>
                    <a:p>
                      <a:pPr algn="l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SmolVLA final-step head · 113 / 163 keys‡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14,132 / 15,733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15,165 / 16,956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240" b="0">
                          <a:solidFill>
                            <a:srgbClr val="313455"/>
                          </a:solidFill>
                          <a:latin typeface="Inter"/>
                        </a:rPr>
                        <a:t>-6.8% / -7.2%</a:t>
                      </a:r>
                    </a:p>
                  </a:txBody>
                  <a:tcPr marL="128016" marR="91440" marT="45720" marB="27432" anchor="ctr">
                    <a:solidFill>
                      <a:srgbClr val="FDF7EF"/>
                    </a:solidFill>
                    <a:lnL w="6350">
                      <a:solidFill>
                        <a:srgbClr val="E0D6CB"/>
                      </a:solidFill>
                    </a:lnL>
                    <a:lnR w="6350">
                      <a:solidFill>
                        <a:srgbClr val="E0D6CB"/>
                      </a:solidFill>
                    </a:lnR>
                    <a:lnT w="6350">
                      <a:solidFill>
                        <a:srgbClr val="E0D6CB"/>
                      </a:solidFill>
                    </a:lnT>
                    <a:lnB w="6350">
                      <a:solidFill>
                        <a:srgbClr val="E0D6CB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3" name="Text | [Units · Best-value convention · Uncertain"/>
          <p:cNvSpPr txBox="1"/>
          <p:nvPr/>
        </p:nvSpPr>
        <p:spPr>
          <a:xfrm>
            <a:off x="859536" y="5486400"/>
            <a:ext cx="10515600" cy="685800"/>
          </a:xfrm>
          <a:prstGeom prst="rect">
            <a:avLst/>
          </a:prstGeom>
          <a:noFill/>
          <a:effectLst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* Issuer swap: host/VPU fixed; output hashes match SmolVLA 33/33 and TinyLlama 99/99.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† All-FP8 one-pass: same IDs/weights, 24/33 late top tokens. Source starts after embedding; host/VPU work differs. No ratio.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910" b="0">
                <a:solidFill>
                  <a:srgbClr val="5B5957"/>
                </a:solidFill>
                <a:latin typeface="Inter"/>
              </a:rPr>
              <a:t>‡ Captured final flow step, head 0: all 4,096 BF16 values match per shape; source pipelined, compiler pipelined. No whole-model ratio.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59536" y="4663440"/>
            <a:ext cx="10479024" cy="713232"/>
          </a:xfrm>
          <a:prstGeom prst="roundRect">
            <a:avLst/>
          </a:prstGeom>
          <a:solidFill>
            <a:srgbClr val="E1E8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TinyLlama vs FP32: mixed prefill -0.313, decode -0.324 (0/32 top); all-FP8 full prefill 0.774, decode 0.663 (2/32 top).</a:t>
            </a:r>
          </a:p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060" b="1">
                <a:solidFill>
                  <a:srgbClr val="103552"/>
                </a:solidFill>
                <a:latin typeface="Inter"/>
              </a:rPr>
              <a:t>SmolVLA final cosine vs FP32: mixed 0.058 → all-FP8 0.989; outputs differ.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469880" y="6291072"/>
            <a:ext cx="1234440" cy="256032"/>
          </a:xfrm>
          <a:prstGeom prst="rect">
            <a:avLst/>
          </a:prstGeom>
          <a:noFill/>
        </p:spPr>
        <p:txBody>
          <a:bodyPr wrap="square" lIns="18288" rIns="18288" tIns="9144" bIns="9144" anchor="ctr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000" b="0">
                <a:solidFill>
                  <a:srgbClr val="5B5957"/>
                </a:solidFill>
                <a:latin typeface="Inter"/>
              </a:rPr>
              <a:t>03 / 04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Lab Pastel">
      <a:dk1>
        <a:srgbClr val="2E2D2C"/>
      </a:dk1>
      <a:lt1>
        <a:srgbClr val="FDF7EF"/>
      </a:lt1>
      <a:dk2>
        <a:srgbClr val="333351"/>
      </a:dk2>
      <a:lt2>
        <a:srgbClr val="ECE3DA"/>
      </a:lt2>
      <a:accent1>
        <a:srgbClr val="0F3759"/>
      </a:accent1>
      <a:accent2>
        <a:srgbClr val="AB9A89"/>
      </a:accent2>
      <a:accent3>
        <a:srgbClr val="8B93A6"/>
      </a:accent3>
      <a:accent4>
        <a:srgbClr val="815E5E"/>
      </a:accent4>
      <a:accent5>
        <a:srgbClr val="7D886C"/>
      </a:accent5>
      <a:accent6>
        <a:srgbClr val="253143"/>
      </a:accent6>
      <a:hlink>
        <a:srgbClr val="0F3759"/>
      </a:hlink>
      <a:folHlink>
        <a:srgbClr val="815E5E"/>
      </a:folHlink>
    </a:clrScheme>
    <a:fontScheme name="Lab Pastel">
      <a:maj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Inter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 Presentation Template — Pastel</dc:title>
  <dc:subject>Reusable project slides, compositions and visual style pages</dc:subject>
  <dc:creator/>
  <cp:keywords>template, research, lab, editable, 16:9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